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them; one line on who you are and why you'd know. Set the promise: by the end, when someone says a small change takes a month, they'll understand why and know how to get better answers from engineers. Keep it warm — this is a tour, not a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scene everyone has lived: someone asks for a small change, you say two weeks, the room goes quiet. Name the feeling honestly — it sounds like padding or slowness. Promise the real answer is more interesting. The throughline: the honest answer to 'how long will this take' is almost always 'it depends,' and that isn't an excuse — it's the nature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 people point at — the screen — is the smallest part. Walk them below the waterline: behind one button sits storage, rules about what's allowed, checks on who can do it, handling for failure, a record of what happened. Land the line: visible simplicity is usually the reward for invisible complexity, not the absence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users log in' sounds finished. It isn't. Walk the fan-out live: password rules? forgot password? lock after failed tries, for how long? two people sharing an email? Every answer opens a new question. The thinking that turns a vague wish into something precise enough to build is real work — even on days nothing visible ships. When an engineer is 'just asking questions,' that IS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demo works, because a demo is the happy path — the one route where everything goes right. The user types what you expected, the network is fine, the data is clean. This is the version people picture when they estimate in their heads. Pause here; the next slide is the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reality arrives. The connection dies halfway through saving. Someone pastes ten thousand rows into a box built for ten. Two people edit the same record at the same second. A name has emoji, or reads right to left, and the layout breaks. None of this is edge-case trivia — this is where most of the surprising time lives. The version that works when the world misbehaves is the real product, and it's most of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The next three are the heavyweights, and they share a trait: they're almost never mentioned when a feature is requested, yet they quietly set the timeline. Warn them gently this is the densest stretch, and promise a single example to hold onto.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example carried through all three pillars. It sounds tiny: upload a file, see charts. Tell the room to hold that picture — you'll watch this one small request pick up time from data, then security, then policy, without ever getting bigger as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arrives in different formats, with gaps, duplicates, and outright errors. Before anything reaches a screen it has to be checked, cleaned, reshaped, moved, and kept consistent across systems that don't naturally agree. 'Garbage in, garbage out' undersells it — garbage in means rework, reconciliation, and a lot of quiet effort making numbers trustworthy before a single chart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spreadsheet. What happens when a cell is empty? When dates are written three ways? When someone typed 'N/A' where a number should be, or the same row appears twice? Every one is a decision someone has to make and then build. The chart is the easy part — earning the right to draw it is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instinct is to treat security as a box to tick near the end. It isn't a box — it's a discipline applied to every part of the system: who you are, what you're allowed to touch, keeping data unreadable to the wrong eyes, keeping a record, staying patched. Tee up the next slide: this is different from ordinary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shift. Most problems in software are the world being indifferent — things break by accident. Security is the world being hostile: a person is actively trying to make it fail, and they only need to be right once. Tie to the example: the moment users can upload files, someone will try to upload something malicious or peek at another user's data. That's why 'make it secure' can't be bolted 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constraints come from outside the team entirely: legal and regulatory requirements, rules on how long data is kept and who may see it, formal approvals before go-live. You can finish the build and still wait, because these run on someone else's clock. A launch date can be set by paperwork and process, not engineering speed — and pushing the team harder does nothing to move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dashboard one last time. Even when it works perfectly, questions remain that engineers can't answer alone: who may see this data, how long you can keep the uploaded file, where it's legally allowed to live, who must formally approve it. Close the arc: one small request picked up real time from data, security, and policy, and never once got bigger as a feature. That's the gap from Slide 2, made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apps are assembled, not written in isolation. They lean on payment providers, other teams' systems, and outside services that can change or break without warning. A one-line feature can sit finished and blocked because something it depends on isn't ready. You're building one room in a house wired to utilities you don't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natural fix for 'too slow' is 'add people,' and it often backfires. More people means more communication, more handoffs, more ways to step on each other. The web of connections grows far faster than headcount — sometimes a bigger team is a slower team. This one genuinely surprises people, so let it breathe.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Shipping is the beginning, not the end. Software rots as the world moves: new phones, new regulations, new expectations, and the debt from every shortcut taken under deadline. Maintenance isn't optional cleanup — it's the larger, ongoing part of the cost. The thing you launch has to keep standing in a world that won't hold still.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the turn. Everything so far explained the gap. The last few minutes turn it into something they can use tomorrow. This is the part they'll remember, so slow down and make eye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concrete habits. First, ask for a range, not a single date — treat a confident single date with suspicion. Second, bring the problem you're trying to solve, not a solution you've already picked, so the team can find the cheapest path. Third, when engineers ask a pile of questions, that's not delay — that's the work getting done in the open. These change the relationship more than any process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then stop talking for a beat. Optionally pair it with the trade-off: fast, cheap, and good is a choice of two, never all three. Thank them, and open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Buffer built in. If the room is quiet, seed it: 'The one I get most is, why can't we just add more people — so let's start there.' Have one or two of your own real examples ready to pull the discussion into their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image" Target="../media/image-19-5.png"/><Relationship Id="rId6" Type="http://schemas.openxmlformats.org/officeDocument/2006/relationships/image" Target="../media/image-19-6.sv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21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6121D">
                  <a:alpha val="35000"/>
                </a:srgbClr>
              </a:gs>
              <a:gs pos="32000">
                <a:srgbClr val="06121D">
                  <a:alpha val="12000"/>
                </a:srgbClr>
              </a:gs>
              <a:gs pos="70000">
                <a:srgbClr val="06121D">
                  <a:alpha val="72000"/>
                </a:srgbClr>
              </a:gs>
              <a:gs pos="100000">
                <a:srgbClr val="06121D">
                  <a:alpha val="96000"/>
                </a:srgbClr>
              </a:gs>
            </a:gsLst>
            <a:lin ang="5400000" scaled="0"/>
          </a:gradFill>
          <a:ln/>
        </p:spPr>
      </p:sp>
      <p:sp>
        <p:nvSpPr>
          <p:cNvPr id="3" name="Text 1"/>
          <p:cNvSpPr/>
          <p:nvPr/>
        </p:nvSpPr>
        <p:spPr>
          <a:xfrm>
            <a:off x="1143000" y="5822454"/>
            <a:ext cx="7807948"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504" kern="0" dirty="0">
                <a:solidFill>
                  <a:srgbClr val="5CC6E8"/>
                </a:solidFill>
                <a:latin typeface="Arial" pitchFamily="34" charset="0"/>
                <a:ea typeface="Arial" pitchFamily="34" charset="-122"/>
                <a:cs typeface="Arial" pitchFamily="34" charset="-120"/>
              </a:rPr>
              <a:t>A TOUR OF APP DEVELOPMENT</a:t>
            </a:r>
            <a:endParaRPr lang="en-US" sz="1800" dirty="0"/>
          </a:p>
        </p:txBody>
      </p:sp>
      <p:sp>
        <p:nvSpPr>
          <p:cNvPr id="4" name="Text 2"/>
          <p:cNvSpPr/>
          <p:nvPr/>
        </p:nvSpPr>
        <p:spPr>
          <a:xfrm>
            <a:off x="1143000" y="6298704"/>
            <a:ext cx="7311078" cy="2502396"/>
          </a:xfrm>
          <a:prstGeom prst="rect">
            <a:avLst/>
          </a:prstGeom>
          <a:noFill/>
          <a:ln/>
        </p:spPr>
        <p:txBody>
          <a:bodyPr wrap="square" lIns="25400" tIns="25400" rIns="25400" bIns="25400" rtlCol="0" anchor="t">
            <a:normAutofit/>
          </a:bodyPr>
          <a:lstStyle/>
          <a:p>
            <a:pPr algn="l" indent="0" marL="0">
              <a:lnSpc>
                <a:spcPct val="86240"/>
              </a:lnSpc>
              <a:buNone/>
            </a:pPr>
            <a:r>
              <a:rPr lang="en-US" sz="9900" spc="-198" kern="0" dirty="0">
                <a:solidFill>
                  <a:srgbClr val="EEF4F8"/>
                </a:solidFill>
                <a:latin typeface="Georgia" pitchFamily="34" charset="0"/>
                <a:ea typeface="Georgia" pitchFamily="34" charset="-122"/>
                <a:cs typeface="Georgia" pitchFamily="34" charset="-120"/>
              </a:rPr>
              <a:t>Why It Takes So Long</a:t>
            </a:r>
            <a:endParaRPr lang="en-US" sz="9900" dirty="0"/>
          </a:p>
        </p:txBody>
      </p:sp>
      <p:sp>
        <p:nvSpPr>
          <p:cNvPr id="5" name="Text 3"/>
          <p:cNvSpPr/>
          <p:nvPr/>
        </p:nvSpPr>
        <p:spPr>
          <a:xfrm>
            <a:off x="1143000" y="9067800"/>
            <a:ext cx="7807948" cy="419100"/>
          </a:xfrm>
          <a:prstGeom prst="rect">
            <a:avLst/>
          </a:prstGeom>
          <a:noFill/>
          <a:ln/>
        </p:spPr>
        <p:txBody>
          <a:bodyPr wrap="square" lIns="25400" tIns="25400" rIns="25400" bIns="25400" rtlCol="0" anchor="t">
            <a:normAutofit/>
          </a:bodyPr>
          <a:lstStyle/>
          <a:p>
            <a:pPr algn="l" indent="0" marL="0">
              <a:buNone/>
            </a:pPr>
            <a:r>
              <a:rPr lang="en-US" sz="3000" i="1" dirty="0">
                <a:solidFill>
                  <a:srgbClr val="AEC3D1"/>
                </a:solidFill>
                <a:latin typeface="Georgia" pitchFamily="34" charset="0"/>
                <a:ea typeface="Georgia" pitchFamily="34" charset="-122"/>
                <a:cs typeface="Georgia" pitchFamily="34" charset="-120"/>
              </a:rPr>
              <a:t>A look under the surface of app development.</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73247">
                  <a:alpha val="100000"/>
                </a:srgbClr>
              </a:gs>
              <a:gs pos="52000">
                <a:srgbClr val="0B1A29">
                  <a:alpha val="100000"/>
                </a:srgbClr>
              </a:gs>
              <a:gs pos="100000">
                <a:srgbClr val="06121D">
                  <a:alpha val="100000"/>
                </a:srgbClr>
              </a:gs>
            </a:gsLst>
            <a:path path="circle">
              <a:fillToRect l="78000" t="0" r="22000" b="100000"/>
            </a:path>
          </a:gradFill>
          <a:ln/>
        </p:spPr>
      </p:sp>
      <p:sp>
        <p:nvSpPr>
          <p:cNvPr id="3" name="Text 1"/>
          <p:cNvSpPr/>
          <p:nvPr/>
        </p:nvSpPr>
        <p:spPr>
          <a:xfrm>
            <a:off x="1143000" y="3081338"/>
            <a:ext cx="83820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5CC6E8"/>
                </a:solidFill>
                <a:latin typeface="Arial" pitchFamily="34" charset="0"/>
                <a:ea typeface="Arial" pitchFamily="34" charset="-122"/>
                <a:cs typeface="Arial" pitchFamily="34" charset="-120"/>
              </a:rPr>
              <a:t>THE MOMENT</a:t>
            </a:r>
            <a:endParaRPr lang="en-US" sz="1800" dirty="0"/>
          </a:p>
        </p:txBody>
      </p:sp>
      <p:sp>
        <p:nvSpPr>
          <p:cNvPr id="4" name="Text 2"/>
          <p:cNvSpPr/>
          <p:nvPr/>
        </p:nvSpPr>
        <p:spPr>
          <a:xfrm>
            <a:off x="1143000" y="3633788"/>
            <a:ext cx="7848600" cy="1981200"/>
          </a:xfrm>
          <a:prstGeom prst="rect">
            <a:avLst/>
          </a:prstGeom>
          <a:noFill/>
          <a:ln/>
        </p:spPr>
        <p:txBody>
          <a:bodyPr wrap="square" lIns="25400" tIns="25400" rIns="25400" bIns="25400" rtlCol="0" anchor="t">
            <a:normAutofit/>
          </a:bodyPr>
          <a:lstStyle/>
          <a:p>
            <a:pPr algn="l" indent="0" marL="0">
              <a:lnSpc>
                <a:spcPct val="89868"/>
              </a:lnSpc>
              <a:buNone/>
            </a:pPr>
            <a:r>
              <a:rPr lang="en-US" sz="7500" spc="-112" kern="0" dirty="0">
                <a:solidFill>
                  <a:srgbClr val="EEF4F8"/>
                </a:solidFill>
                <a:latin typeface="Georgia" pitchFamily="34" charset="0"/>
                <a:ea typeface="Georgia" pitchFamily="34" charset="-122"/>
                <a:cs typeface="Georgia" pitchFamily="34" charset="-120"/>
              </a:rPr>
              <a:t>"Can you just add a button?"</a:t>
            </a:r>
            <a:endParaRPr lang="en-US" sz="7500" dirty="0"/>
          </a:p>
        </p:txBody>
      </p:sp>
      <p:sp>
        <p:nvSpPr>
          <p:cNvPr id="5" name="Text 3"/>
          <p:cNvSpPr/>
          <p:nvPr/>
        </p:nvSpPr>
        <p:spPr>
          <a:xfrm>
            <a:off x="1143000" y="5995988"/>
            <a:ext cx="3371142" cy="1323975"/>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AEC3D1"/>
                </a:solidFill>
                <a:latin typeface="Arial" pitchFamily="34" charset="0"/>
                <a:ea typeface="Arial" pitchFamily="34" charset="-122"/>
                <a:cs typeface="Arial" pitchFamily="34" charset="-120"/>
              </a:rPr>
              <a:t>You say two weeks. The room goes quiet. This gap is the whole talk.</a:t>
            </a:r>
            <a:endParaRPr lang="en-US" sz="2250" dirty="0"/>
          </a:p>
        </p:txBody>
      </p:sp>
      <p:sp>
        <p:nvSpPr>
          <p:cNvPr id="6" name="Shape 4"/>
          <p:cNvSpPr/>
          <p:nvPr/>
        </p:nvSpPr>
        <p:spPr>
          <a:xfrm>
            <a:off x="9677400" y="3538538"/>
            <a:ext cx="5334000" cy="3286125"/>
          </a:xfrm>
          <a:prstGeom prst="roundRect">
            <a:avLst>
              <a:gd name="adj" fmla="val 5217"/>
            </a:avLst>
          </a:prstGeom>
          <a:solidFill>
            <a:srgbClr val="0F2334"/>
          </a:solidFill>
          <a:ln w="9525">
            <a:solidFill>
              <a:srgbClr val="FFFFFF">
                <a:alpha val="14000"/>
              </a:srgbClr>
            </a:solidFill>
            <a:prstDash val="solid"/>
          </a:ln>
          <a:effectLst>
            <a:outerShdw sx="100000" sy="100000" kx="0" ky="0" algn="bl" rotWithShape="0" blurRad="762000" dist="381000" dir="5400000">
              <a:srgbClr val="000000">
                <a:alpha val="45000"/>
              </a:srgbClr>
            </a:outerShdw>
          </a:effectLst>
        </p:spPr>
      </p:sp>
      <p:sp>
        <p:nvSpPr>
          <p:cNvPr id="7" name="Shape 5"/>
          <p:cNvSpPr/>
          <p:nvPr/>
        </p:nvSpPr>
        <p:spPr>
          <a:xfrm>
            <a:off x="9686925" y="3548063"/>
            <a:ext cx="5314950" cy="523875"/>
          </a:xfrm>
          <a:prstGeom prst="rect">
            <a:avLst/>
          </a:prstGeom>
          <a:solidFill>
            <a:srgbClr val="0C1C2C"/>
          </a:solidFill>
          <a:ln/>
        </p:spPr>
      </p:sp>
      <p:sp>
        <p:nvSpPr>
          <p:cNvPr id="8" name="Shape 6"/>
          <p:cNvSpPr/>
          <p:nvPr/>
        </p:nvSpPr>
        <p:spPr>
          <a:xfrm>
            <a:off x="9686925" y="4062412"/>
            <a:ext cx="5314950" cy="9525"/>
          </a:xfrm>
          <a:prstGeom prst="rect">
            <a:avLst/>
          </a:prstGeom>
          <a:solidFill>
            <a:srgbClr val="FFFFFF">
              <a:alpha val="14000"/>
            </a:srgbClr>
          </a:solidFill>
          <a:ln/>
        </p:spPr>
      </p:sp>
      <p:sp>
        <p:nvSpPr>
          <p:cNvPr id="9" name="Shape 7"/>
          <p:cNvSpPr/>
          <p:nvPr/>
        </p:nvSpPr>
        <p:spPr>
          <a:xfrm>
            <a:off x="9915525" y="3738563"/>
            <a:ext cx="133350" cy="133350"/>
          </a:xfrm>
          <a:prstGeom prst="ellipse">
            <a:avLst/>
          </a:prstGeom>
          <a:solidFill>
            <a:srgbClr val="3A5163"/>
          </a:solidFill>
          <a:ln/>
        </p:spPr>
      </p:sp>
      <p:sp>
        <p:nvSpPr>
          <p:cNvPr id="10" name="Shape 8"/>
          <p:cNvSpPr/>
          <p:nvPr/>
        </p:nvSpPr>
        <p:spPr>
          <a:xfrm>
            <a:off x="10144125" y="3738563"/>
            <a:ext cx="133350" cy="133350"/>
          </a:xfrm>
          <a:prstGeom prst="ellipse">
            <a:avLst/>
          </a:prstGeom>
          <a:solidFill>
            <a:srgbClr val="3A5163"/>
          </a:solidFill>
          <a:ln/>
        </p:spPr>
      </p:sp>
      <p:sp>
        <p:nvSpPr>
          <p:cNvPr id="11" name="Shape 9"/>
          <p:cNvSpPr/>
          <p:nvPr/>
        </p:nvSpPr>
        <p:spPr>
          <a:xfrm>
            <a:off x="10372725" y="3738563"/>
            <a:ext cx="133350" cy="133350"/>
          </a:xfrm>
          <a:prstGeom prst="ellipse">
            <a:avLst/>
          </a:prstGeom>
          <a:solidFill>
            <a:srgbClr val="3A5163"/>
          </a:solidFill>
          <a:ln/>
        </p:spPr>
      </p:sp>
      <p:sp>
        <p:nvSpPr>
          <p:cNvPr id="12" name="Shape 10"/>
          <p:cNvSpPr/>
          <p:nvPr/>
        </p:nvSpPr>
        <p:spPr>
          <a:xfrm>
            <a:off x="10106025" y="4452938"/>
            <a:ext cx="3133725" cy="152400"/>
          </a:xfrm>
          <a:prstGeom prst="roundRect">
            <a:avLst>
              <a:gd name="adj" fmla="val 50000"/>
            </a:avLst>
          </a:prstGeom>
          <a:solidFill>
            <a:srgbClr val="1D3448"/>
          </a:solidFill>
          <a:ln/>
        </p:spPr>
      </p:sp>
      <p:sp>
        <p:nvSpPr>
          <p:cNvPr id="13" name="Shape 11"/>
          <p:cNvSpPr/>
          <p:nvPr/>
        </p:nvSpPr>
        <p:spPr>
          <a:xfrm>
            <a:off x="10106025" y="4795838"/>
            <a:ext cx="4029075" cy="152400"/>
          </a:xfrm>
          <a:prstGeom prst="roundRect">
            <a:avLst>
              <a:gd name="adj" fmla="val 50000"/>
            </a:avLst>
          </a:prstGeom>
          <a:solidFill>
            <a:srgbClr val="1D3448"/>
          </a:solidFill>
          <a:ln/>
        </p:spPr>
      </p:sp>
      <p:sp>
        <p:nvSpPr>
          <p:cNvPr id="14" name="Shape 12"/>
          <p:cNvSpPr/>
          <p:nvPr/>
        </p:nvSpPr>
        <p:spPr>
          <a:xfrm>
            <a:off x="10106025" y="5138738"/>
            <a:ext cx="2462213" cy="152400"/>
          </a:xfrm>
          <a:prstGeom prst="roundRect">
            <a:avLst>
              <a:gd name="adj" fmla="val 50000"/>
            </a:avLst>
          </a:prstGeom>
          <a:solidFill>
            <a:srgbClr val="1D3448"/>
          </a:solidFill>
          <a:ln/>
        </p:spPr>
      </p:sp>
      <p:sp>
        <p:nvSpPr>
          <p:cNvPr id="15" name="Shape 13"/>
          <p:cNvSpPr/>
          <p:nvPr/>
        </p:nvSpPr>
        <p:spPr>
          <a:xfrm>
            <a:off x="10106025" y="5729288"/>
            <a:ext cx="1548854" cy="590550"/>
          </a:xfrm>
          <a:prstGeom prst="roundRect">
            <a:avLst>
              <a:gd name="adj" fmla="val 19355"/>
            </a:avLst>
          </a:prstGeom>
          <a:solidFill>
            <a:srgbClr val="5CC6E8"/>
          </a:solidFill>
          <a:ln/>
        </p:spPr>
      </p:sp>
      <p:sp>
        <p:nvSpPr>
          <p:cNvPr id="16" name="Text 14"/>
          <p:cNvSpPr/>
          <p:nvPr/>
        </p:nvSpPr>
        <p:spPr>
          <a:xfrm>
            <a:off x="10391775" y="5900738"/>
            <a:ext cx="1053554"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06121D"/>
                </a:solidFill>
                <a:latin typeface="Arial" pitchFamily="34" charset="0"/>
                <a:ea typeface="Arial" pitchFamily="34" charset="-122"/>
                <a:cs typeface="Arial" pitchFamily="34" charset="-120"/>
              </a:rPr>
              <a:t>Add item</a:t>
            </a:r>
            <a:endParaRPr lang="en-US" sz="1950" dirty="0"/>
          </a:p>
        </p:txBody>
      </p:sp>
      <p:sp>
        <p:nvSpPr>
          <p:cNvPr id="17" name="Shape 15"/>
          <p:cNvSpPr/>
          <p:nvPr/>
        </p:nvSpPr>
        <p:spPr>
          <a:xfrm>
            <a:off x="9934575" y="5595938"/>
            <a:ext cx="1891754" cy="857250"/>
          </a:xfrm>
          <a:prstGeom prst="roundRect">
            <a:avLst>
              <a:gd name="adj" fmla="val 50000"/>
            </a:avLst>
          </a:prstGeom>
          <a:ln w="28575">
            <a:solidFill>
              <a:srgbClr val="EB8153"/>
            </a:solidFill>
            <a:prstDash val="solid"/>
          </a:ln>
          <a:effectLst>
            <a:outerShdw sx="100000" sy="100000" kx="0" ky="0" algn="bl" rotWithShape="0" blurRad="101600" dist="50800" dir="16200000">
              <a:srgbClr val="EB8153">
                <a:alpha val="16000"/>
              </a:srgbClr>
            </a:outerShdw>
          </a:effectLst>
        </p:spPr>
      </p:sp>
      <p:sp>
        <p:nvSpPr>
          <p:cNvPr id="18" name="Shape 16"/>
          <p:cNvSpPr/>
          <p:nvPr/>
        </p:nvSpPr>
        <p:spPr>
          <a:xfrm>
            <a:off x="13229779" y="3214688"/>
            <a:ext cx="2010221" cy="552450"/>
          </a:xfrm>
          <a:custGeom>
            <a:avLst/>
            <a:gdLst/>
            <a:ahLst/>
            <a:cxnLst/>
            <a:rect l="l" t="t" r="r" b="b"/>
            <a:pathLst>
              <a:path w="2010221" h="552450">
                <a:moveTo>
                  <a:pt x="152400" y="0"/>
                </a:moveTo>
                <a:lnTo>
                  <a:pt x="1857821" y="0"/>
                </a:lnTo>
                <a:arcTo hR="152400" wR="152400" stAng="16200000" swAng="5400000"/>
                <a:lnTo>
                  <a:pt x="2010221" y="400050"/>
                </a:lnTo>
                <a:arcTo hR="152400" wR="152400" stAng="0" swAng="5400000"/>
                <a:lnTo>
                  <a:pt x="38100" y="552450"/>
                </a:lnTo>
                <a:arcTo hR="38100" wR="38100" stAng="5400000" swAng="5400000"/>
                <a:lnTo>
                  <a:pt x="0" y="152400"/>
                </a:lnTo>
                <a:arcTo hR="152400" wR="152400" stAng="10800000" swAng="5400000"/>
                <a:close/>
              </a:path>
            </a:pathLst>
          </a:custGeom>
          <a:solidFill>
            <a:srgbClr val="EEF4F8"/>
          </a:solidFill>
          <a:ln/>
          <a:effectLst>
            <a:outerShdw sx="100000" sy="100000" kx="0" ky="0" algn="bl" rotWithShape="0" blurRad="381000" dist="190500" dir="5400000">
              <a:srgbClr val="000000">
                <a:alpha val="35000"/>
              </a:srgbClr>
            </a:outerShdw>
          </a:effectLst>
        </p:spPr>
      </p:sp>
      <p:sp>
        <p:nvSpPr>
          <p:cNvPr id="19" name="Text 17"/>
          <p:cNvSpPr/>
          <p:nvPr/>
        </p:nvSpPr>
        <p:spPr>
          <a:xfrm>
            <a:off x="13458379" y="3367088"/>
            <a:ext cx="1629221"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12283B"/>
                </a:solidFill>
                <a:latin typeface="Arial" pitchFamily="34" charset="0"/>
                <a:ea typeface="Arial" pitchFamily="34" charset="-122"/>
                <a:cs typeface="Arial" pitchFamily="34" charset="-120"/>
              </a:rPr>
              <a:t>can you just…</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6344A">
                  <a:alpha val="100000"/>
                </a:srgbClr>
              </a:gs>
              <a:gs pos="30000">
                <a:srgbClr val="0D2233">
                  <a:alpha val="100000"/>
                </a:srgbClr>
              </a:gs>
              <a:gs pos="30200">
                <a:srgbClr val="081826">
                  <a:alpha val="100000"/>
                </a:srgbClr>
              </a:gs>
              <a:gs pos="100000">
                <a:srgbClr val="040E17">
                  <a:alpha val="100000"/>
                </a:srgbClr>
              </a:gs>
            </a:gsLst>
            <a:lin ang="5400000" scaled="0"/>
          </a:gradFill>
          <a:ln/>
        </p:spPr>
      </p:sp>
      <p:sp>
        <p:nvSpPr>
          <p:cNvPr id="3" name="Text 1"/>
          <p:cNvSpPr/>
          <p:nvPr/>
        </p:nvSpPr>
        <p:spPr>
          <a:xfrm>
            <a:off x="1143000" y="3450952"/>
            <a:ext cx="79629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5CC6E8"/>
                </a:solidFill>
                <a:latin typeface="Arial" pitchFamily="34" charset="0"/>
                <a:ea typeface="Arial" pitchFamily="34" charset="-122"/>
                <a:cs typeface="Arial" pitchFamily="34" charset="-120"/>
              </a:rPr>
              <a:t>PART ONE · WHAT YOU CAN'T SEE</a:t>
            </a:r>
            <a:endParaRPr lang="en-US" sz="1800" dirty="0"/>
          </a:p>
        </p:txBody>
      </p:sp>
      <p:sp>
        <p:nvSpPr>
          <p:cNvPr id="4" name="Text 2"/>
          <p:cNvSpPr/>
          <p:nvPr/>
        </p:nvSpPr>
        <p:spPr>
          <a:xfrm>
            <a:off x="1143000" y="3965302"/>
            <a:ext cx="7456170" cy="1318171"/>
          </a:xfrm>
          <a:prstGeom prst="rect">
            <a:avLst/>
          </a:prstGeom>
          <a:noFill/>
          <a:ln/>
        </p:spPr>
        <p:txBody>
          <a:bodyPr wrap="square" lIns="25400" tIns="25400" rIns="25400" bIns="25400" rtlCol="0" anchor="t">
            <a:normAutofit/>
          </a:bodyPr>
          <a:lstStyle/>
          <a:p>
            <a:pPr algn="l" indent="0" marL="0">
              <a:lnSpc>
                <a:spcPct val="92690"/>
              </a:lnSpc>
              <a:buNone/>
            </a:pPr>
            <a:r>
              <a:rPr lang="en-US" sz="4800" spc="-72" kern="0" dirty="0">
                <a:solidFill>
                  <a:srgbClr val="EEF4F8"/>
                </a:solidFill>
                <a:latin typeface="Georgia" pitchFamily="34" charset="0"/>
                <a:ea typeface="Georgia" pitchFamily="34" charset="-122"/>
                <a:cs typeface="Georgia" pitchFamily="34" charset="-120"/>
              </a:rPr>
              <a:t>The screen is about 10% of the app.</a:t>
            </a:r>
            <a:endParaRPr lang="en-US" sz="4800" dirty="0"/>
          </a:p>
        </p:txBody>
      </p:sp>
      <p:sp>
        <p:nvSpPr>
          <p:cNvPr id="5" name="Text 3"/>
          <p:cNvSpPr/>
          <p:nvPr/>
        </p:nvSpPr>
        <p:spPr>
          <a:xfrm>
            <a:off x="1143000" y="5626373"/>
            <a:ext cx="4045401" cy="1323975"/>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AEC3D1"/>
                </a:solidFill>
                <a:latin typeface="Arial" pitchFamily="34" charset="0"/>
                <a:ea typeface="Arial" pitchFamily="34" charset="-122"/>
                <a:cs typeface="Arial" pitchFamily="34" charset="-120"/>
              </a:rPr>
              <a:t>Everything that makes the screen trustworthy sits below the waterline.</a:t>
            </a:r>
            <a:endParaRPr lang="en-US" sz="2250" dirty="0"/>
          </a:p>
        </p:txBody>
      </p:sp>
      <p:sp>
        <p:nvSpPr>
          <p:cNvPr id="6" name="Shape 4"/>
          <p:cNvSpPr/>
          <p:nvPr/>
        </p:nvSpPr>
        <p:spPr>
          <a:xfrm>
            <a:off x="9144000" y="3133279"/>
            <a:ext cx="8001000" cy="19050"/>
          </a:xfrm>
          <a:prstGeom prst="rect">
            <a:avLst/>
          </a:prstGeom>
          <a:gradFill rotWithShape="1">
            <a:gsLst>
              <a:gs pos="0">
                <a:srgbClr val="7CC5E8">
                  <a:alpha val="0"/>
                </a:srgbClr>
              </a:gs>
              <a:gs pos="50000">
                <a:srgbClr val="7CC5E8">
                  <a:alpha val="65000"/>
                </a:srgbClr>
              </a:gs>
              <a:gs pos="100000">
                <a:srgbClr val="7CC5E8">
                  <a:alpha val="0"/>
                </a:srgbClr>
              </a:gs>
            </a:gsLst>
            <a:lin ang="0" scaled="0"/>
          </a:gradFill>
          <a:ln/>
        </p:spPr>
      </p:sp>
      <p:sp>
        <p:nvSpPr>
          <p:cNvPr id="7" name="Text 5"/>
          <p:cNvSpPr/>
          <p:nvPr/>
        </p:nvSpPr>
        <p:spPr>
          <a:xfrm>
            <a:off x="15425291" y="2809429"/>
            <a:ext cx="189168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360" kern="0" dirty="0">
                <a:solidFill>
                  <a:srgbClr val="AEC3D1"/>
                </a:solidFill>
                <a:latin typeface="Arial" pitchFamily="34" charset="0"/>
                <a:ea typeface="Arial" pitchFamily="34" charset="-122"/>
                <a:cs typeface="Arial" pitchFamily="34" charset="-120"/>
              </a:rPr>
              <a:t>WATERLINE</a:t>
            </a:r>
            <a:endParaRPr lang="en-US" sz="1800" dirty="0"/>
          </a:p>
        </p:txBody>
      </p:sp>
      <p:sp>
        <p:nvSpPr>
          <p:cNvPr id="8" name="Shape 6"/>
          <p:cNvSpPr/>
          <p:nvPr/>
        </p:nvSpPr>
        <p:spPr>
          <a:xfrm>
            <a:off x="11064255" y="1341090"/>
            <a:ext cx="4160490" cy="7680945"/>
          </a:xfrm>
          <a:prstGeom prst="rect">
            <a:avLst/>
          </a:prstGeom>
          <a:gradFill rotWithShape="1">
            <a:gsLst>
              <a:gs pos="0">
                <a:srgbClr val="EAF3F9">
                  <a:alpha val="100000"/>
                </a:srgbClr>
              </a:gs>
              <a:gs pos="21000">
                <a:srgbClr val="CFE3EF">
                  <a:alpha val="100000"/>
                </a:srgbClr>
              </a:gs>
              <a:gs pos="32000">
                <a:srgbClr val="7BA7C2">
                  <a:alpha val="100000"/>
                </a:srgbClr>
              </a:gs>
              <a:gs pos="58000">
                <a:srgbClr val="3F6D8B">
                  <a:alpha val="100000"/>
                </a:srgbClr>
              </a:gs>
              <a:gs pos="100000">
                <a:srgbClr val="173A53">
                  <a:alpha val="100000"/>
                </a:srgbClr>
              </a:gs>
            </a:gsLst>
            <a:lin ang="5400000" scaled="0"/>
          </a:gradFill>
          <a:ln/>
        </p:spPr>
      </p:sp>
      <p:sp>
        <p:nvSpPr>
          <p:cNvPr id="9" name="Shape 7"/>
          <p:cNvSpPr/>
          <p:nvPr/>
        </p:nvSpPr>
        <p:spPr>
          <a:xfrm>
            <a:off x="11976683" y="1597149"/>
            <a:ext cx="2335634" cy="476250"/>
          </a:xfrm>
          <a:prstGeom prst="roundRect">
            <a:avLst>
              <a:gd name="adj" fmla="val 50000"/>
            </a:avLst>
          </a:prstGeom>
          <a:solidFill>
            <a:srgbClr val="EEF4F8"/>
          </a:solidFill>
          <a:ln/>
        </p:spPr>
      </p:sp>
      <p:sp>
        <p:nvSpPr>
          <p:cNvPr id="10" name="Text 8"/>
          <p:cNvSpPr/>
          <p:nvPr/>
        </p:nvSpPr>
        <p:spPr>
          <a:xfrm>
            <a:off x="12167183" y="1711449"/>
            <a:ext cx="2030834" cy="285750"/>
          </a:xfrm>
          <a:prstGeom prst="rect">
            <a:avLst/>
          </a:prstGeom>
          <a:noFill/>
          <a:ln/>
        </p:spPr>
        <p:txBody>
          <a:bodyPr wrap="none" lIns="25400" tIns="25400" rIns="25400" bIns="25400" rtlCol="0" anchor="t">
            <a:normAutofit/>
          </a:bodyPr>
          <a:lstStyle/>
          <a:p>
            <a:pPr algn="l" indent="0" marL="0">
              <a:lnSpc>
                <a:spcPct val="86667"/>
              </a:lnSpc>
              <a:buNone/>
            </a:pPr>
            <a:r>
              <a:rPr lang="en-US" sz="1950" b="1" dirty="0">
                <a:solidFill>
                  <a:srgbClr val="12283B"/>
                </a:solidFill>
                <a:latin typeface="Arial" pitchFamily="34" charset="0"/>
                <a:ea typeface="Arial" pitchFamily="34" charset="-122"/>
                <a:cs typeface="Arial" pitchFamily="34" charset="-120"/>
              </a:rPr>
              <a:t>The screen · 10%</a:t>
            </a:r>
            <a:endParaRPr lang="en-US" sz="1950" dirty="0"/>
          </a:p>
        </p:txBody>
      </p:sp>
      <p:sp>
        <p:nvSpPr>
          <p:cNvPr id="11" name="Shape 9"/>
          <p:cNvSpPr/>
          <p:nvPr/>
        </p:nvSpPr>
        <p:spPr>
          <a:xfrm>
            <a:off x="10468198" y="3986733"/>
            <a:ext cx="1284238" cy="495300"/>
          </a:xfrm>
          <a:prstGeom prst="roundRect">
            <a:avLst>
              <a:gd name="adj" fmla="val 50000"/>
            </a:avLst>
          </a:prstGeom>
          <a:solidFill>
            <a:srgbClr val="081826">
              <a:alpha val="66000"/>
            </a:srgbClr>
          </a:solidFill>
          <a:ln w="9525">
            <a:solidFill>
              <a:srgbClr val="FFFFFF">
                <a:alpha val="14000"/>
              </a:srgbClr>
            </a:solidFill>
            <a:prstDash val="solid"/>
          </a:ln>
        </p:spPr>
      </p:sp>
      <p:sp>
        <p:nvSpPr>
          <p:cNvPr id="12" name="Text 10"/>
          <p:cNvSpPr/>
          <p:nvPr/>
        </p:nvSpPr>
        <p:spPr>
          <a:xfrm>
            <a:off x="10668223" y="4110558"/>
            <a:ext cx="960388"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Storage</a:t>
            </a:r>
            <a:endParaRPr lang="en-US" sz="1950" dirty="0"/>
          </a:p>
        </p:txBody>
      </p:sp>
      <p:sp>
        <p:nvSpPr>
          <p:cNvPr id="13" name="Shape 11"/>
          <p:cNvSpPr/>
          <p:nvPr/>
        </p:nvSpPr>
        <p:spPr>
          <a:xfrm>
            <a:off x="11866736" y="3986733"/>
            <a:ext cx="2047205" cy="495300"/>
          </a:xfrm>
          <a:prstGeom prst="roundRect">
            <a:avLst>
              <a:gd name="adj" fmla="val 50000"/>
            </a:avLst>
          </a:prstGeom>
          <a:solidFill>
            <a:srgbClr val="081826">
              <a:alpha val="66000"/>
            </a:srgbClr>
          </a:solidFill>
          <a:ln w="9525">
            <a:solidFill>
              <a:srgbClr val="FFFFFF">
                <a:alpha val="14000"/>
              </a:srgbClr>
            </a:solidFill>
            <a:prstDash val="solid"/>
          </a:ln>
        </p:spPr>
      </p:sp>
      <p:sp>
        <p:nvSpPr>
          <p:cNvPr id="14" name="Text 12"/>
          <p:cNvSpPr/>
          <p:nvPr/>
        </p:nvSpPr>
        <p:spPr>
          <a:xfrm>
            <a:off x="12066761" y="4110558"/>
            <a:ext cx="1723355"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Business rules</a:t>
            </a:r>
            <a:endParaRPr lang="en-US" sz="1950" dirty="0"/>
          </a:p>
        </p:txBody>
      </p:sp>
      <p:sp>
        <p:nvSpPr>
          <p:cNvPr id="15" name="Shape 13"/>
          <p:cNvSpPr/>
          <p:nvPr/>
        </p:nvSpPr>
        <p:spPr>
          <a:xfrm>
            <a:off x="14028241" y="3986733"/>
            <a:ext cx="1792486" cy="495300"/>
          </a:xfrm>
          <a:prstGeom prst="roundRect">
            <a:avLst>
              <a:gd name="adj" fmla="val 50000"/>
            </a:avLst>
          </a:prstGeom>
          <a:solidFill>
            <a:srgbClr val="081826">
              <a:alpha val="66000"/>
            </a:srgbClr>
          </a:solidFill>
          <a:ln w="9525">
            <a:solidFill>
              <a:srgbClr val="FFFFFF">
                <a:alpha val="14000"/>
              </a:srgbClr>
            </a:solidFill>
            <a:prstDash val="solid"/>
          </a:ln>
        </p:spPr>
      </p:sp>
      <p:sp>
        <p:nvSpPr>
          <p:cNvPr id="16" name="Text 14"/>
          <p:cNvSpPr/>
          <p:nvPr/>
        </p:nvSpPr>
        <p:spPr>
          <a:xfrm>
            <a:off x="14228266" y="4110558"/>
            <a:ext cx="1468636"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Permissions</a:t>
            </a:r>
            <a:endParaRPr lang="en-US" sz="1950" dirty="0"/>
          </a:p>
        </p:txBody>
      </p:sp>
      <p:sp>
        <p:nvSpPr>
          <p:cNvPr id="17" name="Shape 15"/>
          <p:cNvSpPr/>
          <p:nvPr/>
        </p:nvSpPr>
        <p:spPr>
          <a:xfrm>
            <a:off x="10779844" y="4596333"/>
            <a:ext cx="1976438" cy="495300"/>
          </a:xfrm>
          <a:prstGeom prst="roundRect">
            <a:avLst>
              <a:gd name="adj" fmla="val 50000"/>
            </a:avLst>
          </a:prstGeom>
          <a:solidFill>
            <a:srgbClr val="081826">
              <a:alpha val="66000"/>
            </a:srgbClr>
          </a:solidFill>
          <a:ln w="9525">
            <a:solidFill>
              <a:srgbClr val="FFFFFF">
                <a:alpha val="14000"/>
              </a:srgbClr>
            </a:solidFill>
            <a:prstDash val="solid"/>
          </a:ln>
        </p:spPr>
      </p:sp>
      <p:sp>
        <p:nvSpPr>
          <p:cNvPr id="18" name="Text 16"/>
          <p:cNvSpPr/>
          <p:nvPr/>
        </p:nvSpPr>
        <p:spPr>
          <a:xfrm>
            <a:off x="10979869" y="4720158"/>
            <a:ext cx="1652588"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Error handling</a:t>
            </a:r>
            <a:endParaRPr lang="en-US" sz="1950" dirty="0"/>
          </a:p>
        </p:txBody>
      </p:sp>
      <p:sp>
        <p:nvSpPr>
          <p:cNvPr id="19" name="Shape 17"/>
          <p:cNvSpPr/>
          <p:nvPr/>
        </p:nvSpPr>
        <p:spPr>
          <a:xfrm>
            <a:off x="12870582" y="4596333"/>
            <a:ext cx="1307306" cy="495300"/>
          </a:xfrm>
          <a:prstGeom prst="roundRect">
            <a:avLst>
              <a:gd name="adj" fmla="val 50000"/>
            </a:avLst>
          </a:prstGeom>
          <a:solidFill>
            <a:srgbClr val="081826">
              <a:alpha val="66000"/>
            </a:srgbClr>
          </a:solidFill>
          <a:ln w="9525">
            <a:solidFill>
              <a:srgbClr val="FFFFFF">
                <a:alpha val="14000"/>
              </a:srgbClr>
            </a:solidFill>
            <a:prstDash val="solid"/>
          </a:ln>
        </p:spPr>
      </p:sp>
      <p:sp>
        <p:nvSpPr>
          <p:cNvPr id="20" name="Text 18"/>
          <p:cNvSpPr/>
          <p:nvPr/>
        </p:nvSpPr>
        <p:spPr>
          <a:xfrm>
            <a:off x="13070607" y="4720158"/>
            <a:ext cx="983456"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Logging</a:t>
            </a:r>
            <a:endParaRPr lang="en-US" sz="1950" dirty="0"/>
          </a:p>
        </p:txBody>
      </p:sp>
      <p:sp>
        <p:nvSpPr>
          <p:cNvPr id="21" name="Shape 19"/>
          <p:cNvSpPr/>
          <p:nvPr/>
        </p:nvSpPr>
        <p:spPr>
          <a:xfrm>
            <a:off x="14292188" y="4596333"/>
            <a:ext cx="1216968" cy="495300"/>
          </a:xfrm>
          <a:prstGeom prst="roundRect">
            <a:avLst>
              <a:gd name="adj" fmla="val 50000"/>
            </a:avLst>
          </a:prstGeom>
          <a:solidFill>
            <a:srgbClr val="081826">
              <a:alpha val="66000"/>
            </a:srgbClr>
          </a:solidFill>
          <a:ln w="9525">
            <a:solidFill>
              <a:srgbClr val="FFFFFF">
                <a:alpha val="14000"/>
              </a:srgbClr>
            </a:solidFill>
            <a:prstDash val="solid"/>
          </a:ln>
        </p:spPr>
      </p:sp>
      <p:sp>
        <p:nvSpPr>
          <p:cNvPr id="22" name="Text 20"/>
          <p:cNvSpPr/>
          <p:nvPr/>
        </p:nvSpPr>
        <p:spPr>
          <a:xfrm>
            <a:off x="14492213" y="4720158"/>
            <a:ext cx="893118"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Testing</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73247">
                  <a:alpha val="100000"/>
                </a:srgbClr>
              </a:gs>
              <a:gs pos="52000">
                <a:srgbClr val="0B1A29">
                  <a:alpha val="100000"/>
                </a:srgbClr>
              </a:gs>
              <a:gs pos="100000">
                <a:srgbClr val="06121D">
                  <a:alpha val="100000"/>
                </a:srgbClr>
              </a:gs>
            </a:gsLst>
            <a:path path="circle">
              <a:fillToRect l="78000" t="0" r="22000" b="100000"/>
            </a:path>
          </a:gradFill>
          <a:ln/>
        </p:spPr>
      </p:sp>
      <p:sp>
        <p:nvSpPr>
          <p:cNvPr id="3" name="Text 1"/>
          <p:cNvSpPr/>
          <p:nvPr/>
        </p:nvSpPr>
        <p:spPr>
          <a:xfrm>
            <a:off x="1143000" y="914400"/>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5CC6E8"/>
                </a:solidFill>
                <a:latin typeface="Arial" pitchFamily="34" charset="0"/>
                <a:ea typeface="Arial" pitchFamily="34" charset="-122"/>
                <a:cs typeface="Arial" pitchFamily="34" charset="-120"/>
              </a:rPr>
              <a:t>PART ONE · WHAT YOU CAN'T SEE</a:t>
            </a:r>
            <a:endParaRPr lang="en-US" sz="1800" dirty="0"/>
          </a:p>
        </p:txBody>
      </p:sp>
      <p:sp>
        <p:nvSpPr>
          <p:cNvPr id="4" name="Text 2"/>
          <p:cNvSpPr/>
          <p:nvPr/>
        </p:nvSpPr>
        <p:spPr>
          <a:xfrm>
            <a:off x="1143000" y="1390650"/>
            <a:ext cx="1760220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spc="-72" kern="0" dirty="0">
                <a:solidFill>
                  <a:srgbClr val="EEF4F8"/>
                </a:solidFill>
                <a:latin typeface="Georgia" pitchFamily="34" charset="0"/>
                <a:ea typeface="Georgia" pitchFamily="34" charset="-122"/>
                <a:cs typeface="Georgia" pitchFamily="34" charset="-120"/>
              </a:rPr>
              <a:t>Requirements are discovered, not handed over.</a:t>
            </a:r>
            <a:endParaRPr lang="en-US" sz="4800" dirty="0"/>
          </a:p>
        </p:txBody>
      </p:sp>
      <p:sp>
        <p:nvSpPr>
          <p:cNvPr id="5" name="Shape 3"/>
          <p:cNvSpPr/>
          <p:nvPr/>
        </p:nvSpPr>
        <p:spPr>
          <a:xfrm>
            <a:off x="1143000" y="7343775"/>
            <a:ext cx="3429000" cy="1905000"/>
          </a:xfrm>
          <a:prstGeom prst="roundRect">
            <a:avLst>
              <a:gd name="adj" fmla="val 8000"/>
            </a:avLst>
          </a:prstGeom>
          <a:solidFill>
            <a:srgbClr val="12283B"/>
          </a:solidFill>
          <a:ln w="9525">
            <a:solidFill>
              <a:srgbClr val="FFFFFF">
                <a:alpha val="14000"/>
              </a:srgbClr>
            </a:solidFill>
            <a:prstDash val="solid"/>
          </a:ln>
        </p:spPr>
      </p:sp>
      <p:sp>
        <p:nvSpPr>
          <p:cNvPr id="6" name="Text 4"/>
          <p:cNvSpPr/>
          <p:nvPr/>
        </p:nvSpPr>
        <p:spPr>
          <a:xfrm>
            <a:off x="1533525" y="7696200"/>
            <a:ext cx="2912745"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288" kern="0" dirty="0">
                <a:solidFill>
                  <a:srgbClr val="AEC3D1"/>
                </a:solidFill>
                <a:latin typeface="Arial" pitchFamily="34" charset="0"/>
                <a:ea typeface="Arial" pitchFamily="34" charset="-122"/>
                <a:cs typeface="Arial" pitchFamily="34" charset="-120"/>
              </a:rPr>
              <a:t>THE WISH</a:t>
            </a:r>
            <a:endParaRPr lang="en-US" sz="1800" dirty="0"/>
          </a:p>
        </p:txBody>
      </p:sp>
      <p:sp>
        <p:nvSpPr>
          <p:cNvPr id="7" name="Text 5"/>
          <p:cNvSpPr/>
          <p:nvPr/>
        </p:nvSpPr>
        <p:spPr>
          <a:xfrm>
            <a:off x="1533525" y="8058150"/>
            <a:ext cx="2727389" cy="876300"/>
          </a:xfrm>
          <a:prstGeom prst="rect">
            <a:avLst/>
          </a:prstGeom>
          <a:noFill/>
          <a:ln/>
        </p:spPr>
        <p:txBody>
          <a:bodyPr wrap="square" lIns="25400" tIns="25400" rIns="25400" bIns="25400" rtlCol="0" anchor="t">
            <a:normAutofit/>
          </a:bodyPr>
          <a:lstStyle/>
          <a:p>
            <a:pPr algn="l" indent="0" marL="0">
              <a:lnSpc>
                <a:spcPct val="96703"/>
              </a:lnSpc>
              <a:buNone/>
            </a:pPr>
            <a:r>
              <a:rPr lang="en-US" sz="3000" dirty="0">
                <a:solidFill>
                  <a:srgbClr val="EEF4F8"/>
                </a:solidFill>
                <a:latin typeface="Georgia" pitchFamily="34" charset="0"/>
                <a:ea typeface="Georgia" pitchFamily="34" charset="-122"/>
                <a:cs typeface="Georgia" pitchFamily="34" charset="-120"/>
              </a:rPr>
              <a:t>"Let users log in."</a:t>
            </a:r>
            <a:endParaRPr lang="en-US" sz="3000" dirty="0"/>
          </a:p>
        </p:txBody>
      </p:sp>
      <p:sp>
        <p:nvSpPr>
          <p:cNvPr id="8" name="Shape 6"/>
          <p:cNvSpPr/>
          <p:nvPr/>
        </p:nvSpPr>
        <p:spPr>
          <a:xfrm>
            <a:off x="5105400" y="8286750"/>
            <a:ext cx="857250" cy="19050"/>
          </a:xfrm>
          <a:prstGeom prst="rect">
            <a:avLst/>
          </a:prstGeom>
          <a:solidFill>
            <a:srgbClr val="6F8B9D"/>
          </a:solidFill>
          <a:ln/>
        </p:spPr>
      </p:sp>
      <p:sp>
        <p:nvSpPr>
          <p:cNvPr id="9" name="Shape 7"/>
          <p:cNvSpPr/>
          <p:nvPr/>
        </p:nvSpPr>
        <p:spPr>
          <a:xfrm rot="2700000">
            <a:off x="5864132" y="8223343"/>
            <a:ext cx="171450" cy="19050"/>
          </a:xfrm>
          <a:prstGeom prst="rect">
            <a:avLst/>
          </a:prstGeom>
          <a:solidFill>
            <a:srgbClr val="6F8B9D"/>
          </a:solidFill>
          <a:ln/>
        </p:spPr>
      </p:sp>
      <p:sp>
        <p:nvSpPr>
          <p:cNvPr id="10" name="Shape 8"/>
          <p:cNvSpPr/>
          <p:nvPr/>
        </p:nvSpPr>
        <p:spPr>
          <a:xfrm rot="2700000">
            <a:off x="5940332" y="8254907"/>
            <a:ext cx="19050" cy="171450"/>
          </a:xfrm>
          <a:prstGeom prst="rect">
            <a:avLst/>
          </a:prstGeom>
          <a:solidFill>
            <a:srgbClr val="6F8B9D"/>
          </a:solidFill>
          <a:ln/>
        </p:spPr>
      </p:sp>
      <p:sp>
        <p:nvSpPr>
          <p:cNvPr id="11" name="Shape 9"/>
          <p:cNvSpPr/>
          <p:nvPr/>
        </p:nvSpPr>
        <p:spPr>
          <a:xfrm>
            <a:off x="6496050" y="7143750"/>
            <a:ext cx="3422600" cy="1057275"/>
          </a:xfrm>
          <a:prstGeom prst="roundRect">
            <a:avLst>
              <a:gd name="adj" fmla="val 12613"/>
            </a:avLst>
          </a:prstGeom>
          <a:solidFill>
            <a:srgbClr val="5CC6E8">
              <a:alpha val="8000"/>
            </a:srgbClr>
          </a:solidFill>
          <a:ln w="9525">
            <a:solidFill>
              <a:srgbClr val="5CC6E8">
                <a:alpha val="35000"/>
              </a:srgbClr>
            </a:solidFill>
            <a:prstDash val="solid"/>
          </a:ln>
        </p:spPr>
      </p:sp>
      <p:sp>
        <p:nvSpPr>
          <p:cNvPr id="12" name="Text 10"/>
          <p:cNvSpPr/>
          <p:nvPr/>
        </p:nvSpPr>
        <p:spPr>
          <a:xfrm>
            <a:off x="6734175" y="7400925"/>
            <a:ext cx="3049028" cy="581025"/>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What are the password rules?</a:t>
            </a:r>
            <a:endParaRPr lang="en-US" sz="1950" dirty="0"/>
          </a:p>
        </p:txBody>
      </p:sp>
      <p:sp>
        <p:nvSpPr>
          <p:cNvPr id="13" name="Shape 11"/>
          <p:cNvSpPr/>
          <p:nvPr/>
        </p:nvSpPr>
        <p:spPr>
          <a:xfrm>
            <a:off x="10109150" y="7143750"/>
            <a:ext cx="3422675" cy="1057275"/>
          </a:xfrm>
          <a:prstGeom prst="roundRect">
            <a:avLst>
              <a:gd name="adj" fmla="val 12613"/>
            </a:avLst>
          </a:prstGeom>
          <a:solidFill>
            <a:srgbClr val="5CC6E8">
              <a:alpha val="8000"/>
            </a:srgbClr>
          </a:solidFill>
          <a:ln w="9525">
            <a:solidFill>
              <a:srgbClr val="5CC6E8">
                <a:alpha val="35000"/>
              </a:srgbClr>
            </a:solidFill>
            <a:prstDash val="solid"/>
          </a:ln>
        </p:spPr>
      </p:sp>
      <p:sp>
        <p:nvSpPr>
          <p:cNvPr id="14" name="Text 12"/>
          <p:cNvSpPr/>
          <p:nvPr/>
        </p:nvSpPr>
        <p:spPr>
          <a:xfrm>
            <a:off x="10347275" y="7400925"/>
            <a:ext cx="3049105" cy="581025"/>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What if they forget it?</a:t>
            </a:r>
            <a:endParaRPr lang="en-US" sz="1950" dirty="0"/>
          </a:p>
        </p:txBody>
      </p:sp>
      <p:sp>
        <p:nvSpPr>
          <p:cNvPr id="15" name="Shape 13"/>
          <p:cNvSpPr/>
          <p:nvPr/>
        </p:nvSpPr>
        <p:spPr>
          <a:xfrm>
            <a:off x="13722325" y="7143750"/>
            <a:ext cx="3422675" cy="1057275"/>
          </a:xfrm>
          <a:prstGeom prst="roundRect">
            <a:avLst>
              <a:gd name="adj" fmla="val 12613"/>
            </a:avLst>
          </a:prstGeom>
          <a:solidFill>
            <a:srgbClr val="5CC6E8">
              <a:alpha val="8000"/>
            </a:srgbClr>
          </a:solidFill>
          <a:ln w="9525">
            <a:solidFill>
              <a:srgbClr val="5CC6E8">
                <a:alpha val="35000"/>
              </a:srgbClr>
            </a:solidFill>
            <a:prstDash val="solid"/>
          </a:ln>
        </p:spPr>
      </p:sp>
      <p:sp>
        <p:nvSpPr>
          <p:cNvPr id="16" name="Text 14"/>
          <p:cNvSpPr/>
          <p:nvPr/>
        </p:nvSpPr>
        <p:spPr>
          <a:xfrm>
            <a:off x="13960450" y="7400925"/>
            <a:ext cx="3049105" cy="581025"/>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Lock the account after failed tries?</a:t>
            </a:r>
            <a:endParaRPr lang="en-US" sz="1950" dirty="0"/>
          </a:p>
        </p:txBody>
      </p:sp>
      <p:sp>
        <p:nvSpPr>
          <p:cNvPr id="17" name="Shape 15"/>
          <p:cNvSpPr/>
          <p:nvPr/>
        </p:nvSpPr>
        <p:spPr>
          <a:xfrm>
            <a:off x="6496050" y="8391525"/>
            <a:ext cx="3422600" cy="1057275"/>
          </a:xfrm>
          <a:prstGeom prst="roundRect">
            <a:avLst>
              <a:gd name="adj" fmla="val 12613"/>
            </a:avLst>
          </a:prstGeom>
          <a:solidFill>
            <a:srgbClr val="5CC6E8">
              <a:alpha val="8000"/>
            </a:srgbClr>
          </a:solidFill>
          <a:ln w="9525">
            <a:solidFill>
              <a:srgbClr val="5CC6E8">
                <a:alpha val="35000"/>
              </a:srgbClr>
            </a:solidFill>
            <a:prstDash val="solid"/>
          </a:ln>
        </p:spPr>
      </p:sp>
      <p:sp>
        <p:nvSpPr>
          <p:cNvPr id="18" name="Text 16"/>
          <p:cNvSpPr/>
          <p:nvPr/>
        </p:nvSpPr>
        <p:spPr>
          <a:xfrm>
            <a:off x="6734175" y="8648700"/>
            <a:ext cx="3049028" cy="581025"/>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What if two people share an email?</a:t>
            </a:r>
            <a:endParaRPr lang="en-US" sz="1950" dirty="0"/>
          </a:p>
        </p:txBody>
      </p:sp>
      <p:sp>
        <p:nvSpPr>
          <p:cNvPr id="19" name="Shape 17"/>
          <p:cNvSpPr/>
          <p:nvPr/>
        </p:nvSpPr>
        <p:spPr>
          <a:xfrm>
            <a:off x="10109150" y="8391525"/>
            <a:ext cx="3422675" cy="1057275"/>
          </a:xfrm>
          <a:prstGeom prst="roundRect">
            <a:avLst>
              <a:gd name="adj" fmla="val 12613"/>
            </a:avLst>
          </a:prstGeom>
          <a:solidFill>
            <a:srgbClr val="5CC6E8">
              <a:alpha val="8000"/>
            </a:srgbClr>
          </a:solidFill>
          <a:ln w="9525">
            <a:solidFill>
              <a:srgbClr val="5CC6E8">
                <a:alpha val="35000"/>
              </a:srgbClr>
            </a:solidFill>
            <a:prstDash val="solid"/>
          </a:ln>
        </p:spPr>
      </p:sp>
      <p:sp>
        <p:nvSpPr>
          <p:cNvPr id="20" name="Text 18"/>
          <p:cNvSpPr/>
          <p:nvPr/>
        </p:nvSpPr>
        <p:spPr>
          <a:xfrm>
            <a:off x="10347275" y="8648700"/>
            <a:ext cx="3049105" cy="581025"/>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Signed in on two devices?</a:t>
            </a:r>
            <a:endParaRPr lang="en-US" sz="1950" dirty="0"/>
          </a:p>
        </p:txBody>
      </p:sp>
      <p:sp>
        <p:nvSpPr>
          <p:cNvPr id="21" name="Shape 19"/>
          <p:cNvSpPr/>
          <p:nvPr/>
        </p:nvSpPr>
        <p:spPr>
          <a:xfrm>
            <a:off x="13722325" y="8391525"/>
            <a:ext cx="3422675" cy="1057275"/>
          </a:xfrm>
          <a:prstGeom prst="roundRect">
            <a:avLst>
              <a:gd name="adj" fmla="val 12613"/>
            </a:avLst>
          </a:prstGeom>
          <a:solidFill>
            <a:srgbClr val="5CC6E8">
              <a:alpha val="8000"/>
            </a:srgbClr>
          </a:solidFill>
          <a:ln w="9525">
            <a:solidFill>
              <a:srgbClr val="5CC6E8">
                <a:alpha val="35000"/>
              </a:srgbClr>
            </a:solidFill>
            <a:prstDash val="solid"/>
          </a:ln>
        </p:spPr>
      </p:sp>
      <p:sp>
        <p:nvSpPr>
          <p:cNvPr id="22" name="Text 20"/>
          <p:cNvSpPr/>
          <p:nvPr/>
        </p:nvSpPr>
        <p:spPr>
          <a:xfrm>
            <a:off x="13960450" y="8648700"/>
            <a:ext cx="3049105" cy="581025"/>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What if the account is deleted?</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73247">
                  <a:alpha val="100000"/>
                </a:srgbClr>
              </a:gs>
              <a:gs pos="52000">
                <a:srgbClr val="0B1A29">
                  <a:alpha val="100000"/>
                </a:srgbClr>
              </a:gs>
              <a:gs pos="100000">
                <a:srgbClr val="06121D">
                  <a:alpha val="100000"/>
                </a:srgbClr>
              </a:gs>
            </a:gsLst>
            <a:path path="circle">
              <a:fillToRect l="78000" t="0" r="22000" b="100000"/>
            </a:path>
          </a:gradFill>
          <a:ln/>
        </p:spPr>
      </p:sp>
      <p:sp>
        <p:nvSpPr>
          <p:cNvPr id="3" name="Text 1"/>
          <p:cNvSpPr/>
          <p:nvPr/>
        </p:nvSpPr>
        <p:spPr>
          <a:xfrm>
            <a:off x="1143000" y="914400"/>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5CC6E8"/>
                </a:solidFill>
                <a:latin typeface="Arial" pitchFamily="34" charset="0"/>
                <a:ea typeface="Arial" pitchFamily="34" charset="-122"/>
                <a:cs typeface="Arial" pitchFamily="34" charset="-120"/>
              </a:rPr>
              <a:t>PART ONE · WHAT YOU CAN'T SEE</a:t>
            </a:r>
            <a:endParaRPr lang="en-US" sz="1800" dirty="0"/>
          </a:p>
        </p:txBody>
      </p:sp>
      <p:sp>
        <p:nvSpPr>
          <p:cNvPr id="4" name="Text 2"/>
          <p:cNvSpPr/>
          <p:nvPr/>
        </p:nvSpPr>
        <p:spPr>
          <a:xfrm>
            <a:off x="1143000" y="1390650"/>
            <a:ext cx="1760220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spc="-72" kern="0" dirty="0">
                <a:solidFill>
                  <a:srgbClr val="EEF4F8"/>
                </a:solidFill>
                <a:latin typeface="Georgia" pitchFamily="34" charset="0"/>
                <a:ea typeface="Georgia" pitchFamily="34" charset="-122"/>
                <a:cs typeface="Georgia" pitchFamily="34" charset="-120"/>
              </a:rPr>
              <a:t>The demo always works.</a:t>
            </a:r>
            <a:endParaRPr lang="en-US" sz="4800" dirty="0"/>
          </a:p>
        </p:txBody>
      </p:sp>
      <p:sp>
        <p:nvSpPr>
          <p:cNvPr id="5" name="Shape 3"/>
          <p:cNvSpPr/>
          <p:nvPr/>
        </p:nvSpPr>
        <p:spPr>
          <a:xfrm>
            <a:off x="1714500" y="5520035"/>
            <a:ext cx="11430000" cy="57150"/>
          </a:xfrm>
          <a:prstGeom prst="roundRect">
            <a:avLst>
              <a:gd name="adj" fmla="val 50000"/>
            </a:avLst>
          </a:prstGeom>
          <a:gradFill rotWithShape="1">
            <a:gsLst>
              <a:gs pos="0">
                <a:srgbClr val="7BD6A6">
                  <a:alpha val="100000"/>
                </a:srgbClr>
              </a:gs>
              <a:gs pos="100000">
                <a:srgbClr val="4FAE7F">
                  <a:alpha val="100000"/>
                </a:srgbClr>
              </a:gs>
            </a:gsLst>
            <a:lin ang="0" scaled="0"/>
          </a:gradFill>
          <a:ln/>
        </p:spPr>
      </p:sp>
      <p:sp>
        <p:nvSpPr>
          <p:cNvPr id="6" name="Shape 4"/>
          <p:cNvSpPr/>
          <p:nvPr/>
        </p:nvSpPr>
        <p:spPr>
          <a:xfrm>
            <a:off x="1341611" y="5127129"/>
            <a:ext cx="323850" cy="323850"/>
          </a:xfrm>
          <a:prstGeom prst="ellipse">
            <a:avLst/>
          </a:prstGeom>
          <a:solidFill>
            <a:srgbClr val="7BD6A6"/>
          </a:solidFill>
          <a:ln/>
          <a:effectLst>
            <a:outerShdw sx="100000" sy="100000" kx="0" ky="0" algn="bl" rotWithShape="0" blurRad="101600" dist="50800" dir="16200000">
              <a:srgbClr val="7BD6A6">
                <a:alpha val="16000"/>
              </a:srgbClr>
            </a:outerShdw>
          </a:effectLst>
        </p:spPr>
      </p:sp>
      <p:sp>
        <p:nvSpPr>
          <p:cNvPr id="7" name="Text 5"/>
          <p:cNvSpPr/>
          <p:nvPr/>
        </p:nvSpPr>
        <p:spPr>
          <a:xfrm>
            <a:off x="1200150" y="5641479"/>
            <a:ext cx="606847" cy="309563"/>
          </a:xfrm>
          <a:prstGeom prst="rect">
            <a:avLst/>
          </a:prstGeom>
          <a:noFill/>
          <a:ln/>
        </p:spPr>
        <p:txBody>
          <a:bodyPr wrap="square" lIns="25400" tIns="25400" rIns="25400" bIns="25400" rtlCol="0" anchor="t">
            <a:normAutofit/>
          </a:bodyPr>
          <a:lstStyle/>
          <a:p>
            <a:pPr algn="ctr" indent="0" marL="0">
              <a:buNone/>
            </a:pPr>
            <a:r>
              <a:rPr lang="en-US" sz="1950" dirty="0">
                <a:solidFill>
                  <a:srgbClr val="EEF4F8"/>
                </a:solidFill>
                <a:latin typeface="Arial" pitchFamily="34" charset="0"/>
                <a:ea typeface="Arial" pitchFamily="34" charset="-122"/>
                <a:cs typeface="Arial" pitchFamily="34" charset="-120"/>
              </a:rPr>
              <a:t>Start</a:t>
            </a:r>
            <a:endParaRPr lang="en-US" sz="1950" dirty="0"/>
          </a:p>
        </p:txBody>
      </p:sp>
      <p:sp>
        <p:nvSpPr>
          <p:cNvPr id="8" name="Shape 6"/>
          <p:cNvSpPr/>
          <p:nvPr/>
        </p:nvSpPr>
        <p:spPr>
          <a:xfrm>
            <a:off x="4396680" y="5396210"/>
            <a:ext cx="247650" cy="247650"/>
          </a:xfrm>
          <a:prstGeom prst="ellipse">
            <a:avLst/>
          </a:prstGeom>
          <a:solidFill>
            <a:srgbClr val="0B1A29"/>
          </a:solidFill>
          <a:ln w="38100">
            <a:solidFill>
              <a:srgbClr val="7BD6A6"/>
            </a:solidFill>
            <a:prstDash val="solid"/>
          </a:ln>
        </p:spPr>
      </p:sp>
      <p:sp>
        <p:nvSpPr>
          <p:cNvPr id="9" name="Shape 7"/>
          <p:cNvSpPr/>
          <p:nvPr/>
        </p:nvSpPr>
        <p:spPr>
          <a:xfrm>
            <a:off x="7272114" y="5396210"/>
            <a:ext cx="247650" cy="247650"/>
          </a:xfrm>
          <a:prstGeom prst="ellipse">
            <a:avLst/>
          </a:prstGeom>
          <a:solidFill>
            <a:srgbClr val="0B1A29"/>
          </a:solidFill>
          <a:ln w="38100">
            <a:solidFill>
              <a:srgbClr val="7BD6A6"/>
            </a:solidFill>
            <a:prstDash val="solid"/>
          </a:ln>
        </p:spPr>
      </p:sp>
      <p:sp>
        <p:nvSpPr>
          <p:cNvPr id="10" name="Shape 8"/>
          <p:cNvSpPr/>
          <p:nvPr/>
        </p:nvSpPr>
        <p:spPr>
          <a:xfrm>
            <a:off x="10147474" y="5396210"/>
            <a:ext cx="247650" cy="247650"/>
          </a:xfrm>
          <a:prstGeom prst="ellipse">
            <a:avLst/>
          </a:prstGeom>
          <a:solidFill>
            <a:srgbClr val="0B1A29"/>
          </a:solidFill>
          <a:ln w="38100">
            <a:solidFill>
              <a:srgbClr val="7BD6A6"/>
            </a:solidFill>
            <a:prstDash val="solid"/>
          </a:ln>
        </p:spPr>
      </p:sp>
      <p:sp>
        <p:nvSpPr>
          <p:cNvPr id="11" name="Shape 9"/>
          <p:cNvSpPr/>
          <p:nvPr/>
        </p:nvSpPr>
        <p:spPr>
          <a:xfrm>
            <a:off x="13159904" y="5127129"/>
            <a:ext cx="323850" cy="323850"/>
          </a:xfrm>
          <a:prstGeom prst="ellipse">
            <a:avLst/>
          </a:prstGeom>
          <a:solidFill>
            <a:srgbClr val="7BD6A6"/>
          </a:solidFill>
          <a:ln/>
          <a:effectLst>
            <a:outerShdw sx="100000" sy="100000" kx="0" ky="0" algn="bl" rotWithShape="0" blurRad="101600" dist="50800" dir="16200000">
              <a:srgbClr val="7BD6A6">
                <a:alpha val="16000"/>
              </a:srgbClr>
            </a:outerShdw>
          </a:effectLst>
        </p:spPr>
      </p:sp>
      <p:sp>
        <p:nvSpPr>
          <p:cNvPr id="12" name="Text 10"/>
          <p:cNvSpPr/>
          <p:nvPr/>
        </p:nvSpPr>
        <p:spPr>
          <a:xfrm>
            <a:off x="12984807" y="5641479"/>
            <a:ext cx="674043" cy="309563"/>
          </a:xfrm>
          <a:prstGeom prst="rect">
            <a:avLst/>
          </a:prstGeom>
          <a:noFill/>
          <a:ln/>
        </p:spPr>
        <p:txBody>
          <a:bodyPr wrap="square" lIns="25400" tIns="25400" rIns="25400" bIns="25400" rtlCol="0" anchor="t">
            <a:normAutofit/>
          </a:bodyPr>
          <a:lstStyle/>
          <a:p>
            <a:pPr algn="ctr" indent="0" marL="0">
              <a:buNone/>
            </a:pPr>
            <a:r>
              <a:rPr lang="en-US" sz="1950" dirty="0">
                <a:solidFill>
                  <a:srgbClr val="EEF4F8"/>
                </a:solidFill>
                <a:latin typeface="Arial" pitchFamily="34" charset="0"/>
                <a:ea typeface="Arial" pitchFamily="34" charset="-122"/>
                <a:cs typeface="Arial" pitchFamily="34" charset="-120"/>
              </a:rPr>
              <a:t>Done</a:t>
            </a:r>
            <a:endParaRPr lang="en-US" sz="1950" dirty="0"/>
          </a:p>
        </p:txBody>
      </p:sp>
      <p:sp>
        <p:nvSpPr>
          <p:cNvPr id="13" name="Text 11"/>
          <p:cNvSpPr/>
          <p:nvPr/>
        </p:nvSpPr>
        <p:spPr>
          <a:xfrm>
            <a:off x="8253859" y="9015413"/>
            <a:ext cx="1958228" cy="471488"/>
          </a:xfrm>
          <a:prstGeom prst="rect">
            <a:avLst/>
          </a:prstGeom>
          <a:noFill/>
          <a:ln/>
        </p:spPr>
        <p:txBody>
          <a:bodyPr wrap="square" lIns="25400" tIns="25400" rIns="25400" bIns="25400" rtlCol="0" anchor="t">
            <a:normAutofit/>
          </a:bodyPr>
          <a:lstStyle/>
          <a:p>
            <a:pPr algn="l" indent="0" marL="0">
              <a:buNone/>
            </a:pPr>
            <a:r>
              <a:rPr lang="en-US" sz="3000" i="1" dirty="0">
                <a:solidFill>
                  <a:srgbClr val="AEC3D1"/>
                </a:solidFill>
                <a:latin typeface="Georgia" pitchFamily="34" charset="0"/>
                <a:ea typeface="Georgia" pitchFamily="34" charset="-122"/>
                <a:cs typeface="Georgia" pitchFamily="34" charset="-120"/>
              </a:rPr>
              <a:t>The demo.</a:t>
            </a: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73247">
                  <a:alpha val="100000"/>
                </a:srgbClr>
              </a:gs>
              <a:gs pos="52000">
                <a:srgbClr val="0B1A29">
                  <a:alpha val="100000"/>
                </a:srgbClr>
              </a:gs>
              <a:gs pos="100000">
                <a:srgbClr val="06121D">
                  <a:alpha val="100000"/>
                </a:srgbClr>
              </a:gs>
            </a:gsLst>
            <a:path path="circle">
              <a:fillToRect l="78000" t="0" r="22000" b="100000"/>
            </a:path>
          </a:gradFill>
          <a:ln/>
        </p:spPr>
      </p:sp>
      <p:sp>
        <p:nvSpPr>
          <p:cNvPr id="3" name="Text 1"/>
          <p:cNvSpPr/>
          <p:nvPr/>
        </p:nvSpPr>
        <p:spPr>
          <a:xfrm>
            <a:off x="1143000" y="914400"/>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5CC6E8"/>
                </a:solidFill>
                <a:latin typeface="Arial" pitchFamily="34" charset="0"/>
                <a:ea typeface="Arial" pitchFamily="34" charset="-122"/>
                <a:cs typeface="Arial" pitchFamily="34" charset="-120"/>
              </a:rPr>
              <a:t>PART ONE · WHAT YOU CAN'T SEE</a:t>
            </a:r>
            <a:endParaRPr lang="en-US" sz="1800" dirty="0"/>
          </a:p>
        </p:txBody>
      </p:sp>
      <p:sp>
        <p:nvSpPr>
          <p:cNvPr id="4" name="Text 2"/>
          <p:cNvSpPr/>
          <p:nvPr/>
        </p:nvSpPr>
        <p:spPr>
          <a:xfrm>
            <a:off x="1143000" y="1390650"/>
            <a:ext cx="9674089" cy="2013124"/>
          </a:xfrm>
          <a:prstGeom prst="rect">
            <a:avLst/>
          </a:prstGeom>
          <a:noFill/>
          <a:ln/>
        </p:spPr>
        <p:txBody>
          <a:bodyPr wrap="square" lIns="25400" tIns="25400" rIns="25400" bIns="25400" rtlCol="0" anchor="t">
            <a:normAutofit/>
          </a:bodyPr>
          <a:lstStyle/>
          <a:p>
            <a:pPr algn="l" indent="0" marL="0">
              <a:lnSpc>
                <a:spcPct val="95338"/>
              </a:lnSpc>
              <a:buNone/>
            </a:pPr>
            <a:r>
              <a:rPr lang="en-US" sz="4800" spc="-72" kern="0" dirty="0">
                <a:solidFill>
                  <a:srgbClr val="EEF4F8"/>
                </a:solidFill>
                <a:latin typeface="Georgia" pitchFamily="34" charset="0"/>
                <a:ea typeface="Georgia" pitchFamily="34" charset="-122"/>
                <a:cs typeface="Georgia" pitchFamily="34" charset="-120"/>
              </a:rPr>
              <a:t>"It works" is maybe 20% of the effort. </a:t>
            </a:r>
            <a:pPr algn="l" indent="0" marL="0">
              <a:lnSpc>
                <a:spcPct val="95338"/>
              </a:lnSpc>
              <a:buNone/>
            </a:pPr>
            <a:r>
              <a:rPr lang="en-US" sz="4800" spc="-72" kern="0" dirty="0">
                <a:solidFill>
                  <a:srgbClr val="EB8153"/>
                </a:solidFill>
                <a:latin typeface="Georgia" pitchFamily="34" charset="0"/>
                <a:ea typeface="Georgia" pitchFamily="34" charset="-122"/>
                <a:cs typeface="Georgia" pitchFamily="34" charset="-120"/>
              </a:rPr>
              <a:t>"It works when everything goes wrong" is the rest.</a:t>
            </a:r>
            <a:endParaRPr lang="en-US" sz="4800" dirty="0"/>
          </a:p>
        </p:txBody>
      </p:sp>
      <p:sp>
        <p:nvSpPr>
          <p:cNvPr id="5" name="Shape 3"/>
          <p:cNvSpPr/>
          <p:nvPr/>
        </p:nvSpPr>
        <p:spPr>
          <a:xfrm>
            <a:off x="1524000" y="6407274"/>
            <a:ext cx="11811000" cy="57150"/>
          </a:xfrm>
          <a:prstGeom prst="roundRect">
            <a:avLst>
              <a:gd name="adj" fmla="val 50000"/>
            </a:avLst>
          </a:prstGeom>
          <a:gradFill rotWithShape="1">
            <a:gsLst>
              <a:gs pos="0">
                <a:srgbClr val="7BD6A6">
                  <a:alpha val="100000"/>
                </a:srgbClr>
              </a:gs>
              <a:gs pos="100000">
                <a:srgbClr val="3F6D8B">
                  <a:alpha val="100000"/>
                </a:srgbClr>
              </a:gs>
            </a:gsLst>
            <a:lin ang="0" scaled="0"/>
          </a:gradFill>
          <a:ln/>
        </p:spPr>
      </p:sp>
      <p:sp>
        <p:nvSpPr>
          <p:cNvPr id="6" name="Shape 4"/>
          <p:cNvSpPr/>
          <p:nvPr/>
        </p:nvSpPr>
        <p:spPr>
          <a:xfrm>
            <a:off x="1371600" y="6264399"/>
            <a:ext cx="285750" cy="285750"/>
          </a:xfrm>
          <a:prstGeom prst="ellipse">
            <a:avLst/>
          </a:prstGeom>
          <a:solidFill>
            <a:srgbClr val="7BD6A6"/>
          </a:solidFill>
          <a:ln/>
        </p:spPr>
      </p:sp>
      <p:sp>
        <p:nvSpPr>
          <p:cNvPr id="7" name="Shape 5"/>
          <p:cNvSpPr/>
          <p:nvPr/>
        </p:nvSpPr>
        <p:spPr>
          <a:xfrm>
            <a:off x="13201650" y="6264399"/>
            <a:ext cx="285750" cy="285750"/>
          </a:xfrm>
          <a:prstGeom prst="ellipse">
            <a:avLst/>
          </a:prstGeom>
          <a:solidFill>
            <a:srgbClr val="3F6D8B"/>
          </a:solidFill>
          <a:ln w="38100">
            <a:solidFill>
              <a:srgbClr val="EB8153"/>
            </a:solidFill>
            <a:prstDash val="solid"/>
          </a:ln>
        </p:spPr>
      </p:sp>
      <p:sp>
        <p:nvSpPr>
          <p:cNvPr id="8" name="Shape 6"/>
          <p:cNvSpPr/>
          <p:nvPr/>
        </p:nvSpPr>
        <p:spPr>
          <a:xfrm>
            <a:off x="1897335" y="5169024"/>
            <a:ext cx="3065338" cy="544785"/>
          </a:xfrm>
          <a:prstGeom prst="roundRect">
            <a:avLst>
              <a:gd name="adj" fmla="val 17484"/>
            </a:avLst>
          </a:prstGeom>
          <a:solidFill>
            <a:srgbClr val="EB8153">
              <a:alpha val="14000"/>
            </a:srgbClr>
          </a:solidFill>
          <a:ln w="9525">
            <a:solidFill>
              <a:srgbClr val="EB8153">
                <a:alpha val="50000"/>
              </a:srgbClr>
            </a:solidFill>
            <a:prstDash val="solid"/>
          </a:ln>
        </p:spPr>
      </p:sp>
      <p:sp>
        <p:nvSpPr>
          <p:cNvPr id="9" name="Text 7"/>
          <p:cNvSpPr/>
          <p:nvPr/>
        </p:nvSpPr>
        <p:spPr>
          <a:xfrm>
            <a:off x="2078310" y="5292849"/>
            <a:ext cx="2795349" cy="335235"/>
          </a:xfrm>
          <a:prstGeom prst="rect">
            <a:avLst/>
          </a:prstGeom>
          <a:noFill/>
          <a:ln/>
        </p:spPr>
        <p:txBody>
          <a:bodyPr wrap="square" lIns="25400" tIns="25400" rIns="25400" bIns="25400" rtlCol="0" anchor="t">
            <a:normAutofit/>
          </a:bodyPr>
          <a:lstStyle/>
          <a:p>
            <a:pPr algn="l" indent="0" marL="0">
              <a:lnSpc>
                <a:spcPct val="104000"/>
              </a:lnSpc>
              <a:buNone/>
            </a:pPr>
            <a:r>
              <a:rPr lang="en-US" sz="1950" dirty="0">
                <a:solidFill>
                  <a:srgbClr val="EEF4F8"/>
                </a:solidFill>
                <a:latin typeface="Arial" pitchFamily="34" charset="0"/>
                <a:ea typeface="Arial" pitchFamily="34" charset="-122"/>
                <a:cs typeface="Arial" pitchFamily="34" charset="-120"/>
              </a:rPr>
              <a:t>Network drops mid-save</a:t>
            </a:r>
            <a:endParaRPr lang="en-US" sz="1950" dirty="0"/>
          </a:p>
        </p:txBody>
      </p:sp>
      <p:sp>
        <p:nvSpPr>
          <p:cNvPr id="10" name="Shape 8"/>
          <p:cNvSpPr/>
          <p:nvPr/>
        </p:nvSpPr>
        <p:spPr>
          <a:xfrm>
            <a:off x="4914900" y="7100739"/>
            <a:ext cx="2543994" cy="544785"/>
          </a:xfrm>
          <a:prstGeom prst="roundRect">
            <a:avLst>
              <a:gd name="adj" fmla="val 17484"/>
            </a:avLst>
          </a:prstGeom>
          <a:solidFill>
            <a:srgbClr val="EB8153">
              <a:alpha val="14000"/>
            </a:srgbClr>
          </a:solidFill>
          <a:ln w="9525">
            <a:solidFill>
              <a:srgbClr val="EB8153">
                <a:alpha val="50000"/>
              </a:srgbClr>
            </a:solidFill>
            <a:prstDash val="solid"/>
          </a:ln>
        </p:spPr>
      </p:sp>
      <p:sp>
        <p:nvSpPr>
          <p:cNvPr id="11" name="Text 9"/>
          <p:cNvSpPr/>
          <p:nvPr/>
        </p:nvSpPr>
        <p:spPr>
          <a:xfrm>
            <a:off x="5095875" y="7224564"/>
            <a:ext cx="2258363" cy="335235"/>
          </a:xfrm>
          <a:prstGeom prst="rect">
            <a:avLst/>
          </a:prstGeom>
          <a:noFill/>
          <a:ln/>
        </p:spPr>
        <p:txBody>
          <a:bodyPr wrap="square" lIns="25400" tIns="25400" rIns="25400" bIns="25400" rtlCol="0" anchor="t">
            <a:normAutofit/>
          </a:bodyPr>
          <a:lstStyle/>
          <a:p>
            <a:pPr algn="l" indent="0" marL="0">
              <a:lnSpc>
                <a:spcPct val="104000"/>
              </a:lnSpc>
              <a:buNone/>
            </a:pPr>
            <a:r>
              <a:rPr lang="en-US" sz="1950" dirty="0">
                <a:solidFill>
                  <a:srgbClr val="EEF4F8"/>
                </a:solidFill>
                <a:latin typeface="Arial" pitchFamily="34" charset="0"/>
                <a:ea typeface="Arial" pitchFamily="34" charset="-122"/>
                <a:cs typeface="Arial" pitchFamily="34" charset="-120"/>
              </a:rPr>
              <a:t>10,000 rows pasted</a:t>
            </a:r>
            <a:endParaRPr lang="en-US" sz="1950" dirty="0"/>
          </a:p>
        </p:txBody>
      </p:sp>
      <p:sp>
        <p:nvSpPr>
          <p:cNvPr id="12" name="Shape 10"/>
          <p:cNvSpPr/>
          <p:nvPr/>
        </p:nvSpPr>
        <p:spPr>
          <a:xfrm>
            <a:off x="7806630" y="5169024"/>
            <a:ext cx="2966517" cy="544785"/>
          </a:xfrm>
          <a:prstGeom prst="roundRect">
            <a:avLst>
              <a:gd name="adj" fmla="val 17484"/>
            </a:avLst>
          </a:prstGeom>
          <a:solidFill>
            <a:srgbClr val="EB8153">
              <a:alpha val="14000"/>
            </a:srgbClr>
          </a:solidFill>
          <a:ln w="9525">
            <a:solidFill>
              <a:srgbClr val="EB8153">
                <a:alpha val="50000"/>
              </a:srgbClr>
            </a:solidFill>
            <a:prstDash val="solid"/>
          </a:ln>
        </p:spPr>
      </p:sp>
      <p:sp>
        <p:nvSpPr>
          <p:cNvPr id="13" name="Text 11"/>
          <p:cNvSpPr/>
          <p:nvPr/>
        </p:nvSpPr>
        <p:spPr>
          <a:xfrm>
            <a:off x="7987605" y="5292849"/>
            <a:ext cx="2693562" cy="335235"/>
          </a:xfrm>
          <a:prstGeom prst="rect">
            <a:avLst/>
          </a:prstGeom>
          <a:noFill/>
          <a:ln/>
        </p:spPr>
        <p:txBody>
          <a:bodyPr wrap="square" lIns="25400" tIns="25400" rIns="25400" bIns="25400" rtlCol="0" anchor="t">
            <a:normAutofit/>
          </a:bodyPr>
          <a:lstStyle/>
          <a:p>
            <a:pPr algn="l" indent="0" marL="0">
              <a:lnSpc>
                <a:spcPct val="104000"/>
              </a:lnSpc>
              <a:buNone/>
            </a:pPr>
            <a:r>
              <a:rPr lang="en-US" sz="1950" dirty="0">
                <a:solidFill>
                  <a:srgbClr val="EEF4F8"/>
                </a:solidFill>
                <a:latin typeface="Arial" pitchFamily="34" charset="0"/>
                <a:ea typeface="Arial" pitchFamily="34" charset="-122"/>
                <a:cs typeface="Arial" pitchFamily="34" charset="-120"/>
              </a:rPr>
              <a:t>Two people, one record</a:t>
            </a:r>
            <a:endParaRPr lang="en-US" sz="1950" dirty="0"/>
          </a:p>
        </p:txBody>
      </p:sp>
      <p:sp>
        <p:nvSpPr>
          <p:cNvPr id="14" name="Shape 12"/>
          <p:cNvSpPr/>
          <p:nvPr/>
        </p:nvSpPr>
        <p:spPr>
          <a:xfrm>
            <a:off x="10953080" y="7100739"/>
            <a:ext cx="2385789" cy="544785"/>
          </a:xfrm>
          <a:prstGeom prst="roundRect">
            <a:avLst>
              <a:gd name="adj" fmla="val 17484"/>
            </a:avLst>
          </a:prstGeom>
          <a:solidFill>
            <a:srgbClr val="EB8153">
              <a:alpha val="14000"/>
            </a:srgbClr>
          </a:solidFill>
          <a:ln w="9525">
            <a:solidFill>
              <a:srgbClr val="EB8153">
                <a:alpha val="50000"/>
              </a:srgbClr>
            </a:solidFill>
            <a:prstDash val="solid"/>
          </a:ln>
        </p:spPr>
      </p:sp>
      <p:sp>
        <p:nvSpPr>
          <p:cNvPr id="15" name="Text 13"/>
          <p:cNvSpPr/>
          <p:nvPr/>
        </p:nvSpPr>
        <p:spPr>
          <a:xfrm>
            <a:off x="11134055" y="7224564"/>
            <a:ext cx="2100039" cy="335235"/>
          </a:xfrm>
          <a:prstGeom prst="rect">
            <a:avLst/>
          </a:prstGeom>
          <a:noFill/>
          <a:ln/>
        </p:spPr>
        <p:txBody>
          <a:bodyPr wrap="square" lIns="25400" tIns="25400" rIns="25400" bIns="25400" rtlCol="0" anchor="t">
            <a:normAutofit/>
          </a:bodyPr>
          <a:lstStyle/>
          <a:p>
            <a:pPr algn="l" indent="0" marL="0">
              <a:lnSpc>
                <a:spcPct val="104000"/>
              </a:lnSpc>
              <a:buNone/>
            </a:pPr>
            <a:r>
              <a:rPr lang="en-US" sz="1950" dirty="0">
                <a:solidFill>
                  <a:srgbClr val="EEF4F8"/>
                </a:solidFill>
                <a:latin typeface="Arial" pitchFamily="34" charset="0"/>
                <a:ea typeface="Arial" pitchFamily="34" charset="-122"/>
                <a:cs typeface="Arial" pitchFamily="34" charset="-120"/>
              </a:rPr>
              <a:t>A name with emoji</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4101A">
                  <a:alpha val="100000"/>
                </a:srgbClr>
              </a:gs>
              <a:gs pos="100000">
                <a:srgbClr val="081826">
                  <a:alpha val="100000"/>
                </a:srgbClr>
              </a:gs>
            </a:gsLst>
            <a:lin ang="5400000" scaled="0"/>
          </a:gradFill>
          <a:ln/>
        </p:spPr>
      </p:sp>
      <p:sp>
        <p:nvSpPr>
          <p:cNvPr id="3" name="Text 1"/>
          <p:cNvSpPr/>
          <p:nvPr/>
        </p:nvSpPr>
        <p:spPr>
          <a:xfrm>
            <a:off x="1143000" y="914400"/>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5CC6E8"/>
                </a:solidFill>
                <a:latin typeface="Arial" pitchFamily="34" charset="0"/>
                <a:ea typeface="Arial" pitchFamily="34" charset="-122"/>
                <a:cs typeface="Arial" pitchFamily="34" charset="-120"/>
              </a:rPr>
              <a:t>PART TWO · THE THREE THAT EAT THE CALENDAR</a:t>
            </a:r>
            <a:endParaRPr lang="en-US" sz="1800" dirty="0"/>
          </a:p>
        </p:txBody>
      </p:sp>
      <p:sp>
        <p:nvSpPr>
          <p:cNvPr id="4" name="Shape 2"/>
          <p:cNvSpPr/>
          <p:nvPr/>
        </p:nvSpPr>
        <p:spPr>
          <a:xfrm>
            <a:off x="5724525" y="3276600"/>
            <a:ext cx="1619250" cy="2857500"/>
          </a:xfrm>
          <a:custGeom>
            <a:avLst/>
            <a:gdLst/>
            <a:ahLst/>
            <a:cxnLst/>
            <a:rect l="l" t="t" r="r" b="b"/>
            <a:pathLst>
              <a:path w="1619250" h="2857500">
                <a:moveTo>
                  <a:pt x="95250" y="0"/>
                </a:moveTo>
                <a:lnTo>
                  <a:pt x="1524000" y="0"/>
                </a:lnTo>
                <a:arcTo hR="95250" wR="95250" stAng="16200000" swAng="5400000"/>
                <a:lnTo>
                  <a:pt x="1619250" y="2857500"/>
                </a:lnTo>
                <a:lnTo>
                  <a:pt x="0" y="2857500"/>
                </a:lnTo>
                <a:lnTo>
                  <a:pt x="0" y="95250"/>
                </a:lnTo>
                <a:arcTo hR="95250" wR="95250" stAng="10800000" swAng="5400000"/>
                <a:close/>
              </a:path>
            </a:pathLst>
          </a:custGeom>
          <a:gradFill rotWithShape="1">
            <a:gsLst>
              <a:gs pos="0">
                <a:srgbClr val="26506D">
                  <a:alpha val="100000"/>
                </a:srgbClr>
              </a:gs>
              <a:gs pos="100000">
                <a:srgbClr val="12283B">
                  <a:alpha val="100000"/>
                </a:srgbClr>
              </a:gs>
            </a:gsLst>
            <a:lin ang="5400000" scaled="0"/>
          </a:gradFill>
          <a:ln/>
        </p:spPr>
      </p:sp>
      <p:sp>
        <p:nvSpPr>
          <p:cNvPr id="5" name="Shape 3"/>
          <p:cNvSpPr/>
          <p:nvPr/>
        </p:nvSpPr>
        <p:spPr>
          <a:xfrm>
            <a:off x="5724525" y="3276600"/>
            <a:ext cx="1619250" cy="9525"/>
          </a:xfrm>
          <a:prstGeom prst="rect">
            <a:avLst/>
          </a:prstGeom>
          <a:solidFill>
            <a:srgbClr val="FFFFFF">
              <a:alpha val="14000"/>
            </a:srgbClr>
          </a:solidFill>
          <a:ln/>
        </p:spPr>
      </p:sp>
      <p:sp>
        <p:nvSpPr>
          <p:cNvPr id="6" name="Shape 4"/>
          <p:cNvSpPr/>
          <p:nvPr/>
        </p:nvSpPr>
        <p:spPr>
          <a:xfrm>
            <a:off x="5724525" y="3276600"/>
            <a:ext cx="9525" cy="2857500"/>
          </a:xfrm>
          <a:prstGeom prst="rect">
            <a:avLst/>
          </a:prstGeom>
          <a:solidFill>
            <a:srgbClr val="FFFFFF">
              <a:alpha val="14000"/>
            </a:srgbClr>
          </a:solidFill>
          <a:ln/>
        </p:spPr>
      </p:sp>
      <p:sp>
        <p:nvSpPr>
          <p:cNvPr id="7" name="Shape 5"/>
          <p:cNvSpPr/>
          <p:nvPr/>
        </p:nvSpPr>
        <p:spPr>
          <a:xfrm>
            <a:off x="7334250" y="3276600"/>
            <a:ext cx="9525" cy="2857500"/>
          </a:xfrm>
          <a:prstGeom prst="rect">
            <a:avLst/>
          </a:prstGeom>
          <a:solidFill>
            <a:srgbClr val="FFFFFF">
              <a:alpha val="14000"/>
            </a:srgbClr>
          </a:solidFill>
          <a:ln/>
        </p:spPr>
      </p:sp>
      <p:sp>
        <p:nvSpPr>
          <p:cNvPr id="8" name="Shape 6"/>
          <p:cNvSpPr/>
          <p:nvPr/>
        </p:nvSpPr>
        <p:spPr>
          <a:xfrm>
            <a:off x="5724525" y="6134100"/>
            <a:ext cx="2000250" cy="209550"/>
          </a:xfrm>
          <a:prstGeom prst="roundRect">
            <a:avLst>
              <a:gd name="adj" fmla="val 18182"/>
            </a:avLst>
          </a:prstGeom>
          <a:solidFill>
            <a:srgbClr val="2B5673"/>
          </a:solidFill>
          <a:ln/>
        </p:spPr>
      </p:sp>
      <p:sp>
        <p:nvSpPr>
          <p:cNvPr id="9" name="Text 7"/>
          <p:cNvSpPr/>
          <p:nvPr/>
        </p:nvSpPr>
        <p:spPr>
          <a:xfrm>
            <a:off x="5624513" y="6591300"/>
            <a:ext cx="2200275" cy="419100"/>
          </a:xfrm>
          <a:prstGeom prst="rect">
            <a:avLst/>
          </a:prstGeom>
          <a:noFill/>
          <a:ln/>
        </p:spPr>
        <p:txBody>
          <a:bodyPr wrap="square" lIns="25400" tIns="25400" rIns="25400" bIns="25400" rtlCol="0" anchor="t">
            <a:normAutofit/>
          </a:bodyPr>
          <a:lstStyle/>
          <a:p>
            <a:pPr algn="ctr" indent="0" marL="0">
              <a:buNone/>
            </a:pPr>
            <a:r>
              <a:rPr lang="en-US" sz="3000" dirty="0">
                <a:solidFill>
                  <a:srgbClr val="EEF4F8"/>
                </a:solidFill>
                <a:latin typeface="Georgia" pitchFamily="34" charset="0"/>
                <a:ea typeface="Georgia" pitchFamily="34" charset="-122"/>
                <a:cs typeface="Georgia" pitchFamily="34" charset="-120"/>
              </a:rPr>
              <a:t>Data</a:t>
            </a:r>
            <a:endParaRPr lang="en-US" sz="3000" dirty="0"/>
          </a:p>
        </p:txBody>
      </p:sp>
      <p:sp>
        <p:nvSpPr>
          <p:cNvPr id="10" name="Shape 8"/>
          <p:cNvSpPr/>
          <p:nvPr/>
        </p:nvSpPr>
        <p:spPr>
          <a:xfrm>
            <a:off x="8143875" y="2705100"/>
            <a:ext cx="1619250" cy="3429000"/>
          </a:xfrm>
          <a:custGeom>
            <a:avLst/>
            <a:gdLst/>
            <a:ahLst/>
            <a:cxnLst/>
            <a:rect l="l" t="t" r="r" b="b"/>
            <a:pathLst>
              <a:path w="1619250" h="3429000">
                <a:moveTo>
                  <a:pt x="95250" y="0"/>
                </a:moveTo>
                <a:lnTo>
                  <a:pt x="1524000" y="0"/>
                </a:lnTo>
                <a:arcTo hR="95250" wR="95250" stAng="16200000" swAng="5400000"/>
                <a:lnTo>
                  <a:pt x="1619250" y="3429000"/>
                </a:lnTo>
                <a:lnTo>
                  <a:pt x="0" y="3429000"/>
                </a:lnTo>
                <a:lnTo>
                  <a:pt x="0" y="95250"/>
                </a:lnTo>
                <a:arcTo hR="95250" wR="95250" stAng="10800000" swAng="5400000"/>
                <a:close/>
              </a:path>
            </a:pathLst>
          </a:custGeom>
          <a:gradFill rotWithShape="1">
            <a:gsLst>
              <a:gs pos="0">
                <a:srgbClr val="26506D">
                  <a:alpha val="100000"/>
                </a:srgbClr>
              </a:gs>
              <a:gs pos="100000">
                <a:srgbClr val="12283B">
                  <a:alpha val="100000"/>
                </a:srgbClr>
              </a:gs>
            </a:gsLst>
            <a:lin ang="5400000" scaled="0"/>
          </a:gradFill>
          <a:ln/>
        </p:spPr>
      </p:sp>
      <p:sp>
        <p:nvSpPr>
          <p:cNvPr id="11" name="Shape 9"/>
          <p:cNvSpPr/>
          <p:nvPr/>
        </p:nvSpPr>
        <p:spPr>
          <a:xfrm>
            <a:off x="8143875" y="2705100"/>
            <a:ext cx="1619250" cy="9525"/>
          </a:xfrm>
          <a:prstGeom prst="rect">
            <a:avLst/>
          </a:prstGeom>
          <a:solidFill>
            <a:srgbClr val="FFFFFF">
              <a:alpha val="14000"/>
            </a:srgbClr>
          </a:solidFill>
          <a:ln/>
        </p:spPr>
      </p:sp>
      <p:sp>
        <p:nvSpPr>
          <p:cNvPr id="12" name="Shape 10"/>
          <p:cNvSpPr/>
          <p:nvPr/>
        </p:nvSpPr>
        <p:spPr>
          <a:xfrm>
            <a:off x="8143875" y="2705100"/>
            <a:ext cx="9525" cy="3429000"/>
          </a:xfrm>
          <a:prstGeom prst="rect">
            <a:avLst/>
          </a:prstGeom>
          <a:solidFill>
            <a:srgbClr val="FFFFFF">
              <a:alpha val="14000"/>
            </a:srgbClr>
          </a:solidFill>
          <a:ln/>
        </p:spPr>
      </p:sp>
      <p:sp>
        <p:nvSpPr>
          <p:cNvPr id="13" name="Shape 11"/>
          <p:cNvSpPr/>
          <p:nvPr/>
        </p:nvSpPr>
        <p:spPr>
          <a:xfrm>
            <a:off x="9753600" y="2705100"/>
            <a:ext cx="9525" cy="3429000"/>
          </a:xfrm>
          <a:prstGeom prst="rect">
            <a:avLst/>
          </a:prstGeom>
          <a:solidFill>
            <a:srgbClr val="FFFFFF">
              <a:alpha val="14000"/>
            </a:srgbClr>
          </a:solidFill>
          <a:ln/>
        </p:spPr>
      </p:sp>
      <p:sp>
        <p:nvSpPr>
          <p:cNvPr id="14" name="Shape 12"/>
          <p:cNvSpPr/>
          <p:nvPr/>
        </p:nvSpPr>
        <p:spPr>
          <a:xfrm>
            <a:off x="8143875" y="6134100"/>
            <a:ext cx="2000250" cy="209550"/>
          </a:xfrm>
          <a:prstGeom prst="roundRect">
            <a:avLst>
              <a:gd name="adj" fmla="val 18182"/>
            </a:avLst>
          </a:prstGeom>
          <a:solidFill>
            <a:srgbClr val="2B5673"/>
          </a:solidFill>
          <a:ln/>
        </p:spPr>
      </p:sp>
      <p:sp>
        <p:nvSpPr>
          <p:cNvPr id="15" name="Text 13"/>
          <p:cNvSpPr/>
          <p:nvPr/>
        </p:nvSpPr>
        <p:spPr>
          <a:xfrm>
            <a:off x="8043863" y="6591300"/>
            <a:ext cx="2200275" cy="419100"/>
          </a:xfrm>
          <a:prstGeom prst="rect">
            <a:avLst/>
          </a:prstGeom>
          <a:noFill/>
          <a:ln/>
        </p:spPr>
        <p:txBody>
          <a:bodyPr wrap="square" lIns="25400" tIns="25400" rIns="25400" bIns="25400" rtlCol="0" anchor="t">
            <a:normAutofit/>
          </a:bodyPr>
          <a:lstStyle/>
          <a:p>
            <a:pPr algn="ctr" indent="0" marL="0">
              <a:buNone/>
            </a:pPr>
            <a:r>
              <a:rPr lang="en-US" sz="3000" dirty="0">
                <a:solidFill>
                  <a:srgbClr val="EEF4F8"/>
                </a:solidFill>
                <a:latin typeface="Georgia" pitchFamily="34" charset="0"/>
                <a:ea typeface="Georgia" pitchFamily="34" charset="-122"/>
                <a:cs typeface="Georgia" pitchFamily="34" charset="-120"/>
              </a:rPr>
              <a:t>Security</a:t>
            </a:r>
            <a:endParaRPr lang="en-US" sz="3000" dirty="0"/>
          </a:p>
        </p:txBody>
      </p:sp>
      <p:sp>
        <p:nvSpPr>
          <p:cNvPr id="16" name="Shape 14"/>
          <p:cNvSpPr/>
          <p:nvPr/>
        </p:nvSpPr>
        <p:spPr>
          <a:xfrm>
            <a:off x="10563225" y="3086100"/>
            <a:ext cx="1619250" cy="3048000"/>
          </a:xfrm>
          <a:custGeom>
            <a:avLst/>
            <a:gdLst/>
            <a:ahLst/>
            <a:cxnLst/>
            <a:rect l="l" t="t" r="r" b="b"/>
            <a:pathLst>
              <a:path w="1619250" h="3048000">
                <a:moveTo>
                  <a:pt x="95250" y="0"/>
                </a:moveTo>
                <a:lnTo>
                  <a:pt x="1524000" y="0"/>
                </a:lnTo>
                <a:arcTo hR="95250" wR="95250" stAng="16200000" swAng="5400000"/>
                <a:lnTo>
                  <a:pt x="1619250" y="3048000"/>
                </a:lnTo>
                <a:lnTo>
                  <a:pt x="0" y="3048000"/>
                </a:lnTo>
                <a:lnTo>
                  <a:pt x="0" y="95250"/>
                </a:lnTo>
                <a:arcTo hR="95250" wR="95250" stAng="10800000" swAng="5400000"/>
                <a:close/>
              </a:path>
            </a:pathLst>
          </a:custGeom>
          <a:gradFill rotWithShape="1">
            <a:gsLst>
              <a:gs pos="0">
                <a:srgbClr val="26506D">
                  <a:alpha val="100000"/>
                </a:srgbClr>
              </a:gs>
              <a:gs pos="100000">
                <a:srgbClr val="12283B">
                  <a:alpha val="100000"/>
                </a:srgbClr>
              </a:gs>
            </a:gsLst>
            <a:lin ang="5400000" scaled="0"/>
          </a:gradFill>
          <a:ln/>
        </p:spPr>
      </p:sp>
      <p:sp>
        <p:nvSpPr>
          <p:cNvPr id="17" name="Shape 15"/>
          <p:cNvSpPr/>
          <p:nvPr/>
        </p:nvSpPr>
        <p:spPr>
          <a:xfrm>
            <a:off x="10563225" y="3086100"/>
            <a:ext cx="1619250" cy="9525"/>
          </a:xfrm>
          <a:prstGeom prst="rect">
            <a:avLst/>
          </a:prstGeom>
          <a:solidFill>
            <a:srgbClr val="FFFFFF">
              <a:alpha val="14000"/>
            </a:srgbClr>
          </a:solidFill>
          <a:ln/>
        </p:spPr>
      </p:sp>
      <p:sp>
        <p:nvSpPr>
          <p:cNvPr id="18" name="Shape 16"/>
          <p:cNvSpPr/>
          <p:nvPr/>
        </p:nvSpPr>
        <p:spPr>
          <a:xfrm>
            <a:off x="10563225" y="3086100"/>
            <a:ext cx="9525" cy="3048000"/>
          </a:xfrm>
          <a:prstGeom prst="rect">
            <a:avLst/>
          </a:prstGeom>
          <a:solidFill>
            <a:srgbClr val="FFFFFF">
              <a:alpha val="14000"/>
            </a:srgbClr>
          </a:solidFill>
          <a:ln/>
        </p:spPr>
      </p:sp>
      <p:sp>
        <p:nvSpPr>
          <p:cNvPr id="19" name="Shape 17"/>
          <p:cNvSpPr/>
          <p:nvPr/>
        </p:nvSpPr>
        <p:spPr>
          <a:xfrm>
            <a:off x="12172950" y="3086100"/>
            <a:ext cx="9525" cy="3048000"/>
          </a:xfrm>
          <a:prstGeom prst="rect">
            <a:avLst/>
          </a:prstGeom>
          <a:solidFill>
            <a:srgbClr val="FFFFFF">
              <a:alpha val="14000"/>
            </a:srgbClr>
          </a:solidFill>
          <a:ln/>
        </p:spPr>
      </p:sp>
      <p:sp>
        <p:nvSpPr>
          <p:cNvPr id="20" name="Shape 18"/>
          <p:cNvSpPr/>
          <p:nvPr/>
        </p:nvSpPr>
        <p:spPr>
          <a:xfrm>
            <a:off x="10563225" y="6134100"/>
            <a:ext cx="2000250" cy="209550"/>
          </a:xfrm>
          <a:prstGeom prst="roundRect">
            <a:avLst>
              <a:gd name="adj" fmla="val 18182"/>
            </a:avLst>
          </a:prstGeom>
          <a:solidFill>
            <a:srgbClr val="2B5673"/>
          </a:solidFill>
          <a:ln/>
        </p:spPr>
      </p:sp>
      <p:sp>
        <p:nvSpPr>
          <p:cNvPr id="21" name="Text 19"/>
          <p:cNvSpPr/>
          <p:nvPr/>
        </p:nvSpPr>
        <p:spPr>
          <a:xfrm>
            <a:off x="10463213" y="6591300"/>
            <a:ext cx="2200275" cy="419100"/>
          </a:xfrm>
          <a:prstGeom prst="rect">
            <a:avLst/>
          </a:prstGeom>
          <a:noFill/>
          <a:ln/>
        </p:spPr>
        <p:txBody>
          <a:bodyPr wrap="square" lIns="25400" tIns="25400" rIns="25400" bIns="25400" rtlCol="0" anchor="t">
            <a:normAutofit/>
          </a:bodyPr>
          <a:lstStyle/>
          <a:p>
            <a:pPr algn="ctr" indent="0" marL="0">
              <a:buNone/>
            </a:pPr>
            <a:r>
              <a:rPr lang="en-US" sz="3000" dirty="0">
                <a:solidFill>
                  <a:srgbClr val="EEF4F8"/>
                </a:solidFill>
                <a:latin typeface="Georgia" pitchFamily="34" charset="0"/>
                <a:ea typeface="Georgia" pitchFamily="34" charset="-122"/>
                <a:cs typeface="Georgia" pitchFamily="34" charset="-120"/>
              </a:rPr>
              <a:t>Policy</a:t>
            </a:r>
            <a:endParaRPr lang="en-US" sz="3000" dirty="0"/>
          </a:p>
        </p:txBody>
      </p:sp>
      <p:sp>
        <p:nvSpPr>
          <p:cNvPr id="22" name="Text 20"/>
          <p:cNvSpPr/>
          <p:nvPr/>
        </p:nvSpPr>
        <p:spPr>
          <a:xfrm>
            <a:off x="1143000" y="8534400"/>
            <a:ext cx="7610229" cy="952500"/>
          </a:xfrm>
          <a:prstGeom prst="rect">
            <a:avLst/>
          </a:prstGeom>
          <a:noFill/>
          <a:ln/>
        </p:spPr>
        <p:txBody>
          <a:bodyPr wrap="square" lIns="25400" tIns="25400" rIns="25400" bIns="25400" rtlCol="0" anchor="t">
            <a:normAutofit/>
          </a:bodyPr>
          <a:lstStyle/>
          <a:p>
            <a:pPr algn="l" indent="0" marL="0">
              <a:lnSpc>
                <a:spcPct val="105495"/>
              </a:lnSpc>
              <a:buNone/>
            </a:pPr>
            <a:r>
              <a:rPr lang="en-US" sz="3000" spc="-30" kern="0" dirty="0">
                <a:solidFill>
                  <a:srgbClr val="AEC3D1"/>
                </a:solidFill>
                <a:latin typeface="Georgia" pitchFamily="34" charset="0"/>
                <a:ea typeface="Georgia" pitchFamily="34" charset="-122"/>
                <a:cs typeface="Georgia" pitchFamily="34" charset="-120"/>
              </a:rPr>
              <a:t>Three reasons things take longer that nobody puts in the meeting.</a:t>
            </a: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73247">
                  <a:alpha val="100000"/>
                </a:srgbClr>
              </a:gs>
              <a:gs pos="52000">
                <a:srgbClr val="0B1A29">
                  <a:alpha val="100000"/>
                </a:srgbClr>
              </a:gs>
              <a:gs pos="100000">
                <a:srgbClr val="06121D">
                  <a:alpha val="100000"/>
                </a:srgbClr>
              </a:gs>
            </a:gsLst>
            <a:path path="circle">
              <a:fillToRect l="78000" t="0" r="22000" b="100000"/>
            </a:path>
          </a:gradFill>
          <a:ln/>
        </p:spPr>
      </p:sp>
      <p:sp>
        <p:nvSpPr>
          <p:cNvPr id="3" name="Text 1"/>
          <p:cNvSpPr/>
          <p:nvPr/>
        </p:nvSpPr>
        <p:spPr>
          <a:xfrm>
            <a:off x="1143000" y="914400"/>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5CC6E8"/>
                </a:solidFill>
                <a:latin typeface="Arial" pitchFamily="34" charset="0"/>
                <a:ea typeface="Arial" pitchFamily="34" charset="-122"/>
                <a:cs typeface="Arial" pitchFamily="34" charset="-120"/>
              </a:rPr>
              <a:t>THE RUNNING EXAMPLE</a:t>
            </a:r>
            <a:endParaRPr lang="en-US" sz="1800" dirty="0"/>
          </a:p>
        </p:txBody>
      </p:sp>
      <p:sp>
        <p:nvSpPr>
          <p:cNvPr id="4" name="Text 2"/>
          <p:cNvSpPr/>
          <p:nvPr/>
        </p:nvSpPr>
        <p:spPr>
          <a:xfrm>
            <a:off x="1143000" y="1390650"/>
            <a:ext cx="9674089" cy="1305967"/>
          </a:xfrm>
          <a:prstGeom prst="rect">
            <a:avLst/>
          </a:prstGeom>
          <a:noFill/>
          <a:ln/>
        </p:spPr>
        <p:txBody>
          <a:bodyPr wrap="square" lIns="25400" tIns="25400" rIns="25400" bIns="25400" rtlCol="0" anchor="t">
            <a:normAutofit/>
          </a:bodyPr>
          <a:lstStyle/>
          <a:p>
            <a:pPr algn="l" indent="0" marL="0">
              <a:lnSpc>
                <a:spcPct val="91807"/>
              </a:lnSpc>
              <a:buNone/>
            </a:pPr>
            <a:r>
              <a:rPr lang="en-US" sz="4800" spc="-72" kern="0" dirty="0">
                <a:solidFill>
                  <a:srgbClr val="EEF4F8"/>
                </a:solidFill>
                <a:latin typeface="Georgia" pitchFamily="34" charset="0"/>
                <a:ea typeface="Georgia" pitchFamily="34" charset="-122"/>
                <a:cs typeface="Georgia" pitchFamily="34" charset="-120"/>
              </a:rPr>
              <a:t>"Let a user upload a spreadsheet and see a dashboard."</a:t>
            </a:r>
            <a:endParaRPr lang="en-US" sz="4800" dirty="0"/>
          </a:p>
        </p:txBody>
      </p:sp>
      <p:sp>
        <p:nvSpPr>
          <p:cNvPr id="5" name="Shape 3"/>
          <p:cNvSpPr/>
          <p:nvPr/>
        </p:nvSpPr>
        <p:spPr>
          <a:xfrm>
            <a:off x="5267325" y="4646340"/>
            <a:ext cx="2095500" cy="2381250"/>
          </a:xfrm>
          <a:prstGeom prst="roundRect">
            <a:avLst>
              <a:gd name="adj" fmla="val 6364"/>
            </a:avLst>
          </a:prstGeom>
          <a:solidFill>
            <a:srgbClr val="12283B"/>
          </a:solidFill>
          <a:ln w="9525">
            <a:solidFill>
              <a:srgbClr val="FFFFFF">
                <a:alpha val="14000"/>
              </a:srgbClr>
            </a:solidFill>
            <a:prstDash val="solid"/>
          </a:ln>
        </p:spPr>
      </p:sp>
      <p:sp>
        <p:nvSpPr>
          <p:cNvPr id="6" name="Shape 4"/>
          <p:cNvSpPr/>
          <p:nvPr/>
        </p:nvSpPr>
        <p:spPr>
          <a:xfrm>
            <a:off x="5486400" y="4865415"/>
            <a:ext cx="514350" cy="493663"/>
          </a:xfrm>
          <a:prstGeom prst="roundRect">
            <a:avLst>
              <a:gd name="adj" fmla="val 5788"/>
            </a:avLst>
          </a:prstGeom>
          <a:solidFill>
            <a:srgbClr val="1D3448"/>
          </a:solidFill>
          <a:ln/>
        </p:spPr>
      </p:sp>
      <p:sp>
        <p:nvSpPr>
          <p:cNvPr id="7" name="Shape 5"/>
          <p:cNvSpPr/>
          <p:nvPr/>
        </p:nvSpPr>
        <p:spPr>
          <a:xfrm>
            <a:off x="6057900" y="4865415"/>
            <a:ext cx="514350" cy="493663"/>
          </a:xfrm>
          <a:prstGeom prst="roundRect">
            <a:avLst>
              <a:gd name="adj" fmla="val 5788"/>
            </a:avLst>
          </a:prstGeom>
          <a:solidFill>
            <a:srgbClr val="1D3448"/>
          </a:solidFill>
          <a:ln/>
        </p:spPr>
      </p:sp>
      <p:sp>
        <p:nvSpPr>
          <p:cNvPr id="8" name="Shape 6"/>
          <p:cNvSpPr/>
          <p:nvPr/>
        </p:nvSpPr>
        <p:spPr>
          <a:xfrm>
            <a:off x="6629400" y="4865415"/>
            <a:ext cx="514350" cy="493663"/>
          </a:xfrm>
          <a:prstGeom prst="roundRect">
            <a:avLst>
              <a:gd name="adj" fmla="val 5788"/>
            </a:avLst>
          </a:prstGeom>
          <a:solidFill>
            <a:srgbClr val="1D3448"/>
          </a:solidFill>
          <a:ln/>
        </p:spPr>
      </p:sp>
      <p:sp>
        <p:nvSpPr>
          <p:cNvPr id="9" name="Shape 7"/>
          <p:cNvSpPr/>
          <p:nvPr/>
        </p:nvSpPr>
        <p:spPr>
          <a:xfrm>
            <a:off x="5486400" y="5416228"/>
            <a:ext cx="514350" cy="493737"/>
          </a:xfrm>
          <a:prstGeom prst="roundRect">
            <a:avLst>
              <a:gd name="adj" fmla="val 5787"/>
            </a:avLst>
          </a:prstGeom>
          <a:solidFill>
            <a:srgbClr val="1D3448"/>
          </a:solidFill>
          <a:ln/>
        </p:spPr>
      </p:sp>
      <p:sp>
        <p:nvSpPr>
          <p:cNvPr id="10" name="Shape 8"/>
          <p:cNvSpPr/>
          <p:nvPr/>
        </p:nvSpPr>
        <p:spPr>
          <a:xfrm>
            <a:off x="6057900" y="5416228"/>
            <a:ext cx="514350" cy="493737"/>
          </a:xfrm>
          <a:prstGeom prst="roundRect">
            <a:avLst>
              <a:gd name="adj" fmla="val 5787"/>
            </a:avLst>
          </a:prstGeom>
          <a:solidFill>
            <a:srgbClr val="1D3448"/>
          </a:solidFill>
          <a:ln/>
        </p:spPr>
      </p:sp>
      <p:sp>
        <p:nvSpPr>
          <p:cNvPr id="11" name="Shape 9"/>
          <p:cNvSpPr/>
          <p:nvPr/>
        </p:nvSpPr>
        <p:spPr>
          <a:xfrm>
            <a:off x="6629400" y="5416228"/>
            <a:ext cx="514350" cy="493737"/>
          </a:xfrm>
          <a:prstGeom prst="roundRect">
            <a:avLst>
              <a:gd name="adj" fmla="val 5787"/>
            </a:avLst>
          </a:prstGeom>
          <a:solidFill>
            <a:srgbClr val="1D3448"/>
          </a:solidFill>
          <a:ln/>
        </p:spPr>
      </p:sp>
      <p:sp>
        <p:nvSpPr>
          <p:cNvPr id="12" name="Shape 10"/>
          <p:cNvSpPr/>
          <p:nvPr/>
        </p:nvSpPr>
        <p:spPr>
          <a:xfrm>
            <a:off x="5486400" y="5967115"/>
            <a:ext cx="514350" cy="493737"/>
          </a:xfrm>
          <a:prstGeom prst="roundRect">
            <a:avLst>
              <a:gd name="adj" fmla="val 5787"/>
            </a:avLst>
          </a:prstGeom>
          <a:solidFill>
            <a:srgbClr val="1D3448"/>
          </a:solidFill>
          <a:ln/>
        </p:spPr>
      </p:sp>
      <p:sp>
        <p:nvSpPr>
          <p:cNvPr id="13" name="Shape 11"/>
          <p:cNvSpPr/>
          <p:nvPr/>
        </p:nvSpPr>
        <p:spPr>
          <a:xfrm>
            <a:off x="6057900" y="5967115"/>
            <a:ext cx="514350" cy="493737"/>
          </a:xfrm>
          <a:prstGeom prst="roundRect">
            <a:avLst>
              <a:gd name="adj" fmla="val 5787"/>
            </a:avLst>
          </a:prstGeom>
          <a:solidFill>
            <a:srgbClr val="1D3448"/>
          </a:solidFill>
          <a:ln/>
        </p:spPr>
      </p:sp>
      <p:sp>
        <p:nvSpPr>
          <p:cNvPr id="14" name="Shape 12"/>
          <p:cNvSpPr/>
          <p:nvPr/>
        </p:nvSpPr>
        <p:spPr>
          <a:xfrm>
            <a:off x="6629400" y="5967115"/>
            <a:ext cx="514350" cy="493737"/>
          </a:xfrm>
          <a:prstGeom prst="roundRect">
            <a:avLst>
              <a:gd name="adj" fmla="val 5787"/>
            </a:avLst>
          </a:prstGeom>
          <a:solidFill>
            <a:srgbClr val="1D3448"/>
          </a:solidFill>
          <a:ln/>
        </p:spPr>
      </p:sp>
      <p:sp>
        <p:nvSpPr>
          <p:cNvPr id="15" name="Text 13"/>
          <p:cNvSpPr/>
          <p:nvPr/>
        </p:nvSpPr>
        <p:spPr>
          <a:xfrm>
            <a:off x="5403533" y="6537052"/>
            <a:ext cx="1823085" cy="309563"/>
          </a:xfrm>
          <a:prstGeom prst="rect">
            <a:avLst/>
          </a:prstGeom>
          <a:noFill/>
          <a:ln/>
        </p:spPr>
        <p:txBody>
          <a:bodyPr wrap="square" lIns="25400" tIns="25400" rIns="25400" bIns="25400" rtlCol="0" anchor="t">
            <a:normAutofit/>
          </a:bodyPr>
          <a:lstStyle/>
          <a:p>
            <a:pPr algn="ctr" indent="0" marL="0">
              <a:buNone/>
            </a:pPr>
            <a:r>
              <a:rPr lang="en-US" sz="1950" dirty="0">
                <a:solidFill>
                  <a:srgbClr val="AEC3D1"/>
                </a:solidFill>
                <a:latin typeface="Arial" pitchFamily="34" charset="0"/>
                <a:ea typeface="Arial" pitchFamily="34" charset="-122"/>
                <a:cs typeface="Arial" pitchFamily="34" charset="-120"/>
              </a:rPr>
              <a:t>Spreadsheet</a:t>
            </a:r>
            <a:endParaRPr lang="en-US" sz="1950" dirty="0"/>
          </a:p>
        </p:txBody>
      </p:sp>
      <p:sp>
        <p:nvSpPr>
          <p:cNvPr id="16" name="Shape 14"/>
          <p:cNvSpPr/>
          <p:nvPr/>
        </p:nvSpPr>
        <p:spPr>
          <a:xfrm>
            <a:off x="8048625" y="5827440"/>
            <a:ext cx="1047750" cy="19050"/>
          </a:xfrm>
          <a:prstGeom prst="rect">
            <a:avLst/>
          </a:prstGeom>
          <a:solidFill>
            <a:srgbClr val="6F8B9D"/>
          </a:solidFill>
          <a:ln/>
        </p:spPr>
      </p:sp>
      <p:sp>
        <p:nvSpPr>
          <p:cNvPr id="17" name="Shape 15"/>
          <p:cNvSpPr/>
          <p:nvPr/>
        </p:nvSpPr>
        <p:spPr>
          <a:xfrm rot="2700000">
            <a:off x="8997857" y="5764033"/>
            <a:ext cx="171450" cy="19050"/>
          </a:xfrm>
          <a:prstGeom prst="rect">
            <a:avLst/>
          </a:prstGeom>
          <a:solidFill>
            <a:srgbClr val="6F8B9D"/>
          </a:solidFill>
          <a:ln/>
        </p:spPr>
      </p:sp>
      <p:sp>
        <p:nvSpPr>
          <p:cNvPr id="18" name="Shape 16"/>
          <p:cNvSpPr/>
          <p:nvPr/>
        </p:nvSpPr>
        <p:spPr>
          <a:xfrm rot="2700000">
            <a:off x="9074057" y="5795596"/>
            <a:ext cx="19050" cy="171450"/>
          </a:xfrm>
          <a:prstGeom prst="rect">
            <a:avLst/>
          </a:prstGeom>
          <a:solidFill>
            <a:srgbClr val="6F8B9D"/>
          </a:solidFill>
          <a:ln/>
        </p:spPr>
      </p:sp>
      <p:sp>
        <p:nvSpPr>
          <p:cNvPr id="19" name="Shape 17"/>
          <p:cNvSpPr/>
          <p:nvPr/>
        </p:nvSpPr>
        <p:spPr>
          <a:xfrm>
            <a:off x="9782175" y="4646340"/>
            <a:ext cx="3238500" cy="2381250"/>
          </a:xfrm>
          <a:prstGeom prst="roundRect">
            <a:avLst>
              <a:gd name="adj" fmla="val 5600"/>
            </a:avLst>
          </a:prstGeom>
          <a:solidFill>
            <a:srgbClr val="12283B"/>
          </a:solidFill>
          <a:ln w="9525">
            <a:solidFill>
              <a:srgbClr val="FFFFFF">
                <a:alpha val="14000"/>
              </a:srgbClr>
            </a:solidFill>
            <a:prstDash val="solid"/>
          </a:ln>
        </p:spPr>
      </p:sp>
      <p:sp>
        <p:nvSpPr>
          <p:cNvPr id="20" name="Shape 18"/>
          <p:cNvSpPr/>
          <p:nvPr/>
        </p:nvSpPr>
        <p:spPr>
          <a:xfrm>
            <a:off x="10020300" y="5625033"/>
            <a:ext cx="361950" cy="740569"/>
          </a:xfrm>
          <a:prstGeom prst="roundRect">
            <a:avLst>
              <a:gd name="adj" fmla="val 10526"/>
            </a:avLst>
          </a:prstGeom>
          <a:solidFill>
            <a:srgbClr val="5CC6E8"/>
          </a:solidFill>
          <a:ln/>
        </p:spPr>
      </p:sp>
      <p:sp>
        <p:nvSpPr>
          <p:cNvPr id="21" name="Shape 19"/>
          <p:cNvSpPr/>
          <p:nvPr/>
        </p:nvSpPr>
        <p:spPr>
          <a:xfrm>
            <a:off x="10515600" y="5210324"/>
            <a:ext cx="361950" cy="1155278"/>
          </a:xfrm>
          <a:prstGeom prst="roundRect">
            <a:avLst>
              <a:gd name="adj" fmla="val 10526"/>
            </a:avLst>
          </a:prstGeom>
          <a:solidFill>
            <a:srgbClr val="5CC6E8"/>
          </a:solidFill>
          <a:ln/>
        </p:spPr>
      </p:sp>
      <p:sp>
        <p:nvSpPr>
          <p:cNvPr id="22" name="Shape 20"/>
          <p:cNvSpPr/>
          <p:nvPr/>
        </p:nvSpPr>
        <p:spPr>
          <a:xfrm>
            <a:off x="11010900" y="5773192"/>
            <a:ext cx="361950" cy="592410"/>
          </a:xfrm>
          <a:prstGeom prst="roundRect">
            <a:avLst>
              <a:gd name="adj" fmla="val 10526"/>
            </a:avLst>
          </a:prstGeom>
          <a:solidFill>
            <a:srgbClr val="5CC6E8"/>
          </a:solidFill>
          <a:ln/>
        </p:spPr>
      </p:sp>
      <p:sp>
        <p:nvSpPr>
          <p:cNvPr id="23" name="Shape 21"/>
          <p:cNvSpPr/>
          <p:nvPr/>
        </p:nvSpPr>
        <p:spPr>
          <a:xfrm>
            <a:off x="11506200" y="5417716"/>
            <a:ext cx="361950" cy="947886"/>
          </a:xfrm>
          <a:prstGeom prst="roundRect">
            <a:avLst>
              <a:gd name="adj" fmla="val 10526"/>
            </a:avLst>
          </a:prstGeom>
          <a:solidFill>
            <a:srgbClr val="5CC6E8"/>
          </a:solidFill>
          <a:ln/>
        </p:spPr>
      </p:sp>
      <p:sp>
        <p:nvSpPr>
          <p:cNvPr id="24" name="Shape 22"/>
          <p:cNvSpPr/>
          <p:nvPr/>
        </p:nvSpPr>
        <p:spPr>
          <a:xfrm>
            <a:off x="12001500" y="5106665"/>
            <a:ext cx="781050" cy="28575"/>
          </a:xfrm>
          <a:prstGeom prst="rect">
            <a:avLst/>
          </a:prstGeom>
          <a:solidFill>
            <a:srgbClr val="7BD6A6"/>
          </a:solidFill>
          <a:ln/>
        </p:spPr>
      </p:sp>
      <p:sp>
        <p:nvSpPr>
          <p:cNvPr id="25" name="Text 23"/>
          <p:cNvSpPr/>
          <p:nvPr/>
        </p:nvSpPr>
        <p:spPr>
          <a:xfrm>
            <a:off x="9882188" y="6518002"/>
            <a:ext cx="3038475" cy="309563"/>
          </a:xfrm>
          <a:prstGeom prst="rect">
            <a:avLst/>
          </a:prstGeom>
          <a:noFill/>
          <a:ln/>
        </p:spPr>
        <p:txBody>
          <a:bodyPr wrap="square" lIns="25400" tIns="25400" rIns="25400" bIns="25400" rtlCol="0" anchor="t">
            <a:normAutofit/>
          </a:bodyPr>
          <a:lstStyle/>
          <a:p>
            <a:pPr algn="ctr" indent="0" marL="0">
              <a:buNone/>
            </a:pPr>
            <a:r>
              <a:rPr lang="en-US" sz="1950" dirty="0">
                <a:solidFill>
                  <a:srgbClr val="AEC3D1"/>
                </a:solidFill>
                <a:latin typeface="Arial" pitchFamily="34" charset="0"/>
                <a:ea typeface="Arial" pitchFamily="34" charset="-122"/>
                <a:cs typeface="Arial" pitchFamily="34" charset="-120"/>
              </a:rPr>
              <a:t>Dashboard</a:t>
            </a:r>
            <a:endParaRPr lang="en-US" sz="1950" dirty="0"/>
          </a:p>
        </p:txBody>
      </p:sp>
      <p:sp>
        <p:nvSpPr>
          <p:cNvPr id="26" name="Text 24"/>
          <p:cNvSpPr/>
          <p:nvPr/>
        </p:nvSpPr>
        <p:spPr>
          <a:xfrm>
            <a:off x="6994029" y="9015413"/>
            <a:ext cx="4729855" cy="471488"/>
          </a:xfrm>
          <a:prstGeom prst="rect">
            <a:avLst/>
          </a:prstGeom>
          <a:noFill/>
          <a:ln/>
        </p:spPr>
        <p:txBody>
          <a:bodyPr wrap="square" lIns="25400" tIns="25400" rIns="25400" bIns="25400" rtlCol="0" anchor="t">
            <a:normAutofit/>
          </a:bodyPr>
          <a:lstStyle/>
          <a:p>
            <a:pPr algn="l" indent="0" marL="0">
              <a:buNone/>
            </a:pPr>
            <a:r>
              <a:rPr lang="en-US" sz="3000" i="1" dirty="0">
                <a:solidFill>
                  <a:srgbClr val="AEC3D1"/>
                </a:solidFill>
                <a:latin typeface="Georgia" pitchFamily="34" charset="0"/>
                <a:ea typeface="Georgia" pitchFamily="34" charset="-122"/>
                <a:cs typeface="Georgia" pitchFamily="34" charset="-120"/>
              </a:rPr>
              <a:t>Sounds like an afternoon.</a:t>
            </a:r>
            <a:endParaRPr lang="en-US" sz="3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73247">
                  <a:alpha val="100000"/>
                </a:srgbClr>
              </a:gs>
              <a:gs pos="52000">
                <a:srgbClr val="0B1A29">
                  <a:alpha val="100000"/>
                </a:srgbClr>
              </a:gs>
              <a:gs pos="100000">
                <a:srgbClr val="06121D">
                  <a:alpha val="100000"/>
                </a:srgbClr>
              </a:gs>
            </a:gsLst>
            <a:path path="circle">
              <a:fillToRect l="78000" t="0" r="22000" b="100000"/>
            </a:path>
          </a:gradFill>
          <a:ln/>
        </p:spPr>
      </p:sp>
      <p:sp>
        <p:nvSpPr>
          <p:cNvPr id="3" name="Text 1"/>
          <p:cNvSpPr/>
          <p:nvPr/>
        </p:nvSpPr>
        <p:spPr>
          <a:xfrm>
            <a:off x="1143000" y="914400"/>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5CC6E8"/>
                </a:solidFill>
                <a:latin typeface="Arial" pitchFamily="34" charset="0"/>
                <a:ea typeface="Arial" pitchFamily="34" charset="-122"/>
                <a:cs typeface="Arial" pitchFamily="34" charset="-120"/>
              </a:rPr>
              <a:t>REASON ONE · DATA</a:t>
            </a:r>
            <a:endParaRPr lang="en-US" sz="1800" dirty="0"/>
          </a:p>
        </p:txBody>
      </p:sp>
      <p:sp>
        <p:nvSpPr>
          <p:cNvPr id="4" name="Text 2"/>
          <p:cNvSpPr/>
          <p:nvPr/>
        </p:nvSpPr>
        <p:spPr>
          <a:xfrm>
            <a:off x="1143000" y="1390650"/>
            <a:ext cx="1760220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spc="-72" kern="0" dirty="0">
                <a:solidFill>
                  <a:srgbClr val="EEF4F8"/>
                </a:solidFill>
                <a:latin typeface="Georgia" pitchFamily="34" charset="0"/>
                <a:ea typeface="Georgia" pitchFamily="34" charset="-122"/>
                <a:cs typeface="Georgia" pitchFamily="34" charset="-120"/>
              </a:rPr>
              <a:t>Data is never as clean as people picture it.</a:t>
            </a:r>
            <a:endParaRPr lang="en-US" sz="4800" dirty="0"/>
          </a:p>
        </p:txBody>
      </p:sp>
      <p:sp>
        <p:nvSpPr>
          <p:cNvPr id="5" name="Shape 3"/>
          <p:cNvSpPr/>
          <p:nvPr/>
        </p:nvSpPr>
        <p:spPr>
          <a:xfrm rot="-120000">
            <a:off x="5043301" y="4003179"/>
            <a:ext cx="1943100" cy="571500"/>
          </a:xfrm>
          <a:prstGeom prst="roundRect">
            <a:avLst>
              <a:gd name="adj" fmla="val 16667"/>
            </a:avLst>
          </a:prstGeom>
          <a:solidFill>
            <a:srgbClr val="12283B"/>
          </a:solidFill>
          <a:ln w="9525">
            <a:solidFill>
              <a:srgbClr val="FFFFFF">
                <a:alpha val="14000"/>
              </a:srgbClr>
            </a:solidFill>
            <a:prstDash val="solid"/>
          </a:ln>
        </p:spPr>
      </p:sp>
      <p:sp>
        <p:nvSpPr>
          <p:cNvPr id="6" name="Text 4"/>
          <p:cNvSpPr/>
          <p:nvPr/>
        </p:nvSpPr>
        <p:spPr>
          <a:xfrm rot="-120000">
            <a:off x="5300476" y="4165104"/>
            <a:ext cx="1504950"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Spreadsheet</a:t>
            </a:r>
            <a:endParaRPr lang="en-US" sz="1950" dirty="0"/>
          </a:p>
        </p:txBody>
      </p:sp>
      <p:sp>
        <p:nvSpPr>
          <p:cNvPr id="7" name="Shape 5"/>
          <p:cNvSpPr/>
          <p:nvPr/>
        </p:nvSpPr>
        <p:spPr>
          <a:xfrm rot="90000">
            <a:off x="5043302" y="4727079"/>
            <a:ext cx="1943099" cy="571500"/>
          </a:xfrm>
          <a:prstGeom prst="roundRect">
            <a:avLst>
              <a:gd name="adj" fmla="val 16667"/>
            </a:avLst>
          </a:prstGeom>
          <a:solidFill>
            <a:srgbClr val="12283B"/>
          </a:solidFill>
          <a:ln w="9525">
            <a:solidFill>
              <a:srgbClr val="FFFFFF">
                <a:alpha val="14000"/>
              </a:srgbClr>
            </a:solidFill>
            <a:prstDash val="solid"/>
          </a:ln>
        </p:spPr>
      </p:sp>
      <p:sp>
        <p:nvSpPr>
          <p:cNvPr id="8" name="Text 6"/>
          <p:cNvSpPr/>
          <p:nvPr/>
        </p:nvSpPr>
        <p:spPr>
          <a:xfrm rot="90000">
            <a:off x="5300477" y="4889004"/>
            <a:ext cx="1504950"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CSV export</a:t>
            </a:r>
            <a:endParaRPr lang="en-US" sz="1950" dirty="0"/>
          </a:p>
        </p:txBody>
      </p:sp>
      <p:sp>
        <p:nvSpPr>
          <p:cNvPr id="9" name="Shape 7"/>
          <p:cNvSpPr/>
          <p:nvPr/>
        </p:nvSpPr>
        <p:spPr>
          <a:xfrm rot="-60000">
            <a:off x="5043301" y="5450979"/>
            <a:ext cx="1943101" cy="571500"/>
          </a:xfrm>
          <a:prstGeom prst="roundRect">
            <a:avLst>
              <a:gd name="adj" fmla="val 16667"/>
            </a:avLst>
          </a:prstGeom>
          <a:solidFill>
            <a:srgbClr val="12283B"/>
          </a:solidFill>
          <a:ln w="9525">
            <a:solidFill>
              <a:srgbClr val="FFFFFF">
                <a:alpha val="14000"/>
              </a:srgbClr>
            </a:solidFill>
            <a:prstDash val="solid"/>
          </a:ln>
        </p:spPr>
      </p:sp>
      <p:sp>
        <p:nvSpPr>
          <p:cNvPr id="10" name="Text 8"/>
          <p:cNvSpPr/>
          <p:nvPr/>
        </p:nvSpPr>
        <p:spPr>
          <a:xfrm rot="-60000">
            <a:off x="5300477" y="5612904"/>
            <a:ext cx="1504950"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A web form</a:t>
            </a:r>
            <a:endParaRPr lang="en-US" sz="1950" dirty="0"/>
          </a:p>
        </p:txBody>
      </p:sp>
      <p:sp>
        <p:nvSpPr>
          <p:cNvPr id="11" name="Shape 9"/>
          <p:cNvSpPr/>
          <p:nvPr/>
        </p:nvSpPr>
        <p:spPr>
          <a:xfrm rot="120000">
            <a:off x="5043301" y="6174879"/>
            <a:ext cx="1943100" cy="571500"/>
          </a:xfrm>
          <a:prstGeom prst="roundRect">
            <a:avLst>
              <a:gd name="adj" fmla="val 16667"/>
            </a:avLst>
          </a:prstGeom>
          <a:solidFill>
            <a:srgbClr val="12283B"/>
          </a:solidFill>
          <a:ln w="9525">
            <a:solidFill>
              <a:srgbClr val="FFFFFF">
                <a:alpha val="14000"/>
              </a:srgbClr>
            </a:solidFill>
            <a:prstDash val="solid"/>
          </a:ln>
        </p:spPr>
      </p:sp>
      <p:sp>
        <p:nvSpPr>
          <p:cNvPr id="12" name="Text 10"/>
          <p:cNvSpPr/>
          <p:nvPr/>
        </p:nvSpPr>
        <p:spPr>
          <a:xfrm rot="120000">
            <a:off x="5300476" y="6336804"/>
            <a:ext cx="1504950"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A database</a:t>
            </a:r>
            <a:endParaRPr lang="en-US" sz="1950" dirty="0"/>
          </a:p>
        </p:txBody>
      </p:sp>
      <p:sp>
        <p:nvSpPr>
          <p:cNvPr id="13" name="Shape 11"/>
          <p:cNvSpPr/>
          <p:nvPr/>
        </p:nvSpPr>
        <p:spPr>
          <a:xfrm rot="-90000">
            <a:off x="5043302" y="6898779"/>
            <a:ext cx="1943099" cy="571500"/>
          </a:xfrm>
          <a:prstGeom prst="roundRect">
            <a:avLst>
              <a:gd name="adj" fmla="val 16667"/>
            </a:avLst>
          </a:prstGeom>
          <a:solidFill>
            <a:srgbClr val="12283B"/>
          </a:solidFill>
          <a:ln w="9525">
            <a:solidFill>
              <a:srgbClr val="FFFFFF">
                <a:alpha val="14000"/>
              </a:srgbClr>
            </a:solidFill>
            <a:prstDash val="solid"/>
          </a:ln>
        </p:spPr>
      </p:sp>
      <p:sp>
        <p:nvSpPr>
          <p:cNvPr id="14" name="Text 12"/>
          <p:cNvSpPr/>
          <p:nvPr/>
        </p:nvSpPr>
        <p:spPr>
          <a:xfrm rot="-90000">
            <a:off x="5300477" y="7060704"/>
            <a:ext cx="1504950"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A PDF</a:t>
            </a:r>
            <a:endParaRPr lang="en-US" sz="1950" dirty="0"/>
          </a:p>
        </p:txBody>
      </p:sp>
      <p:sp>
        <p:nvSpPr>
          <p:cNvPr id="15" name="Shape 13"/>
          <p:cNvSpPr/>
          <p:nvPr/>
        </p:nvSpPr>
        <p:spPr>
          <a:xfrm>
            <a:off x="7558906" y="5022354"/>
            <a:ext cx="2286000" cy="1428750"/>
          </a:xfrm>
          <a:prstGeom prst="rect">
            <a:avLst/>
          </a:prstGeom>
          <a:solidFill>
            <a:srgbClr val="1D3F57">
              <a:alpha val="90000"/>
            </a:srgbClr>
          </a:solidFill>
          <a:ln/>
        </p:spPr>
      </p:sp>
      <p:sp>
        <p:nvSpPr>
          <p:cNvPr id="16" name="Shape 14"/>
          <p:cNvSpPr/>
          <p:nvPr/>
        </p:nvSpPr>
        <p:spPr>
          <a:xfrm>
            <a:off x="10416406" y="4629448"/>
            <a:ext cx="2829297" cy="2214563"/>
          </a:xfrm>
          <a:prstGeom prst="roundRect">
            <a:avLst>
              <a:gd name="adj" fmla="val 6022"/>
            </a:avLst>
          </a:prstGeom>
          <a:solidFill>
            <a:srgbClr val="12283B"/>
          </a:solidFill>
          <a:ln w="9525">
            <a:solidFill>
              <a:srgbClr val="7BD6A6">
                <a:alpha val="50000"/>
              </a:srgbClr>
            </a:solidFill>
            <a:prstDash val="solid"/>
          </a:ln>
          <a:effectLst>
            <a:outerShdw sx="100000" sy="100000" kx="0" ky="0" algn="bl" rotWithShape="0" blurRad="101600" dist="50800" dir="16200000">
              <a:srgbClr val="7BD6A6">
                <a:alpha val="10000"/>
              </a:srgbClr>
            </a:outerShdw>
          </a:effectLst>
        </p:spPr>
      </p:sp>
      <p:sp>
        <p:nvSpPr>
          <p:cNvPr id="17" name="Shape 15"/>
          <p:cNvSpPr/>
          <p:nvPr/>
        </p:nvSpPr>
        <p:spPr>
          <a:xfrm>
            <a:off x="10425931" y="4638973"/>
            <a:ext cx="1218605" cy="552450"/>
          </a:xfrm>
          <a:prstGeom prst="rect">
            <a:avLst/>
          </a:prstGeom>
          <a:solidFill>
            <a:srgbClr val="7BD6A6"/>
          </a:solidFill>
          <a:ln/>
        </p:spPr>
      </p:sp>
      <p:sp>
        <p:nvSpPr>
          <p:cNvPr id="18" name="Text 16"/>
          <p:cNvSpPr/>
          <p:nvPr/>
        </p:nvSpPr>
        <p:spPr>
          <a:xfrm>
            <a:off x="10711681" y="4791373"/>
            <a:ext cx="723305"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06121D"/>
                </a:solidFill>
                <a:latin typeface="Arial" pitchFamily="34" charset="0"/>
                <a:ea typeface="Arial" pitchFamily="34" charset="-122"/>
                <a:cs typeface="Arial" pitchFamily="34" charset="-120"/>
              </a:rPr>
              <a:t>Clean</a:t>
            </a:r>
            <a:endParaRPr lang="en-US" sz="1950" dirty="0"/>
          </a:p>
        </p:txBody>
      </p:sp>
      <p:sp>
        <p:nvSpPr>
          <p:cNvPr id="19" name="Shape 17"/>
          <p:cNvSpPr/>
          <p:nvPr/>
        </p:nvSpPr>
        <p:spPr>
          <a:xfrm>
            <a:off x="11644536" y="4638973"/>
            <a:ext cx="1108546" cy="552450"/>
          </a:xfrm>
          <a:prstGeom prst="rect">
            <a:avLst/>
          </a:prstGeom>
          <a:solidFill>
            <a:srgbClr val="7BD6A6"/>
          </a:solidFill>
          <a:ln/>
        </p:spPr>
      </p:sp>
      <p:sp>
        <p:nvSpPr>
          <p:cNvPr id="20" name="Text 18"/>
          <p:cNvSpPr/>
          <p:nvPr/>
        </p:nvSpPr>
        <p:spPr>
          <a:xfrm>
            <a:off x="11930286" y="4791373"/>
            <a:ext cx="613246"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06121D"/>
                </a:solidFill>
                <a:latin typeface="Arial" pitchFamily="34" charset="0"/>
                <a:ea typeface="Arial" pitchFamily="34" charset="-122"/>
                <a:cs typeface="Arial" pitchFamily="34" charset="-120"/>
              </a:rPr>
              <a:t>table</a:t>
            </a:r>
            <a:endParaRPr lang="en-US" sz="1950" dirty="0"/>
          </a:p>
        </p:txBody>
      </p:sp>
      <p:sp>
        <p:nvSpPr>
          <p:cNvPr id="21" name="Shape 19"/>
          <p:cNvSpPr/>
          <p:nvPr/>
        </p:nvSpPr>
        <p:spPr>
          <a:xfrm>
            <a:off x="10425931" y="5191423"/>
            <a:ext cx="2810247" cy="9525"/>
          </a:xfrm>
          <a:prstGeom prst="rect">
            <a:avLst/>
          </a:prstGeom>
          <a:solidFill>
            <a:srgbClr val="FFFFFF">
              <a:alpha val="14000"/>
            </a:srgbClr>
          </a:solidFill>
          <a:ln/>
        </p:spPr>
      </p:sp>
      <p:sp>
        <p:nvSpPr>
          <p:cNvPr id="22" name="Text 20"/>
          <p:cNvSpPr/>
          <p:nvPr/>
        </p:nvSpPr>
        <p:spPr>
          <a:xfrm>
            <a:off x="10711681" y="5334298"/>
            <a:ext cx="2323054" cy="309563"/>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One agreed shape</a:t>
            </a:r>
            <a:endParaRPr lang="en-US" sz="1950" dirty="0"/>
          </a:p>
        </p:txBody>
      </p:sp>
      <p:sp>
        <p:nvSpPr>
          <p:cNvPr id="23" name="Shape 21"/>
          <p:cNvSpPr/>
          <p:nvPr/>
        </p:nvSpPr>
        <p:spPr>
          <a:xfrm>
            <a:off x="10425931" y="5739110"/>
            <a:ext cx="2810247" cy="9525"/>
          </a:xfrm>
          <a:prstGeom prst="rect">
            <a:avLst/>
          </a:prstGeom>
          <a:solidFill>
            <a:srgbClr val="FFFFFF">
              <a:alpha val="14000"/>
            </a:srgbClr>
          </a:solidFill>
          <a:ln/>
        </p:spPr>
      </p:sp>
      <p:sp>
        <p:nvSpPr>
          <p:cNvPr id="24" name="Text 22"/>
          <p:cNvSpPr/>
          <p:nvPr/>
        </p:nvSpPr>
        <p:spPr>
          <a:xfrm>
            <a:off x="10711681" y="5881985"/>
            <a:ext cx="2323054" cy="309563"/>
          </a:xfrm>
          <a:prstGeom prst="rect">
            <a:avLst/>
          </a:prstGeom>
          <a:noFill/>
          <a:ln/>
        </p:spPr>
        <p:txBody>
          <a:bodyPr wrap="square" lIns="25400" tIns="25400" rIns="25400" bIns="25400" rtlCol="0" anchor="t">
            <a:normAutofit/>
          </a:bodyPr>
          <a:lstStyle/>
          <a:p>
            <a:pPr algn="l" indent="0" marL="0">
              <a:buNone/>
            </a:pPr>
            <a:r>
              <a:rPr lang="en-US" sz="1950" dirty="0">
                <a:solidFill>
                  <a:srgbClr val="AEC3D1"/>
                </a:solidFill>
                <a:latin typeface="Arial" pitchFamily="34" charset="0"/>
                <a:ea typeface="Arial" pitchFamily="34" charset="-122"/>
                <a:cs typeface="Arial" pitchFamily="34" charset="-120"/>
              </a:rPr>
              <a:t>Consistent, checked</a:t>
            </a:r>
            <a:endParaRPr lang="en-US" sz="1950" dirty="0"/>
          </a:p>
        </p:txBody>
      </p:sp>
      <p:sp>
        <p:nvSpPr>
          <p:cNvPr id="25" name="Shape 23"/>
          <p:cNvSpPr/>
          <p:nvPr/>
        </p:nvSpPr>
        <p:spPr>
          <a:xfrm>
            <a:off x="10425931" y="6286798"/>
            <a:ext cx="2810247" cy="9525"/>
          </a:xfrm>
          <a:prstGeom prst="rect">
            <a:avLst/>
          </a:prstGeom>
          <a:solidFill>
            <a:srgbClr val="FFFFFF">
              <a:alpha val="14000"/>
            </a:srgbClr>
          </a:solidFill>
          <a:ln/>
        </p:spPr>
      </p:sp>
      <p:sp>
        <p:nvSpPr>
          <p:cNvPr id="26" name="Text 24"/>
          <p:cNvSpPr/>
          <p:nvPr/>
        </p:nvSpPr>
        <p:spPr>
          <a:xfrm>
            <a:off x="10711681" y="6429673"/>
            <a:ext cx="2323054" cy="309563"/>
          </a:xfrm>
          <a:prstGeom prst="rect">
            <a:avLst/>
          </a:prstGeom>
          <a:noFill/>
          <a:ln/>
        </p:spPr>
        <p:txBody>
          <a:bodyPr wrap="square" lIns="25400" tIns="25400" rIns="25400" bIns="25400" rtlCol="0" anchor="t">
            <a:normAutofit/>
          </a:bodyPr>
          <a:lstStyle/>
          <a:p>
            <a:pPr algn="l" indent="0" marL="0">
              <a:buNone/>
            </a:pPr>
            <a:r>
              <a:rPr lang="en-US" sz="1950" dirty="0">
                <a:solidFill>
                  <a:srgbClr val="AEC3D1"/>
                </a:solidFill>
                <a:latin typeface="Arial" pitchFamily="34" charset="0"/>
                <a:ea typeface="Arial" pitchFamily="34" charset="-122"/>
                <a:cs typeface="Arial" pitchFamily="34" charset="-120"/>
              </a:rPr>
              <a:t>Trustworthy</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73247">
                  <a:alpha val="100000"/>
                </a:srgbClr>
              </a:gs>
              <a:gs pos="52000">
                <a:srgbClr val="0B1A29">
                  <a:alpha val="100000"/>
                </a:srgbClr>
              </a:gs>
              <a:gs pos="100000">
                <a:srgbClr val="06121D">
                  <a:alpha val="100000"/>
                </a:srgbClr>
              </a:gs>
            </a:gsLst>
            <a:path path="circle">
              <a:fillToRect l="78000" t="0" r="22000" b="100000"/>
            </a:path>
          </a:gradFill>
          <a:ln/>
        </p:spPr>
      </p:sp>
      <p:sp>
        <p:nvSpPr>
          <p:cNvPr id="3" name="Text 1"/>
          <p:cNvSpPr/>
          <p:nvPr/>
        </p:nvSpPr>
        <p:spPr>
          <a:xfrm>
            <a:off x="1143000" y="914400"/>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5CC6E8"/>
                </a:solidFill>
                <a:latin typeface="Arial" pitchFamily="34" charset="0"/>
                <a:ea typeface="Arial" pitchFamily="34" charset="-122"/>
                <a:cs typeface="Arial" pitchFamily="34" charset="-120"/>
              </a:rPr>
              <a:t>REASON ONE · DATA · THE EXAMPLE</a:t>
            </a:r>
            <a:endParaRPr lang="en-US" sz="1800" dirty="0"/>
          </a:p>
        </p:txBody>
      </p:sp>
      <p:sp>
        <p:nvSpPr>
          <p:cNvPr id="4" name="Text 2"/>
          <p:cNvSpPr/>
          <p:nvPr/>
        </p:nvSpPr>
        <p:spPr>
          <a:xfrm>
            <a:off x="1143000" y="1352550"/>
            <a:ext cx="1760220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spc="-72" kern="0" dirty="0">
                <a:solidFill>
                  <a:srgbClr val="EEF4F8"/>
                </a:solidFill>
                <a:latin typeface="Georgia" pitchFamily="34" charset="0"/>
                <a:ea typeface="Georgia" pitchFamily="34" charset="-122"/>
                <a:cs typeface="Georgia" pitchFamily="34" charset="-120"/>
              </a:rPr>
              <a:t>One upload. A dozen decisions.</a:t>
            </a:r>
            <a:endParaRPr lang="en-US" sz="4800" dirty="0"/>
          </a:p>
        </p:txBody>
      </p:sp>
      <p:sp>
        <p:nvSpPr>
          <p:cNvPr id="5" name="Shape 3"/>
          <p:cNvSpPr/>
          <p:nvPr/>
        </p:nvSpPr>
        <p:spPr>
          <a:xfrm>
            <a:off x="1143000" y="4043660"/>
            <a:ext cx="12954000" cy="3767138"/>
          </a:xfrm>
          <a:prstGeom prst="roundRect">
            <a:avLst>
              <a:gd name="adj" fmla="val 3034"/>
            </a:avLst>
          </a:prstGeom>
          <a:ln w="9525">
            <a:solidFill>
              <a:srgbClr val="FFFFFF">
                <a:alpha val="14000"/>
              </a:srgbClr>
            </a:solidFill>
            <a:prstDash val="solid"/>
          </a:ln>
        </p:spPr>
      </p:sp>
      <p:sp>
        <p:nvSpPr>
          <p:cNvPr id="6" name="Shape 4"/>
          <p:cNvSpPr/>
          <p:nvPr/>
        </p:nvSpPr>
        <p:spPr>
          <a:xfrm>
            <a:off x="1152525" y="4053185"/>
            <a:ext cx="3910533" cy="628650"/>
          </a:xfrm>
          <a:prstGeom prst="rect">
            <a:avLst/>
          </a:prstGeom>
          <a:solidFill>
            <a:srgbClr val="5CC6E8"/>
          </a:solidFill>
          <a:ln/>
        </p:spPr>
      </p:sp>
      <p:sp>
        <p:nvSpPr>
          <p:cNvPr id="7" name="Text 5"/>
          <p:cNvSpPr/>
          <p:nvPr/>
        </p:nvSpPr>
        <p:spPr>
          <a:xfrm>
            <a:off x="1381125" y="4224635"/>
            <a:ext cx="3570649"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06121D"/>
                </a:solidFill>
                <a:latin typeface="Arial" pitchFamily="34" charset="0"/>
                <a:ea typeface="Arial" pitchFamily="34" charset="-122"/>
                <a:cs typeface="Arial" pitchFamily="34" charset="-120"/>
              </a:rPr>
              <a:t>Customer</a:t>
            </a:r>
            <a:endParaRPr lang="en-US" sz="1950" dirty="0"/>
          </a:p>
        </p:txBody>
      </p:sp>
      <p:sp>
        <p:nvSpPr>
          <p:cNvPr id="8" name="Shape 6"/>
          <p:cNvSpPr/>
          <p:nvPr/>
        </p:nvSpPr>
        <p:spPr>
          <a:xfrm>
            <a:off x="5063058" y="4053185"/>
            <a:ext cx="3008114" cy="628650"/>
          </a:xfrm>
          <a:prstGeom prst="rect">
            <a:avLst/>
          </a:prstGeom>
          <a:solidFill>
            <a:srgbClr val="5CC6E8"/>
          </a:solidFill>
          <a:ln/>
        </p:spPr>
      </p:sp>
      <p:sp>
        <p:nvSpPr>
          <p:cNvPr id="9" name="Text 7"/>
          <p:cNvSpPr/>
          <p:nvPr/>
        </p:nvSpPr>
        <p:spPr>
          <a:xfrm>
            <a:off x="5291658" y="4224635"/>
            <a:ext cx="2641157"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06121D"/>
                </a:solidFill>
                <a:latin typeface="Arial" pitchFamily="34" charset="0"/>
                <a:ea typeface="Arial" pitchFamily="34" charset="-122"/>
                <a:cs typeface="Arial" pitchFamily="34" charset="-120"/>
              </a:rPr>
              <a:t>Signed up</a:t>
            </a:r>
            <a:endParaRPr lang="en-US" sz="1950" dirty="0"/>
          </a:p>
        </p:txBody>
      </p:sp>
      <p:sp>
        <p:nvSpPr>
          <p:cNvPr id="10" name="Shape 8"/>
          <p:cNvSpPr/>
          <p:nvPr/>
        </p:nvSpPr>
        <p:spPr>
          <a:xfrm>
            <a:off x="8071172" y="4053185"/>
            <a:ext cx="3008114" cy="628650"/>
          </a:xfrm>
          <a:prstGeom prst="rect">
            <a:avLst/>
          </a:prstGeom>
          <a:solidFill>
            <a:srgbClr val="5CC6E8"/>
          </a:solidFill>
          <a:ln/>
        </p:spPr>
      </p:sp>
      <p:sp>
        <p:nvSpPr>
          <p:cNvPr id="11" name="Text 9"/>
          <p:cNvSpPr/>
          <p:nvPr/>
        </p:nvSpPr>
        <p:spPr>
          <a:xfrm>
            <a:off x="8299772" y="4224635"/>
            <a:ext cx="2641157"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06121D"/>
                </a:solidFill>
                <a:latin typeface="Arial" pitchFamily="34" charset="0"/>
                <a:ea typeface="Arial" pitchFamily="34" charset="-122"/>
                <a:cs typeface="Arial" pitchFamily="34" charset="-120"/>
              </a:rPr>
              <a:t>Orders</a:t>
            </a:r>
            <a:endParaRPr lang="en-US" sz="1950" dirty="0"/>
          </a:p>
        </p:txBody>
      </p:sp>
      <p:sp>
        <p:nvSpPr>
          <p:cNvPr id="12" name="Shape 10"/>
          <p:cNvSpPr/>
          <p:nvPr/>
        </p:nvSpPr>
        <p:spPr>
          <a:xfrm>
            <a:off x="11079287" y="4053185"/>
            <a:ext cx="3008114" cy="628650"/>
          </a:xfrm>
          <a:prstGeom prst="rect">
            <a:avLst/>
          </a:prstGeom>
          <a:solidFill>
            <a:srgbClr val="5CC6E8"/>
          </a:solidFill>
          <a:ln/>
        </p:spPr>
      </p:sp>
      <p:sp>
        <p:nvSpPr>
          <p:cNvPr id="13" name="Text 11"/>
          <p:cNvSpPr/>
          <p:nvPr/>
        </p:nvSpPr>
        <p:spPr>
          <a:xfrm>
            <a:off x="11307887" y="4224635"/>
            <a:ext cx="2641157"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06121D"/>
                </a:solidFill>
                <a:latin typeface="Arial" pitchFamily="34" charset="0"/>
                <a:ea typeface="Arial" pitchFamily="34" charset="-122"/>
                <a:cs typeface="Arial" pitchFamily="34" charset="-120"/>
              </a:rPr>
              <a:t>Region</a:t>
            </a:r>
            <a:endParaRPr lang="en-US" sz="1950" dirty="0"/>
          </a:p>
        </p:txBody>
      </p:sp>
      <p:sp>
        <p:nvSpPr>
          <p:cNvPr id="14" name="Shape 12"/>
          <p:cNvSpPr/>
          <p:nvPr/>
        </p:nvSpPr>
        <p:spPr>
          <a:xfrm>
            <a:off x="1152525" y="4681835"/>
            <a:ext cx="3910533" cy="614363"/>
          </a:xfrm>
          <a:prstGeom prst="rect">
            <a:avLst/>
          </a:prstGeom>
          <a:solidFill>
            <a:srgbClr val="0F2334"/>
          </a:solidFill>
          <a:ln/>
        </p:spPr>
      </p:sp>
      <p:sp>
        <p:nvSpPr>
          <p:cNvPr id="15" name="Text 13"/>
          <p:cNvSpPr/>
          <p:nvPr/>
        </p:nvSpPr>
        <p:spPr>
          <a:xfrm>
            <a:off x="1381125" y="4853285"/>
            <a:ext cx="3570649" cy="309563"/>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Acme Ltd.</a:t>
            </a:r>
            <a:endParaRPr lang="en-US" sz="1950" dirty="0"/>
          </a:p>
        </p:txBody>
      </p:sp>
      <p:sp>
        <p:nvSpPr>
          <p:cNvPr id="16" name="Shape 14"/>
          <p:cNvSpPr/>
          <p:nvPr/>
        </p:nvSpPr>
        <p:spPr>
          <a:xfrm>
            <a:off x="5063058" y="4681835"/>
            <a:ext cx="3008114" cy="614363"/>
          </a:xfrm>
          <a:prstGeom prst="rect">
            <a:avLst/>
          </a:prstGeom>
          <a:solidFill>
            <a:srgbClr val="0F2334"/>
          </a:solidFill>
          <a:ln/>
        </p:spPr>
      </p:sp>
      <p:sp>
        <p:nvSpPr>
          <p:cNvPr id="17" name="Text 15"/>
          <p:cNvSpPr/>
          <p:nvPr/>
        </p:nvSpPr>
        <p:spPr>
          <a:xfrm>
            <a:off x="5291658" y="4853285"/>
            <a:ext cx="2641157" cy="309563"/>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03/04/25</a:t>
            </a:r>
            <a:endParaRPr lang="en-US" sz="1950" dirty="0"/>
          </a:p>
        </p:txBody>
      </p:sp>
      <p:sp>
        <p:nvSpPr>
          <p:cNvPr id="18" name="Shape 16"/>
          <p:cNvSpPr/>
          <p:nvPr/>
        </p:nvSpPr>
        <p:spPr>
          <a:xfrm>
            <a:off x="8071172" y="4681835"/>
            <a:ext cx="3008114" cy="614363"/>
          </a:xfrm>
          <a:prstGeom prst="rect">
            <a:avLst/>
          </a:prstGeom>
          <a:solidFill>
            <a:srgbClr val="0F2334"/>
          </a:solidFill>
          <a:ln/>
        </p:spPr>
      </p:sp>
      <p:sp>
        <p:nvSpPr>
          <p:cNvPr id="19" name="Text 17"/>
          <p:cNvSpPr/>
          <p:nvPr/>
        </p:nvSpPr>
        <p:spPr>
          <a:xfrm>
            <a:off x="8299772" y="4853285"/>
            <a:ext cx="2641157" cy="309563"/>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12</a:t>
            </a:r>
            <a:endParaRPr lang="en-US" sz="1950" dirty="0"/>
          </a:p>
        </p:txBody>
      </p:sp>
      <p:sp>
        <p:nvSpPr>
          <p:cNvPr id="20" name="Shape 18"/>
          <p:cNvSpPr/>
          <p:nvPr/>
        </p:nvSpPr>
        <p:spPr>
          <a:xfrm>
            <a:off x="11079287" y="4681835"/>
            <a:ext cx="3008114" cy="614363"/>
          </a:xfrm>
          <a:prstGeom prst="rect">
            <a:avLst/>
          </a:prstGeom>
          <a:solidFill>
            <a:srgbClr val="0F2334"/>
          </a:solidFill>
          <a:ln/>
        </p:spPr>
      </p:sp>
      <p:sp>
        <p:nvSpPr>
          <p:cNvPr id="21" name="Text 19"/>
          <p:cNvSpPr/>
          <p:nvPr/>
        </p:nvSpPr>
        <p:spPr>
          <a:xfrm>
            <a:off x="11307887" y="4853285"/>
            <a:ext cx="2641157" cy="309563"/>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West</a:t>
            </a:r>
            <a:endParaRPr lang="en-US" sz="1950" dirty="0"/>
          </a:p>
        </p:txBody>
      </p:sp>
      <p:sp>
        <p:nvSpPr>
          <p:cNvPr id="22" name="Shape 20"/>
          <p:cNvSpPr/>
          <p:nvPr/>
        </p:nvSpPr>
        <p:spPr>
          <a:xfrm>
            <a:off x="1152525" y="5296198"/>
            <a:ext cx="3910533" cy="614363"/>
          </a:xfrm>
          <a:prstGeom prst="rect">
            <a:avLst/>
          </a:prstGeom>
          <a:solidFill>
            <a:srgbClr val="12283B"/>
          </a:solidFill>
          <a:ln/>
        </p:spPr>
      </p:sp>
      <p:sp>
        <p:nvSpPr>
          <p:cNvPr id="23" name="Text 21"/>
          <p:cNvSpPr/>
          <p:nvPr/>
        </p:nvSpPr>
        <p:spPr>
          <a:xfrm>
            <a:off x="1381125" y="5467648"/>
            <a:ext cx="3570649" cy="309563"/>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Beacon Co.</a:t>
            </a:r>
            <a:endParaRPr lang="en-US" sz="1950" dirty="0"/>
          </a:p>
        </p:txBody>
      </p:sp>
      <p:sp>
        <p:nvSpPr>
          <p:cNvPr id="24" name="Shape 22"/>
          <p:cNvSpPr/>
          <p:nvPr/>
        </p:nvSpPr>
        <p:spPr>
          <a:xfrm>
            <a:off x="5063058" y="5296198"/>
            <a:ext cx="3008114" cy="614363"/>
          </a:xfrm>
          <a:prstGeom prst="rect">
            <a:avLst/>
          </a:prstGeom>
          <a:solidFill>
            <a:srgbClr val="12283B"/>
          </a:solidFill>
          <a:ln/>
        </p:spPr>
      </p:sp>
      <p:sp>
        <p:nvSpPr>
          <p:cNvPr id="25" name="Text 23"/>
          <p:cNvSpPr/>
          <p:nvPr/>
        </p:nvSpPr>
        <p:spPr>
          <a:xfrm>
            <a:off x="5291658" y="5467648"/>
            <a:ext cx="2641157" cy="309563"/>
          </a:xfrm>
          <a:prstGeom prst="rect">
            <a:avLst/>
          </a:prstGeom>
          <a:noFill/>
          <a:ln/>
        </p:spPr>
        <p:txBody>
          <a:bodyPr wrap="square" lIns="25400" tIns="25400" rIns="25400" bIns="25400" rtlCol="0" anchor="t">
            <a:normAutofit/>
          </a:bodyPr>
          <a:lstStyle/>
          <a:p>
            <a:pPr algn="l" indent="0" marL="0">
              <a:buNone/>
            </a:pPr>
            <a:r>
              <a:rPr lang="en-US" sz="1950" dirty="0">
                <a:solidFill>
                  <a:srgbClr val="EB8153"/>
                </a:solidFill>
                <a:latin typeface="Arial" pitchFamily="34" charset="0"/>
                <a:ea typeface="Arial" pitchFamily="34" charset="-122"/>
                <a:cs typeface="Arial" pitchFamily="34" charset="-120"/>
              </a:rPr>
              <a:t>Mar 4, 2025</a:t>
            </a:r>
            <a:endParaRPr lang="en-US" sz="1950" dirty="0"/>
          </a:p>
        </p:txBody>
      </p:sp>
      <p:sp>
        <p:nvSpPr>
          <p:cNvPr id="26" name="Shape 24"/>
          <p:cNvSpPr/>
          <p:nvPr/>
        </p:nvSpPr>
        <p:spPr>
          <a:xfrm>
            <a:off x="8071172" y="5296198"/>
            <a:ext cx="3008114" cy="614363"/>
          </a:xfrm>
          <a:prstGeom prst="rect">
            <a:avLst/>
          </a:prstGeom>
          <a:solidFill>
            <a:srgbClr val="12283B"/>
          </a:solidFill>
          <a:ln/>
        </p:spPr>
      </p:sp>
      <p:sp>
        <p:nvSpPr>
          <p:cNvPr id="27" name="Text 25"/>
          <p:cNvSpPr/>
          <p:nvPr/>
        </p:nvSpPr>
        <p:spPr>
          <a:xfrm>
            <a:off x="8299772" y="5467648"/>
            <a:ext cx="2641157" cy="309563"/>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8</a:t>
            </a:r>
            <a:endParaRPr lang="en-US" sz="1950" dirty="0"/>
          </a:p>
        </p:txBody>
      </p:sp>
      <p:sp>
        <p:nvSpPr>
          <p:cNvPr id="28" name="Shape 26"/>
          <p:cNvSpPr/>
          <p:nvPr/>
        </p:nvSpPr>
        <p:spPr>
          <a:xfrm>
            <a:off x="11079287" y="5296198"/>
            <a:ext cx="3008114" cy="614363"/>
          </a:xfrm>
          <a:prstGeom prst="rect">
            <a:avLst/>
          </a:prstGeom>
          <a:solidFill>
            <a:srgbClr val="12283B"/>
          </a:solidFill>
          <a:ln/>
        </p:spPr>
      </p:sp>
      <p:sp>
        <p:nvSpPr>
          <p:cNvPr id="29" name="Text 27"/>
          <p:cNvSpPr/>
          <p:nvPr/>
        </p:nvSpPr>
        <p:spPr>
          <a:xfrm>
            <a:off x="11307887" y="5467648"/>
            <a:ext cx="2641157" cy="309563"/>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East</a:t>
            </a:r>
            <a:endParaRPr lang="en-US" sz="1950" dirty="0"/>
          </a:p>
        </p:txBody>
      </p:sp>
      <p:sp>
        <p:nvSpPr>
          <p:cNvPr id="30" name="Shape 28"/>
          <p:cNvSpPr/>
          <p:nvPr/>
        </p:nvSpPr>
        <p:spPr>
          <a:xfrm>
            <a:off x="1152525" y="5910560"/>
            <a:ext cx="3910533" cy="628650"/>
          </a:xfrm>
          <a:prstGeom prst="rect">
            <a:avLst/>
          </a:prstGeom>
          <a:solidFill>
            <a:srgbClr val="0F2334"/>
          </a:solidFill>
          <a:ln/>
        </p:spPr>
      </p:sp>
      <p:sp>
        <p:nvSpPr>
          <p:cNvPr id="31" name="Text 29"/>
          <p:cNvSpPr/>
          <p:nvPr/>
        </p:nvSpPr>
        <p:spPr>
          <a:xfrm>
            <a:off x="1381125" y="6082010"/>
            <a:ext cx="3570649" cy="323850"/>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Corfield</a:t>
            </a:r>
            <a:endParaRPr lang="en-US" sz="1950" dirty="0"/>
          </a:p>
        </p:txBody>
      </p:sp>
      <p:sp>
        <p:nvSpPr>
          <p:cNvPr id="32" name="Shape 30"/>
          <p:cNvSpPr/>
          <p:nvPr/>
        </p:nvSpPr>
        <p:spPr>
          <a:xfrm>
            <a:off x="5063058" y="5910560"/>
            <a:ext cx="3008114" cy="628650"/>
          </a:xfrm>
          <a:prstGeom prst="rect">
            <a:avLst/>
          </a:prstGeom>
          <a:solidFill>
            <a:srgbClr val="0F2334"/>
          </a:solidFill>
          <a:ln/>
        </p:spPr>
      </p:sp>
      <p:sp>
        <p:nvSpPr>
          <p:cNvPr id="33" name="Text 31"/>
          <p:cNvSpPr/>
          <p:nvPr/>
        </p:nvSpPr>
        <p:spPr>
          <a:xfrm>
            <a:off x="5291658" y="6082010"/>
            <a:ext cx="2641157" cy="323850"/>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2025-03-04</a:t>
            </a:r>
            <a:endParaRPr lang="en-US" sz="1950" dirty="0"/>
          </a:p>
        </p:txBody>
      </p:sp>
      <p:sp>
        <p:nvSpPr>
          <p:cNvPr id="34" name="Shape 32"/>
          <p:cNvSpPr/>
          <p:nvPr/>
        </p:nvSpPr>
        <p:spPr>
          <a:xfrm>
            <a:off x="8071172" y="5910560"/>
            <a:ext cx="3008114" cy="628650"/>
          </a:xfrm>
          <a:prstGeom prst="rect">
            <a:avLst/>
          </a:prstGeom>
          <a:solidFill>
            <a:srgbClr val="EB8153">
              <a:alpha val="18000"/>
            </a:srgbClr>
          </a:solidFill>
          <a:ln/>
        </p:spPr>
      </p:sp>
      <p:sp>
        <p:nvSpPr>
          <p:cNvPr id="35" name="Text 33"/>
          <p:cNvSpPr/>
          <p:nvPr/>
        </p:nvSpPr>
        <p:spPr>
          <a:xfrm>
            <a:off x="8299772" y="6082010"/>
            <a:ext cx="2641157"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EB8153"/>
                </a:solidFill>
                <a:latin typeface="Arial" pitchFamily="34" charset="0"/>
                <a:ea typeface="Arial" pitchFamily="34" charset="-122"/>
                <a:cs typeface="Arial" pitchFamily="34" charset="-120"/>
              </a:rPr>
              <a:t>N/A</a:t>
            </a:r>
            <a:endParaRPr lang="en-US" sz="1950" dirty="0"/>
          </a:p>
        </p:txBody>
      </p:sp>
      <p:sp>
        <p:nvSpPr>
          <p:cNvPr id="36" name="Shape 34"/>
          <p:cNvSpPr/>
          <p:nvPr/>
        </p:nvSpPr>
        <p:spPr>
          <a:xfrm>
            <a:off x="11079287" y="5910560"/>
            <a:ext cx="3008114" cy="628650"/>
          </a:xfrm>
          <a:prstGeom prst="rect">
            <a:avLst/>
          </a:prstGeom>
          <a:solidFill>
            <a:srgbClr val="0F2334"/>
          </a:solidFill>
          <a:ln/>
        </p:spPr>
      </p:sp>
      <p:sp>
        <p:nvSpPr>
          <p:cNvPr id="37" name="Text 35"/>
          <p:cNvSpPr/>
          <p:nvPr/>
        </p:nvSpPr>
        <p:spPr>
          <a:xfrm>
            <a:off x="11307887" y="6082010"/>
            <a:ext cx="2641157" cy="323850"/>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West</a:t>
            </a:r>
            <a:endParaRPr lang="en-US" sz="1950" dirty="0"/>
          </a:p>
        </p:txBody>
      </p:sp>
      <p:sp>
        <p:nvSpPr>
          <p:cNvPr id="38" name="Shape 36"/>
          <p:cNvSpPr/>
          <p:nvPr/>
        </p:nvSpPr>
        <p:spPr>
          <a:xfrm>
            <a:off x="1152525" y="6539210"/>
            <a:ext cx="3910533" cy="633413"/>
          </a:xfrm>
          <a:prstGeom prst="rect">
            <a:avLst/>
          </a:prstGeom>
          <a:solidFill>
            <a:srgbClr val="12283B"/>
          </a:solidFill>
          <a:ln/>
        </p:spPr>
      </p:sp>
      <p:sp>
        <p:nvSpPr>
          <p:cNvPr id="39" name="Text 37"/>
          <p:cNvSpPr/>
          <p:nvPr/>
        </p:nvSpPr>
        <p:spPr>
          <a:xfrm>
            <a:off x="1381125" y="6710660"/>
            <a:ext cx="3570649" cy="328613"/>
          </a:xfrm>
          <a:prstGeom prst="rect">
            <a:avLst/>
          </a:prstGeom>
          <a:noFill/>
          <a:ln/>
        </p:spPr>
        <p:txBody>
          <a:bodyPr wrap="square" lIns="25400" tIns="25400" rIns="25400" bIns="25400" rtlCol="0" anchor="t">
            <a:normAutofit/>
          </a:bodyPr>
          <a:lstStyle/>
          <a:p>
            <a:pPr algn="l" indent="0" marL="0">
              <a:buNone/>
            </a:pPr>
            <a:r>
              <a:rPr lang="en-US" sz="1950" dirty="0">
                <a:solidFill>
                  <a:srgbClr val="AEC3D1"/>
                </a:solidFill>
                <a:latin typeface="Arial" pitchFamily="34" charset="0"/>
                <a:ea typeface="Arial" pitchFamily="34" charset="-122"/>
                <a:cs typeface="Arial" pitchFamily="34" charset="-120"/>
              </a:rPr>
              <a:t>Delta Partners</a:t>
            </a:r>
            <a:endParaRPr lang="en-US" sz="1950" dirty="0"/>
          </a:p>
        </p:txBody>
      </p:sp>
      <p:sp>
        <p:nvSpPr>
          <p:cNvPr id="40" name="Shape 38"/>
          <p:cNvSpPr/>
          <p:nvPr/>
        </p:nvSpPr>
        <p:spPr>
          <a:xfrm>
            <a:off x="5063058" y="6539210"/>
            <a:ext cx="3008114" cy="633413"/>
          </a:xfrm>
          <a:prstGeom prst="rect">
            <a:avLst/>
          </a:prstGeom>
          <a:solidFill>
            <a:srgbClr val="EB8153">
              <a:alpha val="12000"/>
            </a:srgbClr>
          </a:solidFill>
          <a:ln w="9525">
            <a:solidFill>
              <a:srgbClr val="EB8153">
                <a:alpha val="60000"/>
              </a:srgbClr>
            </a:solidFill>
            <a:prstDash val="dash"/>
          </a:ln>
        </p:spPr>
      </p:sp>
      <p:sp>
        <p:nvSpPr>
          <p:cNvPr id="41" name="Text 39"/>
          <p:cNvSpPr/>
          <p:nvPr/>
        </p:nvSpPr>
        <p:spPr>
          <a:xfrm>
            <a:off x="5301183" y="6720185"/>
            <a:ext cx="2622107" cy="309563"/>
          </a:xfrm>
          <a:prstGeom prst="rect">
            <a:avLst/>
          </a:prstGeom>
          <a:noFill/>
          <a:ln/>
        </p:spPr>
        <p:txBody>
          <a:bodyPr wrap="square" lIns="25400" tIns="25400" rIns="25400" bIns="25400" rtlCol="0" anchor="t">
            <a:normAutofit/>
          </a:bodyPr>
          <a:lstStyle/>
          <a:p>
            <a:pPr algn="l" indent="0" marL="0">
              <a:buNone/>
            </a:pPr>
            <a:r>
              <a:rPr lang="en-US" sz="1950" dirty="0">
                <a:solidFill>
                  <a:srgbClr val="AEC3D1"/>
                </a:solidFill>
                <a:latin typeface="Arial" pitchFamily="34" charset="0"/>
                <a:ea typeface="Arial" pitchFamily="34" charset="-122"/>
                <a:cs typeface="Arial" pitchFamily="34" charset="-120"/>
              </a:rPr>
              <a:t>(blank)</a:t>
            </a:r>
            <a:endParaRPr lang="en-US" sz="1950" dirty="0"/>
          </a:p>
        </p:txBody>
      </p:sp>
      <p:sp>
        <p:nvSpPr>
          <p:cNvPr id="42" name="Shape 40"/>
          <p:cNvSpPr/>
          <p:nvPr/>
        </p:nvSpPr>
        <p:spPr>
          <a:xfrm>
            <a:off x="8071172" y="6539210"/>
            <a:ext cx="3008114" cy="633413"/>
          </a:xfrm>
          <a:prstGeom prst="rect">
            <a:avLst/>
          </a:prstGeom>
          <a:solidFill>
            <a:srgbClr val="12283B"/>
          </a:solidFill>
          <a:ln/>
        </p:spPr>
      </p:sp>
      <p:sp>
        <p:nvSpPr>
          <p:cNvPr id="43" name="Text 41"/>
          <p:cNvSpPr/>
          <p:nvPr/>
        </p:nvSpPr>
        <p:spPr>
          <a:xfrm>
            <a:off x="8299772" y="6710660"/>
            <a:ext cx="2641157" cy="328613"/>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5</a:t>
            </a:r>
            <a:endParaRPr lang="en-US" sz="1950" dirty="0"/>
          </a:p>
        </p:txBody>
      </p:sp>
      <p:sp>
        <p:nvSpPr>
          <p:cNvPr id="44" name="Shape 42"/>
          <p:cNvSpPr/>
          <p:nvPr/>
        </p:nvSpPr>
        <p:spPr>
          <a:xfrm>
            <a:off x="11079287" y="6539210"/>
            <a:ext cx="3008114" cy="633413"/>
          </a:xfrm>
          <a:prstGeom prst="rect">
            <a:avLst/>
          </a:prstGeom>
          <a:solidFill>
            <a:srgbClr val="12283B"/>
          </a:solidFill>
          <a:ln/>
        </p:spPr>
      </p:sp>
      <p:sp>
        <p:nvSpPr>
          <p:cNvPr id="45" name="Text 43"/>
          <p:cNvSpPr/>
          <p:nvPr/>
        </p:nvSpPr>
        <p:spPr>
          <a:xfrm>
            <a:off x="11307887" y="6710660"/>
            <a:ext cx="2641157" cy="328613"/>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North</a:t>
            </a:r>
            <a:endParaRPr lang="en-US" sz="1950" dirty="0"/>
          </a:p>
        </p:txBody>
      </p:sp>
      <p:sp>
        <p:nvSpPr>
          <p:cNvPr id="46" name="Shape 44"/>
          <p:cNvSpPr/>
          <p:nvPr/>
        </p:nvSpPr>
        <p:spPr>
          <a:xfrm>
            <a:off x="1152525" y="7172623"/>
            <a:ext cx="3910533" cy="628650"/>
          </a:xfrm>
          <a:prstGeom prst="rect">
            <a:avLst/>
          </a:prstGeom>
          <a:solidFill>
            <a:srgbClr val="5CC6E8">
              <a:alpha val="12000"/>
            </a:srgbClr>
          </a:solidFill>
          <a:ln/>
        </p:spPr>
      </p:sp>
      <p:sp>
        <p:nvSpPr>
          <p:cNvPr id="47" name="Text 45"/>
          <p:cNvSpPr/>
          <p:nvPr/>
        </p:nvSpPr>
        <p:spPr>
          <a:xfrm>
            <a:off x="1381125" y="7344073"/>
            <a:ext cx="3570649" cy="323850"/>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Corfield</a:t>
            </a:r>
            <a:endParaRPr lang="en-US" sz="1950" dirty="0"/>
          </a:p>
        </p:txBody>
      </p:sp>
      <p:sp>
        <p:nvSpPr>
          <p:cNvPr id="48" name="Shape 46"/>
          <p:cNvSpPr/>
          <p:nvPr/>
        </p:nvSpPr>
        <p:spPr>
          <a:xfrm>
            <a:off x="5063058" y="7172623"/>
            <a:ext cx="3008114" cy="628650"/>
          </a:xfrm>
          <a:prstGeom prst="rect">
            <a:avLst/>
          </a:prstGeom>
          <a:solidFill>
            <a:srgbClr val="5CC6E8">
              <a:alpha val="12000"/>
            </a:srgbClr>
          </a:solidFill>
          <a:ln/>
        </p:spPr>
      </p:sp>
      <p:sp>
        <p:nvSpPr>
          <p:cNvPr id="49" name="Text 47"/>
          <p:cNvSpPr/>
          <p:nvPr/>
        </p:nvSpPr>
        <p:spPr>
          <a:xfrm>
            <a:off x="5291658" y="7344073"/>
            <a:ext cx="2641157" cy="323850"/>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2025-03-04</a:t>
            </a:r>
            <a:endParaRPr lang="en-US" sz="1950" dirty="0"/>
          </a:p>
        </p:txBody>
      </p:sp>
      <p:sp>
        <p:nvSpPr>
          <p:cNvPr id="50" name="Shape 48"/>
          <p:cNvSpPr/>
          <p:nvPr/>
        </p:nvSpPr>
        <p:spPr>
          <a:xfrm>
            <a:off x="8071172" y="7172623"/>
            <a:ext cx="3008114" cy="628650"/>
          </a:xfrm>
          <a:prstGeom prst="rect">
            <a:avLst/>
          </a:prstGeom>
          <a:solidFill>
            <a:srgbClr val="5CC6E8">
              <a:alpha val="12000"/>
            </a:srgbClr>
          </a:solidFill>
          <a:ln/>
        </p:spPr>
      </p:sp>
      <p:sp>
        <p:nvSpPr>
          <p:cNvPr id="51" name="Text 49"/>
          <p:cNvSpPr/>
          <p:nvPr/>
        </p:nvSpPr>
        <p:spPr>
          <a:xfrm>
            <a:off x="8299772" y="7344073"/>
            <a:ext cx="2641157"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5CC6E8"/>
                </a:solidFill>
                <a:latin typeface="Arial" pitchFamily="34" charset="0"/>
                <a:ea typeface="Arial" pitchFamily="34" charset="-122"/>
                <a:cs typeface="Arial" pitchFamily="34" charset="-120"/>
              </a:rPr>
              <a:t>duplicate row →</a:t>
            </a:r>
            <a:endParaRPr lang="en-US" sz="1950" dirty="0"/>
          </a:p>
        </p:txBody>
      </p:sp>
      <p:sp>
        <p:nvSpPr>
          <p:cNvPr id="52" name="Shape 50"/>
          <p:cNvSpPr/>
          <p:nvPr/>
        </p:nvSpPr>
        <p:spPr>
          <a:xfrm>
            <a:off x="11079287" y="7172623"/>
            <a:ext cx="3008114" cy="628650"/>
          </a:xfrm>
          <a:prstGeom prst="rect">
            <a:avLst/>
          </a:prstGeom>
          <a:solidFill>
            <a:srgbClr val="5CC6E8">
              <a:alpha val="12000"/>
            </a:srgbClr>
          </a:solidFill>
          <a:ln/>
        </p:spPr>
      </p:sp>
      <p:sp>
        <p:nvSpPr>
          <p:cNvPr id="53" name="Text 51"/>
          <p:cNvSpPr/>
          <p:nvPr/>
        </p:nvSpPr>
        <p:spPr>
          <a:xfrm>
            <a:off x="11307887" y="7344073"/>
            <a:ext cx="2641157" cy="323850"/>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West</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73247">
                  <a:alpha val="100000"/>
                </a:srgbClr>
              </a:gs>
              <a:gs pos="52000">
                <a:srgbClr val="0B1A29">
                  <a:alpha val="100000"/>
                </a:srgbClr>
              </a:gs>
              <a:gs pos="100000">
                <a:srgbClr val="06121D">
                  <a:alpha val="100000"/>
                </a:srgbClr>
              </a:gs>
            </a:gsLst>
            <a:path path="circle">
              <a:fillToRect l="78000" t="0" r="22000" b="100000"/>
            </a:path>
          </a:gradFill>
          <a:ln/>
        </p:spPr>
      </p:sp>
      <p:sp>
        <p:nvSpPr>
          <p:cNvPr id="3" name="Text 1"/>
          <p:cNvSpPr/>
          <p:nvPr/>
        </p:nvSpPr>
        <p:spPr>
          <a:xfrm>
            <a:off x="1143000" y="3457054"/>
            <a:ext cx="75438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5CC6E8"/>
                </a:solidFill>
                <a:latin typeface="Arial" pitchFamily="34" charset="0"/>
                <a:ea typeface="Arial" pitchFamily="34" charset="-122"/>
                <a:cs typeface="Arial" pitchFamily="34" charset="-120"/>
              </a:rPr>
              <a:t>REASON TWO · SECURITY</a:t>
            </a:r>
            <a:endParaRPr lang="en-US" sz="1800" dirty="0"/>
          </a:p>
        </p:txBody>
      </p:sp>
      <p:sp>
        <p:nvSpPr>
          <p:cNvPr id="4" name="Text 2"/>
          <p:cNvSpPr/>
          <p:nvPr/>
        </p:nvSpPr>
        <p:spPr>
          <a:xfrm>
            <a:off x="1143000" y="3971404"/>
            <a:ext cx="7063740" cy="1305967"/>
          </a:xfrm>
          <a:prstGeom prst="rect">
            <a:avLst/>
          </a:prstGeom>
          <a:noFill/>
          <a:ln/>
        </p:spPr>
        <p:txBody>
          <a:bodyPr wrap="square" lIns="25400" tIns="25400" rIns="25400" bIns="25400" rtlCol="0" anchor="t">
            <a:normAutofit/>
          </a:bodyPr>
          <a:lstStyle/>
          <a:p>
            <a:pPr algn="l" indent="0" marL="0">
              <a:lnSpc>
                <a:spcPct val="91807"/>
              </a:lnSpc>
              <a:buNone/>
            </a:pPr>
            <a:r>
              <a:rPr lang="en-US" sz="4800" spc="-72" kern="0" dirty="0">
                <a:solidFill>
                  <a:srgbClr val="EEF4F8"/>
                </a:solidFill>
                <a:latin typeface="Georgia" pitchFamily="34" charset="0"/>
                <a:ea typeface="Georgia" pitchFamily="34" charset="-122"/>
                <a:cs typeface="Georgia" pitchFamily="34" charset="-120"/>
              </a:rPr>
              <a:t>Security isn't a task you finish.</a:t>
            </a:r>
            <a:endParaRPr lang="en-US" sz="4800" dirty="0"/>
          </a:p>
        </p:txBody>
      </p:sp>
      <p:sp>
        <p:nvSpPr>
          <p:cNvPr id="5" name="Text 3"/>
          <p:cNvSpPr/>
          <p:nvPr/>
        </p:nvSpPr>
        <p:spPr>
          <a:xfrm>
            <a:off x="1143000" y="5620271"/>
            <a:ext cx="4382493" cy="1323975"/>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AEC3D1"/>
                </a:solidFill>
                <a:latin typeface="Arial" pitchFamily="34" charset="0"/>
                <a:ea typeface="Arial" pitchFamily="34" charset="-122"/>
                <a:cs typeface="Arial" pitchFamily="34" charset="-120"/>
              </a:rPr>
              <a:t>It's a discipline that touches every part of the system — not a box near the end.</a:t>
            </a:r>
            <a:endParaRPr lang="en-US" sz="22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67750" y="914400"/>
            <a:ext cx="8477250" cy="8534400"/>
          </a:xfrm>
          <a:prstGeom prst="rect">
            <a:avLst/>
          </a:prstGeom>
        </p:spPr>
      </p:pic>
      <p:sp>
        <p:nvSpPr>
          <p:cNvPr id="7" name="Shape 4"/>
          <p:cNvSpPr/>
          <p:nvPr/>
        </p:nvSpPr>
        <p:spPr>
          <a:xfrm>
            <a:off x="12287250" y="4562475"/>
            <a:ext cx="1238250" cy="1238250"/>
          </a:xfrm>
          <a:prstGeom prst="ellipse">
            <a:avLst/>
          </a:prstGeom>
          <a:solidFill>
            <a:srgbClr val="5CC6E8"/>
          </a:solidFill>
          <a:ln/>
          <a:effectLst>
            <a:outerShdw sx="100000" sy="100000" kx="0" ky="0" algn="bl" rotWithShape="0" blurRad="101600" dist="50800" dir="16200000">
              <a:srgbClr val="5CC6E8">
                <a:alpha val="14000"/>
              </a:srgbClr>
            </a:outerShdw>
          </a:effectLst>
        </p:spPr>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39675" y="4914900"/>
            <a:ext cx="533400" cy="533400"/>
          </a:xfrm>
          <a:prstGeom prst="rect">
            <a:avLst/>
          </a:prstGeom>
        </p:spPr>
      </p:pic>
      <p:sp>
        <p:nvSpPr>
          <p:cNvPr id="9" name="Shape 5"/>
          <p:cNvSpPr/>
          <p:nvPr/>
        </p:nvSpPr>
        <p:spPr>
          <a:xfrm>
            <a:off x="12292347" y="1597149"/>
            <a:ext cx="1228055" cy="495300"/>
          </a:xfrm>
          <a:prstGeom prst="roundRect">
            <a:avLst>
              <a:gd name="adj" fmla="val 50000"/>
            </a:avLst>
          </a:prstGeom>
          <a:solidFill>
            <a:srgbClr val="12283B"/>
          </a:solidFill>
          <a:ln w="9525">
            <a:solidFill>
              <a:srgbClr val="FFFFFF">
                <a:alpha val="14000"/>
              </a:srgbClr>
            </a:solidFill>
            <a:prstDash val="solid"/>
          </a:ln>
        </p:spPr>
      </p:sp>
      <p:sp>
        <p:nvSpPr>
          <p:cNvPr id="10" name="Text 6"/>
          <p:cNvSpPr/>
          <p:nvPr/>
        </p:nvSpPr>
        <p:spPr>
          <a:xfrm>
            <a:off x="12492372" y="1720974"/>
            <a:ext cx="904205"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Identity</a:t>
            </a:r>
            <a:endParaRPr lang="en-US" sz="1950" dirty="0"/>
          </a:p>
        </p:txBody>
      </p:sp>
      <p:sp>
        <p:nvSpPr>
          <p:cNvPr id="11" name="Shape 7"/>
          <p:cNvSpPr/>
          <p:nvPr/>
        </p:nvSpPr>
        <p:spPr>
          <a:xfrm>
            <a:off x="15742965" y="3474690"/>
            <a:ext cx="1232520" cy="495300"/>
          </a:xfrm>
          <a:prstGeom prst="roundRect">
            <a:avLst>
              <a:gd name="adj" fmla="val 50000"/>
            </a:avLst>
          </a:prstGeom>
          <a:solidFill>
            <a:srgbClr val="12283B"/>
          </a:solidFill>
          <a:ln w="9525">
            <a:solidFill>
              <a:srgbClr val="FFFFFF">
                <a:alpha val="14000"/>
              </a:srgbClr>
            </a:solidFill>
            <a:prstDash val="solid"/>
          </a:ln>
        </p:spPr>
      </p:sp>
      <p:sp>
        <p:nvSpPr>
          <p:cNvPr id="12" name="Text 8"/>
          <p:cNvSpPr/>
          <p:nvPr/>
        </p:nvSpPr>
        <p:spPr>
          <a:xfrm>
            <a:off x="15942990" y="3598515"/>
            <a:ext cx="908670"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Access</a:t>
            </a:r>
            <a:endParaRPr lang="en-US" sz="1950" dirty="0"/>
          </a:p>
        </p:txBody>
      </p:sp>
      <p:sp>
        <p:nvSpPr>
          <p:cNvPr id="13" name="Shape 9"/>
          <p:cNvSpPr/>
          <p:nvPr/>
        </p:nvSpPr>
        <p:spPr>
          <a:xfrm>
            <a:off x="15018321" y="7246665"/>
            <a:ext cx="1618059" cy="495300"/>
          </a:xfrm>
          <a:prstGeom prst="roundRect">
            <a:avLst>
              <a:gd name="adj" fmla="val 50000"/>
            </a:avLst>
          </a:prstGeom>
          <a:solidFill>
            <a:srgbClr val="12283B"/>
          </a:solidFill>
          <a:ln w="9525">
            <a:solidFill>
              <a:srgbClr val="FFFFFF">
                <a:alpha val="14000"/>
              </a:srgbClr>
            </a:solidFill>
            <a:prstDash val="solid"/>
          </a:ln>
        </p:spPr>
      </p:sp>
      <p:sp>
        <p:nvSpPr>
          <p:cNvPr id="14" name="Text 10"/>
          <p:cNvSpPr/>
          <p:nvPr/>
        </p:nvSpPr>
        <p:spPr>
          <a:xfrm>
            <a:off x="15218346" y="7370490"/>
            <a:ext cx="1294209"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Encryption</a:t>
            </a:r>
            <a:endParaRPr lang="en-US" sz="1950" dirty="0"/>
          </a:p>
        </p:txBody>
      </p:sp>
      <p:sp>
        <p:nvSpPr>
          <p:cNvPr id="15" name="Shape 11"/>
          <p:cNvSpPr/>
          <p:nvPr/>
        </p:nvSpPr>
        <p:spPr>
          <a:xfrm>
            <a:off x="9176370" y="7246665"/>
            <a:ext cx="1453158" cy="495300"/>
          </a:xfrm>
          <a:prstGeom prst="roundRect">
            <a:avLst>
              <a:gd name="adj" fmla="val 50000"/>
            </a:avLst>
          </a:prstGeom>
          <a:solidFill>
            <a:srgbClr val="12283B"/>
          </a:solidFill>
          <a:ln w="9525">
            <a:solidFill>
              <a:srgbClr val="FFFFFF">
                <a:alpha val="14000"/>
              </a:srgbClr>
            </a:solidFill>
            <a:prstDash val="solid"/>
          </a:ln>
        </p:spPr>
      </p:sp>
      <p:sp>
        <p:nvSpPr>
          <p:cNvPr id="16" name="Text 12"/>
          <p:cNvSpPr/>
          <p:nvPr/>
        </p:nvSpPr>
        <p:spPr>
          <a:xfrm>
            <a:off x="9376395" y="7370490"/>
            <a:ext cx="1129308"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Audit trail</a:t>
            </a:r>
            <a:endParaRPr lang="en-US" sz="1950" dirty="0"/>
          </a:p>
        </p:txBody>
      </p:sp>
      <p:sp>
        <p:nvSpPr>
          <p:cNvPr id="17" name="Shape 13"/>
          <p:cNvSpPr/>
          <p:nvPr/>
        </p:nvSpPr>
        <p:spPr>
          <a:xfrm>
            <a:off x="8837265" y="3474690"/>
            <a:ext cx="1390724" cy="495300"/>
          </a:xfrm>
          <a:prstGeom prst="roundRect">
            <a:avLst>
              <a:gd name="adj" fmla="val 50000"/>
            </a:avLst>
          </a:prstGeom>
          <a:solidFill>
            <a:srgbClr val="12283B"/>
          </a:solidFill>
          <a:ln w="9525">
            <a:solidFill>
              <a:srgbClr val="FFFFFF">
                <a:alpha val="14000"/>
              </a:srgbClr>
            </a:solidFill>
            <a:prstDash val="solid"/>
          </a:ln>
        </p:spPr>
      </p:sp>
      <p:sp>
        <p:nvSpPr>
          <p:cNvPr id="18" name="Text 14"/>
          <p:cNvSpPr/>
          <p:nvPr/>
        </p:nvSpPr>
        <p:spPr>
          <a:xfrm>
            <a:off x="9037290" y="3598515"/>
            <a:ext cx="1066874"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Patching</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73247">
                  <a:alpha val="100000"/>
                </a:srgbClr>
              </a:gs>
              <a:gs pos="52000">
                <a:srgbClr val="0B1A29">
                  <a:alpha val="100000"/>
                </a:srgbClr>
              </a:gs>
              <a:gs pos="100000">
                <a:srgbClr val="06121D">
                  <a:alpha val="100000"/>
                </a:srgbClr>
              </a:gs>
            </a:gsLst>
            <a:path path="circle">
              <a:fillToRect l="78000" t="0" r="22000" b="100000"/>
            </a:path>
          </a:gradFill>
          <a:ln/>
        </p:spPr>
      </p:sp>
      <p:sp>
        <p:nvSpPr>
          <p:cNvPr id="3" name="Text 1"/>
          <p:cNvSpPr/>
          <p:nvPr/>
        </p:nvSpPr>
        <p:spPr>
          <a:xfrm>
            <a:off x="1143000" y="914400"/>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5CC6E8"/>
                </a:solidFill>
                <a:latin typeface="Arial" pitchFamily="34" charset="0"/>
                <a:ea typeface="Arial" pitchFamily="34" charset="-122"/>
                <a:cs typeface="Arial" pitchFamily="34" charset="-120"/>
              </a:rPr>
              <a:t>REASON TWO · SECURITY · THE SHIFT</a:t>
            </a:r>
            <a:endParaRPr lang="en-US" sz="1800" dirty="0"/>
          </a:p>
        </p:txBody>
      </p:sp>
      <p:sp>
        <p:nvSpPr>
          <p:cNvPr id="4" name="Text 2"/>
          <p:cNvSpPr/>
          <p:nvPr/>
        </p:nvSpPr>
        <p:spPr>
          <a:xfrm>
            <a:off x="1143000" y="1390650"/>
            <a:ext cx="1760220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spc="-72" kern="0" dirty="0">
                <a:solidFill>
                  <a:srgbClr val="EEF4F8"/>
                </a:solidFill>
                <a:latin typeface="Georgia" pitchFamily="34" charset="0"/>
                <a:ea typeface="Georgia" pitchFamily="34" charset="-122"/>
                <a:cs typeface="Georgia" pitchFamily="34" charset="-120"/>
              </a:rPr>
              <a:t>Bugs are accidents. Attackers are on purpose.</a:t>
            </a:r>
            <a:endParaRPr lang="en-US" sz="4800" dirty="0"/>
          </a:p>
        </p:txBody>
      </p:sp>
      <p:sp>
        <p:nvSpPr>
          <p:cNvPr id="5" name="Shape 3"/>
          <p:cNvSpPr/>
          <p:nvPr/>
        </p:nvSpPr>
        <p:spPr>
          <a:xfrm>
            <a:off x="1143000" y="6629400"/>
            <a:ext cx="7810500" cy="2819400"/>
          </a:xfrm>
          <a:prstGeom prst="roundRect">
            <a:avLst>
              <a:gd name="adj" fmla="val 6081"/>
            </a:avLst>
          </a:prstGeom>
          <a:solidFill>
            <a:srgbClr val="12283B"/>
          </a:solidFill>
          <a:ln w="9525">
            <a:solidFill>
              <a:srgbClr val="FFFFFF">
                <a:alpha val="14000"/>
              </a:srgbClr>
            </a:solidFill>
            <a:prstDash val="solid"/>
          </a:ln>
        </p:spPr>
      </p:sp>
      <p:sp>
        <p:nvSpPr>
          <p:cNvPr id="6" name="Text 4"/>
          <p:cNvSpPr/>
          <p:nvPr/>
        </p:nvSpPr>
        <p:spPr>
          <a:xfrm>
            <a:off x="1571625" y="7096125"/>
            <a:ext cx="7648575"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288" kern="0" dirty="0">
                <a:solidFill>
                  <a:srgbClr val="AEC3D1"/>
                </a:solidFill>
                <a:latin typeface="Arial" pitchFamily="34" charset="0"/>
                <a:ea typeface="Arial" pitchFamily="34" charset="-122"/>
                <a:cs typeface="Arial" pitchFamily="34" charset="-120"/>
              </a:rPr>
              <a:t>A BUG</a:t>
            </a:r>
            <a:endParaRPr lang="en-US" sz="1800" dirty="0"/>
          </a:p>
        </p:txBody>
      </p:sp>
      <p:sp>
        <p:nvSpPr>
          <p:cNvPr id="7" name="Text 5"/>
          <p:cNvSpPr/>
          <p:nvPr/>
        </p:nvSpPr>
        <p:spPr>
          <a:xfrm>
            <a:off x="1571625" y="7515225"/>
            <a:ext cx="7648575" cy="476250"/>
          </a:xfrm>
          <a:prstGeom prst="rect">
            <a:avLst/>
          </a:prstGeom>
          <a:noFill/>
          <a:ln/>
        </p:spPr>
        <p:txBody>
          <a:bodyPr wrap="square" lIns="25400" tIns="25400" rIns="25400" bIns="25400" rtlCol="0" anchor="t">
            <a:normAutofit/>
          </a:bodyPr>
          <a:lstStyle/>
          <a:p>
            <a:pPr algn="l" indent="0" marL="0">
              <a:lnSpc>
                <a:spcPct val="101099"/>
              </a:lnSpc>
              <a:buNone/>
            </a:pPr>
            <a:r>
              <a:rPr lang="en-US" sz="3000" dirty="0">
                <a:solidFill>
                  <a:srgbClr val="EEF4F8"/>
                </a:solidFill>
                <a:latin typeface="Georgia" pitchFamily="34" charset="0"/>
                <a:ea typeface="Georgia" pitchFamily="34" charset="-122"/>
                <a:cs typeface="Georgia" pitchFamily="34" charset="-120"/>
              </a:rPr>
              <a:t>The world being indifferent.</a:t>
            </a:r>
            <a:endParaRPr lang="en-US" sz="3000" dirty="0"/>
          </a:p>
        </p:txBody>
      </p:sp>
      <p:sp>
        <p:nvSpPr>
          <p:cNvPr id="8" name="Text 6"/>
          <p:cNvSpPr/>
          <p:nvPr/>
        </p:nvSpPr>
        <p:spPr>
          <a:xfrm>
            <a:off x="1571625" y="8124825"/>
            <a:ext cx="7161848" cy="895350"/>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AEC3D1"/>
                </a:solidFill>
                <a:latin typeface="Arial" pitchFamily="34" charset="0"/>
                <a:ea typeface="Arial" pitchFamily="34" charset="-122"/>
                <a:cs typeface="Arial" pitchFamily="34" charset="-120"/>
              </a:rPr>
              <a:t>Something breaks by accident — a puddle you might slip in.</a:t>
            </a:r>
            <a:endParaRPr lang="en-US" sz="2250" dirty="0"/>
          </a:p>
        </p:txBody>
      </p:sp>
      <p:sp>
        <p:nvSpPr>
          <p:cNvPr id="9" name="Shape 7"/>
          <p:cNvSpPr/>
          <p:nvPr/>
        </p:nvSpPr>
        <p:spPr>
          <a:xfrm>
            <a:off x="9334500" y="6629400"/>
            <a:ext cx="7810500" cy="2819400"/>
          </a:xfrm>
          <a:prstGeom prst="roundRect">
            <a:avLst>
              <a:gd name="adj" fmla="val 6081"/>
            </a:avLst>
          </a:prstGeom>
          <a:solidFill>
            <a:srgbClr val="EB8153">
              <a:alpha val="10000"/>
            </a:srgbClr>
          </a:solidFill>
          <a:ln w="9525">
            <a:solidFill>
              <a:srgbClr val="EB8153">
                <a:alpha val="50000"/>
              </a:srgbClr>
            </a:solidFill>
            <a:prstDash val="solid"/>
          </a:ln>
        </p:spPr>
      </p:sp>
      <p:sp>
        <p:nvSpPr>
          <p:cNvPr id="10" name="Text 8"/>
          <p:cNvSpPr/>
          <p:nvPr/>
        </p:nvSpPr>
        <p:spPr>
          <a:xfrm>
            <a:off x="9763125" y="7096125"/>
            <a:ext cx="7648575"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288" kern="0" dirty="0">
                <a:solidFill>
                  <a:srgbClr val="EB8153"/>
                </a:solidFill>
                <a:latin typeface="Arial" pitchFamily="34" charset="0"/>
                <a:ea typeface="Arial" pitchFamily="34" charset="-122"/>
                <a:cs typeface="Arial" pitchFamily="34" charset="-120"/>
              </a:rPr>
              <a:t>AN ATTACKER</a:t>
            </a:r>
            <a:endParaRPr lang="en-US" sz="1800" dirty="0"/>
          </a:p>
        </p:txBody>
      </p:sp>
      <p:sp>
        <p:nvSpPr>
          <p:cNvPr id="11" name="Text 9"/>
          <p:cNvSpPr/>
          <p:nvPr/>
        </p:nvSpPr>
        <p:spPr>
          <a:xfrm>
            <a:off x="9763125" y="7515225"/>
            <a:ext cx="7648575" cy="476250"/>
          </a:xfrm>
          <a:prstGeom prst="rect">
            <a:avLst/>
          </a:prstGeom>
          <a:noFill/>
          <a:ln/>
        </p:spPr>
        <p:txBody>
          <a:bodyPr wrap="square" lIns="25400" tIns="25400" rIns="25400" bIns="25400" rtlCol="0" anchor="t">
            <a:normAutofit/>
          </a:bodyPr>
          <a:lstStyle/>
          <a:p>
            <a:pPr algn="l" indent="0" marL="0">
              <a:lnSpc>
                <a:spcPct val="101099"/>
              </a:lnSpc>
              <a:buNone/>
            </a:pPr>
            <a:r>
              <a:rPr lang="en-US" sz="3000" dirty="0">
                <a:solidFill>
                  <a:srgbClr val="EEF4F8"/>
                </a:solidFill>
                <a:latin typeface="Georgia" pitchFamily="34" charset="0"/>
                <a:ea typeface="Georgia" pitchFamily="34" charset="-122"/>
                <a:cs typeface="Georgia" pitchFamily="34" charset="-120"/>
              </a:rPr>
              <a:t>The world being hostile.</a:t>
            </a:r>
            <a:endParaRPr lang="en-US" sz="3000" dirty="0"/>
          </a:p>
        </p:txBody>
      </p:sp>
      <p:sp>
        <p:nvSpPr>
          <p:cNvPr id="12" name="Text 10"/>
          <p:cNvSpPr/>
          <p:nvPr/>
        </p:nvSpPr>
        <p:spPr>
          <a:xfrm>
            <a:off x="9763125" y="8124825"/>
            <a:ext cx="7161848" cy="895350"/>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AEC3D1"/>
                </a:solidFill>
                <a:latin typeface="Arial" pitchFamily="34" charset="0"/>
                <a:ea typeface="Arial" pitchFamily="34" charset="-122"/>
                <a:cs typeface="Arial" pitchFamily="34" charset="-120"/>
              </a:rPr>
              <a:t>Someone sets a trap on purpose — and they only need to be right once.</a:t>
            </a:r>
            <a:endParaRPr lang="en-US" sz="2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73247">
                  <a:alpha val="100000"/>
                </a:srgbClr>
              </a:gs>
              <a:gs pos="52000">
                <a:srgbClr val="0B1A29">
                  <a:alpha val="100000"/>
                </a:srgbClr>
              </a:gs>
              <a:gs pos="100000">
                <a:srgbClr val="06121D">
                  <a:alpha val="100000"/>
                </a:srgbClr>
              </a:gs>
            </a:gsLst>
            <a:path path="circle">
              <a:fillToRect l="78000" t="0" r="22000" b="100000"/>
            </a:path>
          </a:gradFill>
          <a:ln/>
        </p:spPr>
      </p:sp>
      <p:sp>
        <p:nvSpPr>
          <p:cNvPr id="3" name="Text 1"/>
          <p:cNvSpPr/>
          <p:nvPr/>
        </p:nvSpPr>
        <p:spPr>
          <a:xfrm>
            <a:off x="1143000" y="914400"/>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5CC6E8"/>
                </a:solidFill>
                <a:latin typeface="Arial" pitchFamily="34" charset="0"/>
                <a:ea typeface="Arial" pitchFamily="34" charset="-122"/>
                <a:cs typeface="Arial" pitchFamily="34" charset="-120"/>
              </a:rPr>
              <a:t>REASON THREE · POLICY</a:t>
            </a:r>
            <a:endParaRPr lang="en-US" sz="1800" dirty="0"/>
          </a:p>
        </p:txBody>
      </p:sp>
      <p:sp>
        <p:nvSpPr>
          <p:cNvPr id="4" name="Text 2"/>
          <p:cNvSpPr/>
          <p:nvPr/>
        </p:nvSpPr>
        <p:spPr>
          <a:xfrm>
            <a:off x="1143000" y="1390650"/>
            <a:ext cx="1760220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spc="-72" kern="0" dirty="0">
                <a:solidFill>
                  <a:srgbClr val="EEF4F8"/>
                </a:solidFill>
                <a:latin typeface="Georgia" pitchFamily="34" charset="0"/>
                <a:ea typeface="Georgia" pitchFamily="34" charset="-122"/>
                <a:cs typeface="Georgia" pitchFamily="34" charset="-120"/>
              </a:rPr>
              <a:t>Some rules you don't get to code around.</a:t>
            </a:r>
            <a:endParaRPr lang="en-US" sz="4800" dirty="0"/>
          </a:p>
        </p:txBody>
      </p:sp>
      <p:sp>
        <p:nvSpPr>
          <p:cNvPr id="5" name="Text 3"/>
          <p:cNvSpPr/>
          <p:nvPr/>
        </p:nvSpPr>
        <p:spPr>
          <a:xfrm>
            <a:off x="1143000" y="6610350"/>
            <a:ext cx="2044340"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AEC3D1"/>
                </a:solidFill>
                <a:latin typeface="Arial" pitchFamily="34" charset="0"/>
                <a:ea typeface="Arial" pitchFamily="34" charset="-122"/>
                <a:cs typeface="Arial" pitchFamily="34" charset="-120"/>
              </a:rPr>
              <a:t>Engineering time</a:t>
            </a:r>
            <a:endParaRPr lang="en-US" sz="1950" dirty="0"/>
          </a:p>
        </p:txBody>
      </p:sp>
      <p:sp>
        <p:nvSpPr>
          <p:cNvPr id="6" name="Text 4"/>
          <p:cNvSpPr/>
          <p:nvPr/>
        </p:nvSpPr>
        <p:spPr>
          <a:xfrm>
            <a:off x="15906006" y="6610350"/>
            <a:ext cx="1362894"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7BD6A6"/>
                </a:solidFill>
                <a:latin typeface="Arial" pitchFamily="34" charset="0"/>
                <a:ea typeface="Arial" pitchFamily="34" charset="-122"/>
                <a:cs typeface="Arial" pitchFamily="34" charset="-120"/>
              </a:rPr>
              <a:t>Build ready</a:t>
            </a:r>
            <a:endParaRPr lang="en-US" sz="1950" dirty="0"/>
          </a:p>
        </p:txBody>
      </p:sp>
      <p:sp>
        <p:nvSpPr>
          <p:cNvPr id="7" name="Shape 5"/>
          <p:cNvSpPr/>
          <p:nvPr/>
        </p:nvSpPr>
        <p:spPr>
          <a:xfrm>
            <a:off x="1143000" y="6991350"/>
            <a:ext cx="16002000" cy="190500"/>
          </a:xfrm>
          <a:prstGeom prst="roundRect">
            <a:avLst>
              <a:gd name="adj" fmla="val 50000"/>
            </a:avLst>
          </a:prstGeom>
          <a:solidFill>
            <a:srgbClr val="12283B"/>
          </a:solidFill>
          <a:ln w="9525">
            <a:solidFill>
              <a:srgbClr val="FFFFFF">
                <a:alpha val="14000"/>
              </a:srgbClr>
            </a:solidFill>
            <a:prstDash val="solid"/>
          </a:ln>
        </p:spPr>
      </p:sp>
      <p:sp>
        <p:nvSpPr>
          <p:cNvPr id="8" name="Shape 6"/>
          <p:cNvSpPr/>
          <p:nvPr/>
        </p:nvSpPr>
        <p:spPr>
          <a:xfrm>
            <a:off x="1152525" y="7000875"/>
            <a:ext cx="6073453" cy="171450"/>
          </a:xfrm>
          <a:custGeom>
            <a:avLst/>
            <a:gdLst/>
            <a:ahLst/>
            <a:cxnLst/>
            <a:rect l="l" t="t" r="r" b="b"/>
            <a:pathLst>
              <a:path w="6073453" h="171450">
                <a:moveTo>
                  <a:pt x="85725" y="0"/>
                </a:moveTo>
                <a:lnTo>
                  <a:pt x="6073453" y="0"/>
                </a:lnTo>
                <a:lnTo>
                  <a:pt x="6073453" y="171450"/>
                </a:lnTo>
                <a:lnTo>
                  <a:pt x="85725" y="171450"/>
                </a:lnTo>
                <a:arcTo hR="85725" wR="85725" stAng="5400000" swAng="5400000"/>
                <a:lnTo>
                  <a:pt x="0" y="85725"/>
                </a:lnTo>
                <a:arcTo hR="85725" wR="85725" stAng="10800000" swAng="5400000"/>
                <a:close/>
              </a:path>
            </a:pathLst>
          </a:custGeom>
          <a:solidFill>
            <a:srgbClr val="7BD6A6"/>
          </a:solidFill>
          <a:ln/>
        </p:spPr>
      </p:sp>
      <p:sp>
        <p:nvSpPr>
          <p:cNvPr id="9" name="Shape 7"/>
          <p:cNvSpPr/>
          <p:nvPr/>
        </p:nvSpPr>
        <p:spPr>
          <a:xfrm>
            <a:off x="7054528" y="6924675"/>
            <a:ext cx="342900" cy="342900"/>
          </a:xfrm>
          <a:prstGeom prst="ellipse">
            <a:avLst/>
          </a:prstGeom>
          <a:solidFill>
            <a:srgbClr val="7BD6A6"/>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30728" y="7000875"/>
            <a:ext cx="190500" cy="190500"/>
          </a:xfrm>
          <a:prstGeom prst="rect">
            <a:avLst/>
          </a:prstGeom>
        </p:spPr>
      </p:pic>
      <p:sp>
        <p:nvSpPr>
          <p:cNvPr id="11" name="Text 8"/>
          <p:cNvSpPr/>
          <p:nvPr/>
        </p:nvSpPr>
        <p:spPr>
          <a:xfrm>
            <a:off x="1143000" y="7562850"/>
            <a:ext cx="1574408"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AEC3D1"/>
                </a:solidFill>
                <a:latin typeface="Arial" pitchFamily="34" charset="0"/>
                <a:ea typeface="Arial" pitchFamily="34" charset="-122"/>
                <a:cs typeface="Arial" pitchFamily="34" charset="-120"/>
              </a:rPr>
              <a:t>Process time</a:t>
            </a:r>
            <a:endParaRPr lang="en-US" sz="1950" dirty="0"/>
          </a:p>
        </p:txBody>
      </p:sp>
      <p:sp>
        <p:nvSpPr>
          <p:cNvPr id="12" name="Text 9"/>
          <p:cNvSpPr/>
          <p:nvPr/>
        </p:nvSpPr>
        <p:spPr>
          <a:xfrm>
            <a:off x="14447044" y="7562850"/>
            <a:ext cx="2967752"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E2AC4F"/>
                </a:solidFill>
                <a:latin typeface="Arial" pitchFamily="34" charset="0"/>
                <a:ea typeface="Arial" pitchFamily="34" charset="-122"/>
                <a:cs typeface="Arial" pitchFamily="34" charset="-120"/>
              </a:rPr>
              <a:t>Approved — weeks later</a:t>
            </a:r>
            <a:endParaRPr lang="en-US" sz="1950" dirty="0"/>
          </a:p>
        </p:txBody>
      </p:sp>
      <p:sp>
        <p:nvSpPr>
          <p:cNvPr id="13" name="Shape 10"/>
          <p:cNvSpPr/>
          <p:nvPr/>
        </p:nvSpPr>
        <p:spPr>
          <a:xfrm>
            <a:off x="1143000" y="7943850"/>
            <a:ext cx="16002000" cy="190500"/>
          </a:xfrm>
          <a:prstGeom prst="roundRect">
            <a:avLst>
              <a:gd name="adj" fmla="val 50000"/>
            </a:avLst>
          </a:prstGeom>
          <a:solidFill>
            <a:srgbClr val="12283B"/>
          </a:solidFill>
          <a:ln w="9525">
            <a:solidFill>
              <a:srgbClr val="FFFFFF">
                <a:alpha val="14000"/>
              </a:srgbClr>
            </a:solidFill>
            <a:prstDash val="solid"/>
          </a:ln>
        </p:spPr>
      </p:sp>
      <p:sp>
        <p:nvSpPr>
          <p:cNvPr id="14" name="Shape 11"/>
          <p:cNvSpPr/>
          <p:nvPr/>
        </p:nvSpPr>
        <p:spPr>
          <a:xfrm>
            <a:off x="1152525" y="7953375"/>
            <a:ext cx="13105954" cy="171450"/>
          </a:xfrm>
          <a:custGeom>
            <a:avLst/>
            <a:gdLst/>
            <a:ahLst/>
            <a:cxnLst/>
            <a:rect l="l" t="t" r="r" b="b"/>
            <a:pathLst>
              <a:path w="13105954" h="171450">
                <a:moveTo>
                  <a:pt x="85725" y="0"/>
                </a:moveTo>
                <a:lnTo>
                  <a:pt x="13105954" y="0"/>
                </a:lnTo>
                <a:lnTo>
                  <a:pt x="13105954" y="171450"/>
                </a:lnTo>
                <a:lnTo>
                  <a:pt x="85725" y="171450"/>
                </a:lnTo>
                <a:arcTo hR="85725" wR="85725" stAng="5400000" swAng="5400000"/>
                <a:lnTo>
                  <a:pt x="0" y="85725"/>
                </a:lnTo>
                <a:arcTo hR="85725" wR="85725" stAng="10800000" swAng="5400000"/>
                <a:close/>
              </a:path>
            </a:pathLst>
          </a:custGeom>
          <a:gradFill rotWithShape="1">
            <a:gsLst>
              <a:gs pos="0">
                <a:srgbClr val="2B5673">
                  <a:alpha val="100000"/>
                </a:srgbClr>
              </a:gs>
              <a:gs pos="100000">
                <a:srgbClr val="E2AC4F">
                  <a:alpha val="100000"/>
                </a:srgbClr>
              </a:gs>
            </a:gsLst>
            <a:lin ang="0" scaled="0"/>
          </a:gradFill>
          <a:ln/>
        </p:spPr>
      </p:sp>
      <p:sp>
        <p:nvSpPr>
          <p:cNvPr id="15" name="Shape 12"/>
          <p:cNvSpPr/>
          <p:nvPr/>
        </p:nvSpPr>
        <p:spPr>
          <a:xfrm rot="-480000">
            <a:off x="14067979" y="7858125"/>
            <a:ext cx="381000" cy="381000"/>
          </a:xfrm>
          <a:prstGeom prst="roundRect">
            <a:avLst>
              <a:gd name="adj" fmla="val 20000"/>
            </a:avLst>
          </a:prstGeom>
          <a:solidFill>
            <a:srgbClr val="E2AC4F"/>
          </a:solidFill>
          <a:ln w="19050">
            <a:solidFill>
              <a:srgbClr val="29211A"/>
            </a:solidFill>
            <a:prstDash val="dash"/>
          </a:ln>
        </p:spPr>
      </p:sp>
      <p:sp>
        <p:nvSpPr>
          <p:cNvPr id="16" name="Text 13"/>
          <p:cNvSpPr/>
          <p:nvPr/>
        </p:nvSpPr>
        <p:spPr>
          <a:xfrm rot="-480000">
            <a:off x="14048929" y="7877175"/>
            <a:ext cx="419100" cy="381000"/>
          </a:xfrm>
          <a:prstGeom prst="rect">
            <a:avLst/>
          </a:prstGeom>
          <a:noFill/>
          <a:ln/>
        </p:spPr>
        <p:txBody>
          <a:bodyPr wrap="square" lIns="25400" tIns="25400" rIns="25400" bIns="25400" rtlCol="0" anchor="t">
            <a:normAutofit/>
          </a:bodyPr>
          <a:lstStyle/>
          <a:p>
            <a:pPr algn="ctr" indent="0" marL="0">
              <a:lnSpc>
                <a:spcPct val="145455"/>
              </a:lnSpc>
              <a:buNone/>
            </a:pPr>
            <a:r>
              <a:rPr lang="en-US" sz="1800" b="1" dirty="0">
                <a:solidFill>
                  <a:srgbClr val="29211A"/>
                </a:solidFill>
                <a:latin typeface="Arial" pitchFamily="34" charset="0"/>
                <a:ea typeface="Arial" pitchFamily="34" charset="-122"/>
                <a:cs typeface="Arial" pitchFamily="34" charset="-120"/>
              </a:rPr>
              <a:t>✓</a:t>
            </a:r>
            <a:endParaRPr lang="en-US" sz="1800" dirty="0"/>
          </a:p>
        </p:txBody>
      </p:sp>
      <p:sp>
        <p:nvSpPr>
          <p:cNvPr id="17" name="Text 14"/>
          <p:cNvSpPr/>
          <p:nvPr/>
        </p:nvSpPr>
        <p:spPr>
          <a:xfrm>
            <a:off x="1143000" y="8591550"/>
            <a:ext cx="8765062" cy="895350"/>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AEC3D1"/>
                </a:solidFill>
                <a:latin typeface="Arial" pitchFamily="34" charset="0"/>
                <a:ea typeface="Arial" pitchFamily="34" charset="-122"/>
                <a:cs typeface="Arial" pitchFamily="34" charset="-120"/>
              </a:rPr>
              <a:t>The feature can be finished and still wait. A launch date can be set by paperwork — pushing the team harder won't move it.</a:t>
            </a:r>
            <a:endParaRPr lang="en-US" sz="2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73247">
                  <a:alpha val="100000"/>
                </a:srgbClr>
              </a:gs>
              <a:gs pos="52000">
                <a:srgbClr val="0B1A29">
                  <a:alpha val="100000"/>
                </a:srgbClr>
              </a:gs>
              <a:gs pos="100000">
                <a:srgbClr val="06121D">
                  <a:alpha val="100000"/>
                </a:srgbClr>
              </a:gs>
            </a:gsLst>
            <a:path path="circle">
              <a:fillToRect l="78000" t="0" r="22000" b="100000"/>
            </a:path>
          </a:gradFill>
          <a:ln/>
        </p:spPr>
      </p:sp>
      <p:sp>
        <p:nvSpPr>
          <p:cNvPr id="3" name="Text 1"/>
          <p:cNvSpPr/>
          <p:nvPr/>
        </p:nvSpPr>
        <p:spPr>
          <a:xfrm>
            <a:off x="1143000" y="4176192"/>
            <a:ext cx="6082665" cy="4953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5CC6E8"/>
                </a:solidFill>
                <a:latin typeface="Arial" pitchFamily="34" charset="0"/>
                <a:ea typeface="Arial" pitchFamily="34" charset="-122"/>
                <a:cs typeface="Arial" pitchFamily="34" charset="-120"/>
              </a:rPr>
              <a:t>REASON THREE · POLICY · THE EXAMPLE</a:t>
            </a:r>
            <a:endParaRPr lang="en-US" sz="1800" dirty="0"/>
          </a:p>
        </p:txBody>
      </p:sp>
      <p:sp>
        <p:nvSpPr>
          <p:cNvPr id="4" name="Text 2"/>
          <p:cNvSpPr/>
          <p:nvPr/>
        </p:nvSpPr>
        <p:spPr>
          <a:xfrm>
            <a:off x="1143000" y="4919142"/>
            <a:ext cx="6082665" cy="1305967"/>
          </a:xfrm>
          <a:prstGeom prst="rect">
            <a:avLst/>
          </a:prstGeom>
          <a:noFill/>
          <a:ln/>
        </p:spPr>
        <p:txBody>
          <a:bodyPr wrap="square" lIns="25400" tIns="25400" rIns="25400" bIns="25400" rtlCol="0" anchor="t">
            <a:normAutofit/>
          </a:bodyPr>
          <a:lstStyle/>
          <a:p>
            <a:pPr algn="l" indent="0" marL="0">
              <a:lnSpc>
                <a:spcPct val="91807"/>
              </a:lnSpc>
              <a:buNone/>
            </a:pPr>
            <a:r>
              <a:rPr lang="en-US" sz="4800" spc="-72" kern="0" dirty="0">
                <a:solidFill>
                  <a:srgbClr val="EEF4F8"/>
                </a:solidFill>
                <a:latin typeface="Georgia" pitchFamily="34" charset="0"/>
                <a:ea typeface="Georgia" pitchFamily="34" charset="-122"/>
                <a:cs typeface="Georgia" pitchFamily="34" charset="-120"/>
              </a:rPr>
              <a:t>The feature is done. The approvals aren't.</a:t>
            </a:r>
            <a:endParaRPr lang="en-US" sz="4800" dirty="0"/>
          </a:p>
        </p:txBody>
      </p:sp>
      <p:sp>
        <p:nvSpPr>
          <p:cNvPr id="5" name="Shape 3"/>
          <p:cNvSpPr/>
          <p:nvPr/>
        </p:nvSpPr>
        <p:spPr>
          <a:xfrm>
            <a:off x="10477500" y="3752850"/>
            <a:ext cx="4000500" cy="2857500"/>
          </a:xfrm>
          <a:prstGeom prst="roundRect">
            <a:avLst>
              <a:gd name="adj" fmla="val 5333"/>
            </a:avLst>
          </a:prstGeom>
          <a:solidFill>
            <a:srgbClr val="12283B">
              <a:alpha val="55000"/>
            </a:srgbClr>
          </a:solidFill>
          <a:ln w="9525">
            <a:solidFill>
              <a:srgbClr val="FFFFFF">
                <a:alpha val="8000"/>
              </a:srgbClr>
            </a:solidFill>
            <a:prstDash val="solid"/>
          </a:ln>
        </p:spPr>
      </p:sp>
      <p:sp>
        <p:nvSpPr>
          <p:cNvPr id="6" name="Shape 4"/>
          <p:cNvSpPr/>
          <p:nvPr/>
        </p:nvSpPr>
        <p:spPr>
          <a:xfrm>
            <a:off x="10772775" y="4960144"/>
            <a:ext cx="419100" cy="912019"/>
          </a:xfrm>
          <a:prstGeom prst="roundRect">
            <a:avLst>
              <a:gd name="adj" fmla="val 9091"/>
            </a:avLst>
          </a:prstGeom>
          <a:solidFill>
            <a:srgbClr val="5CC6E8">
              <a:alpha val="55000"/>
            </a:srgbClr>
          </a:solidFill>
          <a:ln/>
        </p:spPr>
      </p:sp>
      <p:sp>
        <p:nvSpPr>
          <p:cNvPr id="7" name="Shape 5"/>
          <p:cNvSpPr/>
          <p:nvPr/>
        </p:nvSpPr>
        <p:spPr>
          <a:xfrm>
            <a:off x="11344275" y="4412977"/>
            <a:ext cx="419100" cy="1459185"/>
          </a:xfrm>
          <a:prstGeom prst="roundRect">
            <a:avLst>
              <a:gd name="adj" fmla="val 9091"/>
            </a:avLst>
          </a:prstGeom>
          <a:solidFill>
            <a:srgbClr val="5CC6E8">
              <a:alpha val="55000"/>
            </a:srgbClr>
          </a:solidFill>
          <a:ln/>
        </p:spPr>
      </p:sp>
      <p:sp>
        <p:nvSpPr>
          <p:cNvPr id="8" name="Shape 6"/>
          <p:cNvSpPr/>
          <p:nvPr/>
        </p:nvSpPr>
        <p:spPr>
          <a:xfrm>
            <a:off x="11915775" y="5179070"/>
            <a:ext cx="419100" cy="693093"/>
          </a:xfrm>
          <a:prstGeom prst="roundRect">
            <a:avLst>
              <a:gd name="adj" fmla="val 9091"/>
            </a:avLst>
          </a:prstGeom>
          <a:solidFill>
            <a:srgbClr val="5CC6E8">
              <a:alpha val="55000"/>
            </a:srgbClr>
          </a:solidFill>
          <a:ln/>
        </p:spPr>
      </p:sp>
      <p:sp>
        <p:nvSpPr>
          <p:cNvPr id="9" name="Shape 7"/>
          <p:cNvSpPr/>
          <p:nvPr/>
        </p:nvSpPr>
        <p:spPr>
          <a:xfrm>
            <a:off x="12487275" y="4668366"/>
            <a:ext cx="419100" cy="1203796"/>
          </a:xfrm>
          <a:prstGeom prst="roundRect">
            <a:avLst>
              <a:gd name="adj" fmla="val 9091"/>
            </a:avLst>
          </a:prstGeom>
          <a:solidFill>
            <a:srgbClr val="5CC6E8">
              <a:alpha val="55000"/>
            </a:srgbClr>
          </a:solidFill>
          <a:ln/>
        </p:spPr>
      </p:sp>
      <p:sp>
        <p:nvSpPr>
          <p:cNvPr id="10" name="Text 8"/>
          <p:cNvSpPr/>
          <p:nvPr/>
        </p:nvSpPr>
        <p:spPr>
          <a:xfrm>
            <a:off x="10602278" y="6043613"/>
            <a:ext cx="3750945" cy="309563"/>
          </a:xfrm>
          <a:prstGeom prst="rect">
            <a:avLst/>
          </a:prstGeom>
          <a:noFill/>
          <a:ln/>
        </p:spPr>
        <p:txBody>
          <a:bodyPr wrap="square" lIns="25400" tIns="25400" rIns="25400" bIns="25400" rtlCol="0" anchor="t">
            <a:normAutofit/>
          </a:bodyPr>
          <a:lstStyle/>
          <a:p>
            <a:pPr algn="ctr" indent="0" marL="0">
              <a:buNone/>
            </a:pPr>
            <a:r>
              <a:rPr lang="en-US" sz="1950" dirty="0">
                <a:solidFill>
                  <a:srgbClr val="AEC3D1">
                    <a:alpha val="55000"/>
                  </a:srgbClr>
                </a:solidFill>
                <a:latin typeface="Arial" pitchFamily="34" charset="0"/>
                <a:ea typeface="Arial" pitchFamily="34" charset="-122"/>
                <a:cs typeface="Arial" pitchFamily="34" charset="-120"/>
              </a:rPr>
              <a:t>Dashboard · working</a:t>
            </a:r>
            <a:endParaRPr lang="en-US" sz="1950" dirty="0"/>
          </a:p>
        </p:txBody>
      </p:sp>
      <p:sp>
        <p:nvSpPr>
          <p:cNvPr id="11" name="Shape 9"/>
          <p:cNvSpPr/>
          <p:nvPr/>
        </p:nvSpPr>
        <p:spPr>
          <a:xfrm>
            <a:off x="7810500" y="1085031"/>
            <a:ext cx="2667000" cy="904875"/>
          </a:xfrm>
          <a:prstGeom prst="roundRect">
            <a:avLst>
              <a:gd name="adj" fmla="val 12632"/>
            </a:avLst>
          </a:prstGeom>
          <a:solidFill>
            <a:srgbClr val="E2AC4F">
              <a:alpha val="14000"/>
            </a:srgbClr>
          </a:solidFill>
          <a:ln w="9525">
            <a:solidFill>
              <a:srgbClr val="E2AC4F">
                <a:alpha val="55000"/>
              </a:srgbClr>
            </a:solidFill>
            <a:prstDash val="solid"/>
          </a:ln>
        </p:spPr>
      </p:sp>
      <p:sp>
        <p:nvSpPr>
          <p:cNvPr id="12" name="Text 10"/>
          <p:cNvSpPr/>
          <p:nvPr/>
        </p:nvSpPr>
        <p:spPr>
          <a:xfrm>
            <a:off x="8010525" y="1227906"/>
            <a:ext cx="2346960" cy="6572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EEF4F8"/>
                </a:solidFill>
                <a:latin typeface="Arial" pitchFamily="34" charset="0"/>
                <a:ea typeface="Arial" pitchFamily="34" charset="-122"/>
                <a:cs typeface="Arial" pitchFamily="34" charset="-120"/>
              </a:rPr>
              <a:t>Who's allowed to see this data?</a:t>
            </a:r>
            <a:endParaRPr lang="en-US" sz="1950" dirty="0"/>
          </a:p>
        </p:txBody>
      </p:sp>
      <p:sp>
        <p:nvSpPr>
          <p:cNvPr id="13" name="Shape 11"/>
          <p:cNvSpPr/>
          <p:nvPr/>
        </p:nvSpPr>
        <p:spPr>
          <a:xfrm>
            <a:off x="14287500" y="2791941"/>
            <a:ext cx="2857500" cy="1214438"/>
          </a:xfrm>
          <a:prstGeom prst="roundRect">
            <a:avLst>
              <a:gd name="adj" fmla="val 9412"/>
            </a:avLst>
          </a:prstGeom>
          <a:solidFill>
            <a:srgbClr val="E2AC4F">
              <a:alpha val="14000"/>
            </a:srgbClr>
          </a:solidFill>
          <a:ln w="9525">
            <a:solidFill>
              <a:srgbClr val="E2AC4F">
                <a:alpha val="55000"/>
              </a:srgbClr>
            </a:solidFill>
            <a:prstDash val="solid"/>
          </a:ln>
        </p:spPr>
      </p:sp>
      <p:sp>
        <p:nvSpPr>
          <p:cNvPr id="14" name="Text 12"/>
          <p:cNvSpPr/>
          <p:nvPr/>
        </p:nvSpPr>
        <p:spPr>
          <a:xfrm>
            <a:off x="14487525" y="2934816"/>
            <a:ext cx="2543175" cy="966788"/>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EEF4F8"/>
                </a:solidFill>
                <a:latin typeface="Arial" pitchFamily="34" charset="0"/>
                <a:ea typeface="Arial" pitchFamily="34" charset="-122"/>
                <a:cs typeface="Arial" pitchFamily="34" charset="-120"/>
              </a:rPr>
              <a:t>How long can we keep the uploaded file?</a:t>
            </a:r>
            <a:endParaRPr lang="en-US" sz="1950" dirty="0"/>
          </a:p>
        </p:txBody>
      </p:sp>
      <p:sp>
        <p:nvSpPr>
          <p:cNvPr id="15" name="Shape 13"/>
          <p:cNvSpPr/>
          <p:nvPr/>
        </p:nvSpPr>
        <p:spPr>
          <a:xfrm>
            <a:off x="7997130" y="7178427"/>
            <a:ext cx="2667000" cy="904875"/>
          </a:xfrm>
          <a:prstGeom prst="roundRect">
            <a:avLst>
              <a:gd name="adj" fmla="val 12632"/>
            </a:avLst>
          </a:prstGeom>
          <a:solidFill>
            <a:srgbClr val="E2AC4F">
              <a:alpha val="14000"/>
            </a:srgbClr>
          </a:solidFill>
          <a:ln w="9525">
            <a:solidFill>
              <a:srgbClr val="E2AC4F">
                <a:alpha val="55000"/>
              </a:srgbClr>
            </a:solidFill>
            <a:prstDash val="solid"/>
          </a:ln>
        </p:spPr>
      </p:sp>
      <p:sp>
        <p:nvSpPr>
          <p:cNvPr id="16" name="Text 14"/>
          <p:cNvSpPr/>
          <p:nvPr/>
        </p:nvSpPr>
        <p:spPr>
          <a:xfrm>
            <a:off x="8197155" y="7321302"/>
            <a:ext cx="2346960" cy="6572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EEF4F8"/>
                </a:solidFill>
                <a:latin typeface="Arial" pitchFamily="34" charset="0"/>
                <a:ea typeface="Arial" pitchFamily="34" charset="-122"/>
                <a:cs typeface="Arial" pitchFamily="34" charset="-120"/>
              </a:rPr>
              <a:t>Where is it allowed to live?</a:t>
            </a:r>
            <a:endParaRPr lang="en-US" sz="1950" dirty="0"/>
          </a:p>
        </p:txBody>
      </p:sp>
      <p:sp>
        <p:nvSpPr>
          <p:cNvPr id="17" name="Shape 15"/>
          <p:cNvSpPr/>
          <p:nvPr/>
        </p:nvSpPr>
        <p:spPr>
          <a:xfrm>
            <a:off x="14104665" y="8543925"/>
            <a:ext cx="2667000" cy="904875"/>
          </a:xfrm>
          <a:prstGeom prst="roundRect">
            <a:avLst>
              <a:gd name="adj" fmla="val 12632"/>
            </a:avLst>
          </a:prstGeom>
          <a:solidFill>
            <a:srgbClr val="E2AC4F">
              <a:alpha val="14000"/>
            </a:srgbClr>
          </a:solidFill>
          <a:ln w="9525">
            <a:solidFill>
              <a:srgbClr val="E2AC4F">
                <a:alpha val="55000"/>
              </a:srgbClr>
            </a:solidFill>
            <a:prstDash val="solid"/>
          </a:ln>
        </p:spPr>
      </p:sp>
      <p:sp>
        <p:nvSpPr>
          <p:cNvPr id="18" name="Text 16"/>
          <p:cNvSpPr/>
          <p:nvPr/>
        </p:nvSpPr>
        <p:spPr>
          <a:xfrm>
            <a:off x="14304690" y="8686800"/>
            <a:ext cx="2346960" cy="6572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EEF4F8"/>
                </a:solidFill>
                <a:latin typeface="Arial" pitchFamily="34" charset="0"/>
                <a:ea typeface="Arial" pitchFamily="34" charset="-122"/>
                <a:cs typeface="Arial" pitchFamily="34" charset="-120"/>
              </a:rPr>
              <a:t>Who signs off before launch?</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73247">
                  <a:alpha val="100000"/>
                </a:srgbClr>
              </a:gs>
              <a:gs pos="52000">
                <a:srgbClr val="0B1A29">
                  <a:alpha val="100000"/>
                </a:srgbClr>
              </a:gs>
              <a:gs pos="100000">
                <a:srgbClr val="06121D">
                  <a:alpha val="100000"/>
                </a:srgbClr>
              </a:gs>
            </a:gsLst>
            <a:path path="circle">
              <a:fillToRect l="78000" t="0" r="22000" b="100000"/>
            </a:path>
          </a:gradFill>
          <a:ln/>
        </p:spPr>
      </p:sp>
      <p:sp>
        <p:nvSpPr>
          <p:cNvPr id="3" name="Text 1"/>
          <p:cNvSpPr/>
          <p:nvPr/>
        </p:nvSpPr>
        <p:spPr>
          <a:xfrm>
            <a:off x="1143000" y="914400"/>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5CC6E8"/>
                </a:solidFill>
                <a:latin typeface="Arial" pitchFamily="34" charset="0"/>
                <a:ea typeface="Arial" pitchFamily="34" charset="-122"/>
                <a:cs typeface="Arial" pitchFamily="34" charset="-120"/>
              </a:rPr>
              <a:t>PART THREE · THE REST OF THE ICEBERG</a:t>
            </a:r>
            <a:endParaRPr lang="en-US" sz="1800" dirty="0"/>
          </a:p>
        </p:txBody>
      </p:sp>
      <p:sp>
        <p:nvSpPr>
          <p:cNvPr id="4" name="Text 2"/>
          <p:cNvSpPr/>
          <p:nvPr/>
        </p:nvSpPr>
        <p:spPr>
          <a:xfrm>
            <a:off x="1143000" y="1390650"/>
            <a:ext cx="1760220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spc="-72" kern="0" dirty="0">
                <a:solidFill>
                  <a:srgbClr val="EEF4F8"/>
                </a:solidFill>
                <a:latin typeface="Georgia" pitchFamily="34" charset="0"/>
                <a:ea typeface="Georgia" pitchFamily="34" charset="-122"/>
                <a:cs typeface="Georgia" pitchFamily="34" charset="-120"/>
              </a:rPr>
              <a:t>Your app depends on things you don't control.</a:t>
            </a:r>
            <a:endParaRPr lang="en-US" sz="48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952750" y="3736479"/>
            <a:ext cx="12382500" cy="4000500"/>
          </a:xfrm>
          <a:prstGeom prst="rect">
            <a:avLst/>
          </a:prstGeom>
        </p:spPr>
      </p:pic>
      <p:sp>
        <p:nvSpPr>
          <p:cNvPr id="6" name="Shape 3"/>
          <p:cNvSpPr/>
          <p:nvPr/>
        </p:nvSpPr>
        <p:spPr>
          <a:xfrm>
            <a:off x="7810500" y="5117604"/>
            <a:ext cx="2667000" cy="1238250"/>
          </a:xfrm>
          <a:prstGeom prst="roundRect">
            <a:avLst>
              <a:gd name="adj" fmla="val 12308"/>
            </a:avLst>
          </a:prstGeom>
          <a:solidFill>
            <a:srgbClr val="5CC6E8"/>
          </a:solidFill>
          <a:ln/>
        </p:spPr>
      </p:sp>
      <p:sp>
        <p:nvSpPr>
          <p:cNvPr id="7" name="Text 4"/>
          <p:cNvSpPr/>
          <p:nvPr/>
        </p:nvSpPr>
        <p:spPr>
          <a:xfrm>
            <a:off x="7770495" y="5117604"/>
            <a:ext cx="2747010" cy="1276350"/>
          </a:xfrm>
          <a:prstGeom prst="rect">
            <a:avLst/>
          </a:prstGeom>
          <a:noFill/>
          <a:ln/>
        </p:spPr>
        <p:txBody>
          <a:bodyPr wrap="square" lIns="25400" tIns="25400" rIns="25400" bIns="25400" rtlCol="0" anchor="ctr">
            <a:normAutofit/>
          </a:bodyPr>
          <a:lstStyle/>
          <a:p>
            <a:pPr algn="ctr" indent="0" marL="0">
              <a:lnSpc>
                <a:spcPct val="86957"/>
              </a:lnSpc>
              <a:buNone/>
            </a:pPr>
            <a:r>
              <a:rPr lang="en-US" sz="3000" b="1" dirty="0">
                <a:solidFill>
                  <a:srgbClr val="06121D"/>
                </a:solidFill>
                <a:latin typeface="Arial" pitchFamily="34" charset="0"/>
                <a:ea typeface="Arial" pitchFamily="34" charset="-122"/>
                <a:cs typeface="Arial" pitchFamily="34" charset="-120"/>
              </a:rPr>
              <a:t>Your app</a:t>
            </a:r>
            <a:endParaRPr lang="en-US" sz="3000" dirty="0"/>
          </a:p>
        </p:txBody>
      </p:sp>
      <p:sp>
        <p:nvSpPr>
          <p:cNvPr id="8" name="Shape 5"/>
          <p:cNvSpPr/>
          <p:nvPr/>
        </p:nvSpPr>
        <p:spPr>
          <a:xfrm>
            <a:off x="3695700" y="3812679"/>
            <a:ext cx="2524497" cy="747713"/>
          </a:xfrm>
          <a:prstGeom prst="roundRect">
            <a:avLst>
              <a:gd name="adj" fmla="val 17834"/>
            </a:avLst>
          </a:prstGeom>
          <a:solidFill>
            <a:srgbClr val="12283B"/>
          </a:solidFill>
          <a:ln w="9525">
            <a:solidFill>
              <a:srgbClr val="FFFFFF">
                <a:alpha val="14000"/>
              </a:srgbClr>
            </a:solidFill>
            <a:prstDash val="solid"/>
          </a:ln>
        </p:spPr>
      </p:sp>
      <p:sp>
        <p:nvSpPr>
          <p:cNvPr id="9" name="Text 6"/>
          <p:cNvSpPr/>
          <p:nvPr/>
        </p:nvSpPr>
        <p:spPr>
          <a:xfrm>
            <a:off x="3990975" y="4050804"/>
            <a:ext cx="2010147" cy="309563"/>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Payment provider</a:t>
            </a:r>
            <a:endParaRPr lang="en-US" sz="1950" dirty="0"/>
          </a:p>
        </p:txBody>
      </p:sp>
      <p:sp>
        <p:nvSpPr>
          <p:cNvPr id="10" name="Shape 7"/>
          <p:cNvSpPr/>
          <p:nvPr/>
        </p:nvSpPr>
        <p:spPr>
          <a:xfrm>
            <a:off x="11488638" y="3812679"/>
            <a:ext cx="3103662" cy="747713"/>
          </a:xfrm>
          <a:prstGeom prst="roundRect">
            <a:avLst>
              <a:gd name="adj" fmla="val 17834"/>
            </a:avLst>
          </a:prstGeom>
          <a:solidFill>
            <a:srgbClr val="12283B"/>
          </a:solidFill>
          <a:ln w="9525">
            <a:solidFill>
              <a:srgbClr val="EB8153">
                <a:alpha val="50000"/>
              </a:srgbClr>
            </a:solidFill>
            <a:prstDash val="solid"/>
          </a:ln>
        </p:spPr>
      </p:sp>
      <p:sp>
        <p:nvSpPr>
          <p:cNvPr id="11" name="Text 8"/>
          <p:cNvSpPr/>
          <p:nvPr/>
        </p:nvSpPr>
        <p:spPr>
          <a:xfrm>
            <a:off x="11783913" y="4050804"/>
            <a:ext cx="2606222" cy="309563"/>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Another team's system</a:t>
            </a:r>
            <a:endParaRPr lang="en-US" sz="1950" dirty="0"/>
          </a:p>
        </p:txBody>
      </p:sp>
      <p:sp>
        <p:nvSpPr>
          <p:cNvPr id="12" name="Shape 9"/>
          <p:cNvSpPr/>
          <p:nvPr/>
        </p:nvSpPr>
        <p:spPr>
          <a:xfrm>
            <a:off x="7754615" y="6989266"/>
            <a:ext cx="2778770" cy="747713"/>
          </a:xfrm>
          <a:prstGeom prst="roundRect">
            <a:avLst>
              <a:gd name="adj" fmla="val 17834"/>
            </a:avLst>
          </a:prstGeom>
          <a:solidFill>
            <a:srgbClr val="12283B"/>
          </a:solidFill>
          <a:ln w="9525">
            <a:solidFill>
              <a:srgbClr val="EB8153">
                <a:alpha val="50000"/>
              </a:srgbClr>
            </a:solidFill>
            <a:prstDash val="solid"/>
          </a:ln>
        </p:spPr>
      </p:sp>
      <p:sp>
        <p:nvSpPr>
          <p:cNvPr id="13" name="Text 10"/>
          <p:cNvSpPr/>
          <p:nvPr/>
        </p:nvSpPr>
        <p:spPr>
          <a:xfrm>
            <a:off x="8049890" y="7227391"/>
            <a:ext cx="2271583" cy="309563"/>
          </a:xfrm>
          <a:prstGeom prst="rect">
            <a:avLst/>
          </a:prstGeom>
          <a:noFill/>
          <a:ln/>
        </p:spPr>
        <p:txBody>
          <a:bodyPr wrap="square" lIns="25400" tIns="25400" rIns="25400" bIns="25400" rtlCol="0" anchor="t">
            <a:normAutofit/>
          </a:bodyPr>
          <a:lstStyle/>
          <a:p>
            <a:pPr algn="l" indent="0" marL="0">
              <a:buNone/>
            </a:pPr>
            <a:r>
              <a:rPr lang="en-US" sz="1950" dirty="0">
                <a:solidFill>
                  <a:srgbClr val="EEF4F8"/>
                </a:solidFill>
                <a:latin typeface="Arial" pitchFamily="34" charset="0"/>
                <a:ea typeface="Arial" pitchFamily="34" charset="-122"/>
                <a:cs typeface="Arial" pitchFamily="34" charset="-120"/>
              </a:rPr>
              <a:t>A third-party service</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73247">
                  <a:alpha val="100000"/>
                </a:srgbClr>
              </a:gs>
              <a:gs pos="52000">
                <a:srgbClr val="0B1A29">
                  <a:alpha val="100000"/>
                </a:srgbClr>
              </a:gs>
              <a:gs pos="100000">
                <a:srgbClr val="06121D">
                  <a:alpha val="100000"/>
                </a:srgbClr>
              </a:gs>
            </a:gsLst>
            <a:path path="circle">
              <a:fillToRect l="78000" t="0" r="22000" b="100000"/>
            </a:path>
          </a:gradFill>
          <a:ln/>
        </p:spPr>
      </p:sp>
      <p:sp>
        <p:nvSpPr>
          <p:cNvPr id="3" name="Text 1"/>
          <p:cNvSpPr/>
          <p:nvPr/>
        </p:nvSpPr>
        <p:spPr>
          <a:xfrm>
            <a:off x="1143000" y="914400"/>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5CC6E8"/>
                </a:solidFill>
                <a:latin typeface="Arial" pitchFamily="34" charset="0"/>
                <a:ea typeface="Arial" pitchFamily="34" charset="-122"/>
                <a:cs typeface="Arial" pitchFamily="34" charset="-120"/>
              </a:rPr>
              <a:t>PART THREE · THE REST OF THE ICEBERG</a:t>
            </a:r>
            <a:endParaRPr lang="en-US" sz="1800" dirty="0"/>
          </a:p>
        </p:txBody>
      </p:sp>
      <p:sp>
        <p:nvSpPr>
          <p:cNvPr id="4" name="Text 2"/>
          <p:cNvSpPr/>
          <p:nvPr/>
        </p:nvSpPr>
        <p:spPr>
          <a:xfrm>
            <a:off x="1143000" y="1390650"/>
            <a:ext cx="1760220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spc="-72" kern="0" dirty="0">
                <a:solidFill>
                  <a:srgbClr val="EEF4F8"/>
                </a:solidFill>
                <a:latin typeface="Georgia" pitchFamily="34" charset="0"/>
                <a:ea typeface="Georgia" pitchFamily="34" charset="-122"/>
                <a:cs typeface="Georgia" pitchFamily="34" charset="-120"/>
              </a:rPr>
              <a:t>Nine people can't make a baby in one month.</a:t>
            </a:r>
            <a:endParaRPr lang="en-US" sz="4800" dirty="0"/>
          </a:p>
        </p:txBody>
      </p:sp>
      <p:sp>
        <p:nvSpPr>
          <p:cNvPr id="5" name="Shape 3"/>
          <p:cNvSpPr/>
          <p:nvPr/>
        </p:nvSpPr>
        <p:spPr>
          <a:xfrm>
            <a:off x="1143000" y="5657850"/>
            <a:ext cx="7715250" cy="3790950"/>
          </a:xfrm>
          <a:prstGeom prst="roundRect">
            <a:avLst>
              <a:gd name="adj" fmla="val 4523"/>
            </a:avLst>
          </a:prstGeom>
          <a:solidFill>
            <a:srgbClr val="0F2334"/>
          </a:solidFill>
          <a:ln w="9525">
            <a:solidFill>
              <a:srgbClr val="FFFFFF">
                <a:alpha val="14000"/>
              </a:srgbClr>
            </a:solidFill>
            <a:prstDash val="solid"/>
          </a:ln>
        </p:spPr>
      </p:sp>
      <p:sp>
        <p:nvSpPr>
          <p:cNvPr id="6" name="Text 4"/>
          <p:cNvSpPr/>
          <p:nvPr/>
        </p:nvSpPr>
        <p:spPr>
          <a:xfrm>
            <a:off x="1495425" y="6010275"/>
            <a:ext cx="771144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288" kern="0" dirty="0">
                <a:solidFill>
                  <a:srgbClr val="AEC3D1"/>
                </a:solidFill>
                <a:latin typeface="Arial" pitchFamily="34" charset="0"/>
                <a:ea typeface="Arial" pitchFamily="34" charset="-122"/>
                <a:cs typeface="Arial" pitchFamily="34" charset="-120"/>
              </a:rPr>
              <a:t>2 PEOPLE · 1 PATH</a:t>
            </a:r>
            <a:endParaRPr lang="en-US" sz="1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95425" y="6429375"/>
            <a:ext cx="7010400" cy="2667000"/>
          </a:xfrm>
          <a:prstGeom prst="rect">
            <a:avLst/>
          </a:prstGeom>
        </p:spPr>
      </p:pic>
      <p:sp>
        <p:nvSpPr>
          <p:cNvPr id="8" name="Shape 5"/>
          <p:cNvSpPr/>
          <p:nvPr/>
        </p:nvSpPr>
        <p:spPr>
          <a:xfrm>
            <a:off x="3350865" y="7515225"/>
            <a:ext cx="495300" cy="495300"/>
          </a:xfrm>
          <a:prstGeom prst="ellipse">
            <a:avLst/>
          </a:prstGeom>
          <a:solidFill>
            <a:srgbClr val="5CC6E8"/>
          </a:solidFill>
          <a:ln/>
        </p:spPr>
      </p:sp>
      <p:sp>
        <p:nvSpPr>
          <p:cNvPr id="9" name="Shape 6"/>
          <p:cNvSpPr/>
          <p:nvPr/>
        </p:nvSpPr>
        <p:spPr>
          <a:xfrm>
            <a:off x="6155010" y="7515225"/>
            <a:ext cx="495300" cy="495300"/>
          </a:xfrm>
          <a:prstGeom prst="ellipse">
            <a:avLst/>
          </a:prstGeom>
          <a:solidFill>
            <a:srgbClr val="5CC6E8"/>
          </a:solidFill>
          <a:ln/>
        </p:spPr>
      </p:sp>
      <p:sp>
        <p:nvSpPr>
          <p:cNvPr id="10" name="Shape 7"/>
          <p:cNvSpPr/>
          <p:nvPr/>
        </p:nvSpPr>
        <p:spPr>
          <a:xfrm>
            <a:off x="9429750" y="5657850"/>
            <a:ext cx="7715250" cy="3790950"/>
          </a:xfrm>
          <a:prstGeom prst="roundRect">
            <a:avLst>
              <a:gd name="adj" fmla="val 4523"/>
            </a:avLst>
          </a:prstGeom>
          <a:solidFill>
            <a:srgbClr val="0F2334"/>
          </a:solidFill>
          <a:ln w="9525">
            <a:solidFill>
              <a:srgbClr val="FFFFFF">
                <a:alpha val="14000"/>
              </a:srgbClr>
            </a:solidFill>
            <a:prstDash val="solid"/>
          </a:ln>
        </p:spPr>
      </p:sp>
      <p:sp>
        <p:nvSpPr>
          <p:cNvPr id="11" name="Text 8"/>
          <p:cNvSpPr/>
          <p:nvPr/>
        </p:nvSpPr>
        <p:spPr>
          <a:xfrm>
            <a:off x="9782175" y="6010275"/>
            <a:ext cx="771144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288" kern="0" dirty="0">
                <a:solidFill>
                  <a:srgbClr val="EB8153"/>
                </a:solidFill>
                <a:latin typeface="Arial" pitchFamily="34" charset="0"/>
                <a:ea typeface="Arial" pitchFamily="34" charset="-122"/>
                <a:cs typeface="Arial" pitchFamily="34" charset="-120"/>
              </a:rPr>
              <a:t>6 PEOPLE · 15 PATHS</a:t>
            </a:r>
            <a:endParaRPr lang="en-US" sz="1800" dirty="0"/>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82175" y="6429375"/>
            <a:ext cx="7010400" cy="2667000"/>
          </a:xfrm>
          <a:prstGeom prst="rect">
            <a:avLst/>
          </a:prstGeom>
        </p:spPr>
      </p:pic>
      <p:sp>
        <p:nvSpPr>
          <p:cNvPr id="13" name="Shape 9"/>
          <p:cNvSpPr/>
          <p:nvPr/>
        </p:nvSpPr>
        <p:spPr>
          <a:xfrm>
            <a:off x="13106400" y="6595095"/>
            <a:ext cx="361950" cy="361950"/>
          </a:xfrm>
          <a:prstGeom prst="ellipse">
            <a:avLst/>
          </a:prstGeom>
          <a:solidFill>
            <a:srgbClr val="EB8153"/>
          </a:solidFill>
          <a:ln/>
        </p:spPr>
      </p:sp>
      <p:sp>
        <p:nvSpPr>
          <p:cNvPr id="14" name="Shape 10"/>
          <p:cNvSpPr/>
          <p:nvPr/>
        </p:nvSpPr>
        <p:spPr>
          <a:xfrm>
            <a:off x="15559980" y="7315200"/>
            <a:ext cx="361950" cy="361950"/>
          </a:xfrm>
          <a:prstGeom prst="ellipse">
            <a:avLst/>
          </a:prstGeom>
          <a:solidFill>
            <a:srgbClr val="EB8153"/>
          </a:solidFill>
          <a:ln/>
        </p:spPr>
      </p:sp>
      <p:sp>
        <p:nvSpPr>
          <p:cNvPr id="15" name="Shape 11"/>
          <p:cNvSpPr/>
          <p:nvPr/>
        </p:nvSpPr>
        <p:spPr>
          <a:xfrm>
            <a:off x="15209490" y="8461995"/>
            <a:ext cx="361950" cy="361950"/>
          </a:xfrm>
          <a:prstGeom prst="ellipse">
            <a:avLst/>
          </a:prstGeom>
          <a:solidFill>
            <a:srgbClr val="EB8153"/>
          </a:solidFill>
          <a:ln/>
        </p:spPr>
      </p:sp>
      <p:sp>
        <p:nvSpPr>
          <p:cNvPr id="16" name="Shape 12"/>
          <p:cNvSpPr/>
          <p:nvPr/>
        </p:nvSpPr>
        <p:spPr>
          <a:xfrm>
            <a:off x="11003235" y="8461995"/>
            <a:ext cx="361950" cy="361950"/>
          </a:xfrm>
          <a:prstGeom prst="ellipse">
            <a:avLst/>
          </a:prstGeom>
          <a:solidFill>
            <a:srgbClr val="EB8153"/>
          </a:solidFill>
          <a:ln/>
        </p:spPr>
      </p:sp>
      <p:sp>
        <p:nvSpPr>
          <p:cNvPr id="17" name="Shape 13"/>
          <p:cNvSpPr/>
          <p:nvPr/>
        </p:nvSpPr>
        <p:spPr>
          <a:xfrm>
            <a:off x="10652745" y="7315200"/>
            <a:ext cx="361950" cy="361950"/>
          </a:xfrm>
          <a:prstGeom prst="ellipse">
            <a:avLst/>
          </a:prstGeom>
          <a:solidFill>
            <a:srgbClr val="EB8153"/>
          </a:solidFill>
          <a:ln/>
        </p:spPr>
      </p:sp>
      <p:sp>
        <p:nvSpPr>
          <p:cNvPr id="18" name="Shape 14"/>
          <p:cNvSpPr/>
          <p:nvPr/>
        </p:nvSpPr>
        <p:spPr>
          <a:xfrm>
            <a:off x="13106400" y="7848600"/>
            <a:ext cx="361950" cy="361950"/>
          </a:xfrm>
          <a:prstGeom prst="ellipse">
            <a:avLst/>
          </a:prstGeom>
          <a:solidFill>
            <a:srgbClr val="EB8153"/>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6344A">
                  <a:alpha val="100000"/>
                </a:srgbClr>
              </a:gs>
              <a:gs pos="22000">
                <a:srgbClr val="0D2233">
                  <a:alpha val="100000"/>
                </a:srgbClr>
              </a:gs>
              <a:gs pos="22200">
                <a:srgbClr val="081826">
                  <a:alpha val="100000"/>
                </a:srgbClr>
              </a:gs>
              <a:gs pos="100000">
                <a:srgbClr val="040E17">
                  <a:alpha val="100000"/>
                </a:srgbClr>
              </a:gs>
            </a:gsLst>
            <a:lin ang="5400000" scaled="0"/>
          </a:gradFill>
          <a:ln/>
        </p:spPr>
      </p:sp>
      <p:sp>
        <p:nvSpPr>
          <p:cNvPr id="3" name="Text 1"/>
          <p:cNvSpPr/>
          <p:nvPr/>
        </p:nvSpPr>
        <p:spPr>
          <a:xfrm>
            <a:off x="1143000" y="3665265"/>
            <a:ext cx="775335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5CC6E8"/>
                </a:solidFill>
                <a:latin typeface="Arial" pitchFamily="34" charset="0"/>
                <a:ea typeface="Arial" pitchFamily="34" charset="-122"/>
                <a:cs typeface="Arial" pitchFamily="34" charset="-120"/>
              </a:rPr>
              <a:t>PART THREE · OVER TIME</a:t>
            </a:r>
            <a:endParaRPr lang="en-US" sz="1800" dirty="0"/>
          </a:p>
        </p:txBody>
      </p:sp>
      <p:sp>
        <p:nvSpPr>
          <p:cNvPr id="4" name="Text 2"/>
          <p:cNvSpPr/>
          <p:nvPr/>
        </p:nvSpPr>
        <p:spPr>
          <a:xfrm>
            <a:off x="1143000" y="4179615"/>
            <a:ext cx="7259955" cy="1318171"/>
          </a:xfrm>
          <a:prstGeom prst="rect">
            <a:avLst/>
          </a:prstGeom>
          <a:noFill/>
          <a:ln/>
        </p:spPr>
        <p:txBody>
          <a:bodyPr wrap="square" lIns="25400" tIns="25400" rIns="25400" bIns="25400" rtlCol="0" anchor="t">
            <a:normAutofit/>
          </a:bodyPr>
          <a:lstStyle/>
          <a:p>
            <a:pPr algn="l" indent="0" marL="0">
              <a:lnSpc>
                <a:spcPct val="92690"/>
              </a:lnSpc>
              <a:buNone/>
            </a:pPr>
            <a:r>
              <a:rPr lang="en-US" sz="4800" spc="-72" kern="0" dirty="0">
                <a:solidFill>
                  <a:srgbClr val="EEF4F8"/>
                </a:solidFill>
                <a:latin typeface="Georgia" pitchFamily="34" charset="0"/>
                <a:ea typeface="Georgia" pitchFamily="34" charset="-122"/>
                <a:cs typeface="Georgia" pitchFamily="34" charset="-120"/>
              </a:rPr>
              <a:t>Building is a fraction of the lifetime cost.</a:t>
            </a:r>
            <a:endParaRPr lang="en-US" sz="4800" dirty="0"/>
          </a:p>
        </p:txBody>
      </p:sp>
      <p:sp>
        <p:nvSpPr>
          <p:cNvPr id="5" name="Text 3"/>
          <p:cNvSpPr/>
          <p:nvPr/>
        </p:nvSpPr>
        <p:spPr>
          <a:xfrm>
            <a:off x="1143000" y="5840685"/>
            <a:ext cx="4382493" cy="895350"/>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AEC3D1"/>
                </a:solidFill>
                <a:latin typeface="Arial" pitchFamily="34" charset="0"/>
                <a:ea typeface="Arial" pitchFamily="34" charset="-122"/>
                <a:cs typeface="Arial" pitchFamily="34" charset="-120"/>
              </a:rPr>
              <a:t>You launch the tip. Maintenance is the mass beneath it.</a:t>
            </a:r>
            <a:endParaRPr lang="en-US" sz="2250" dirty="0"/>
          </a:p>
        </p:txBody>
      </p:sp>
      <p:sp>
        <p:nvSpPr>
          <p:cNvPr id="6" name="Shape 4"/>
          <p:cNvSpPr/>
          <p:nvPr/>
        </p:nvSpPr>
        <p:spPr>
          <a:xfrm>
            <a:off x="8953500" y="2791941"/>
            <a:ext cx="8191500" cy="19050"/>
          </a:xfrm>
          <a:prstGeom prst="rect">
            <a:avLst/>
          </a:prstGeom>
          <a:gradFill rotWithShape="1">
            <a:gsLst>
              <a:gs pos="0">
                <a:srgbClr val="7CC5E8">
                  <a:alpha val="0"/>
                </a:srgbClr>
              </a:gs>
              <a:gs pos="50000">
                <a:srgbClr val="7CC5E8">
                  <a:alpha val="60000"/>
                </a:srgbClr>
              </a:gs>
              <a:gs pos="100000">
                <a:srgbClr val="7CC5E8">
                  <a:alpha val="0"/>
                </a:srgbClr>
              </a:gs>
            </a:gsLst>
            <a:lin ang="0" scaled="0"/>
          </a:gradFill>
          <a:ln/>
        </p:spPr>
      </p:sp>
      <p:sp>
        <p:nvSpPr>
          <p:cNvPr id="7" name="Shape 5"/>
          <p:cNvSpPr/>
          <p:nvPr/>
        </p:nvSpPr>
        <p:spPr>
          <a:xfrm>
            <a:off x="10919482" y="1255737"/>
            <a:ext cx="4259535" cy="7851577"/>
          </a:xfrm>
          <a:prstGeom prst="rect">
            <a:avLst/>
          </a:prstGeom>
          <a:gradFill rotWithShape="1">
            <a:gsLst>
              <a:gs pos="0">
                <a:srgbClr val="EAF3F9">
                  <a:alpha val="100000"/>
                </a:srgbClr>
              </a:gs>
              <a:gs pos="18000">
                <a:srgbClr val="CFE3EF">
                  <a:alpha val="100000"/>
                </a:srgbClr>
              </a:gs>
              <a:gs pos="30000">
                <a:srgbClr val="7BA7C2">
                  <a:alpha val="100000"/>
                </a:srgbClr>
              </a:gs>
              <a:gs pos="56000">
                <a:srgbClr val="3F6D8B">
                  <a:alpha val="100000"/>
                </a:srgbClr>
              </a:gs>
              <a:gs pos="100000">
                <a:srgbClr val="173A53">
                  <a:alpha val="100000"/>
                </a:srgbClr>
              </a:gs>
            </a:gsLst>
            <a:lin ang="5400000" scaled="0"/>
          </a:gradFill>
          <a:ln/>
        </p:spPr>
      </p:sp>
      <p:sp>
        <p:nvSpPr>
          <p:cNvPr id="8" name="Shape 6"/>
          <p:cNvSpPr/>
          <p:nvPr/>
        </p:nvSpPr>
        <p:spPr>
          <a:xfrm>
            <a:off x="12583381" y="1341090"/>
            <a:ext cx="931738" cy="476250"/>
          </a:xfrm>
          <a:prstGeom prst="roundRect">
            <a:avLst>
              <a:gd name="adj" fmla="val 50000"/>
            </a:avLst>
          </a:prstGeom>
          <a:solidFill>
            <a:srgbClr val="EEF4F8"/>
          </a:solidFill>
          <a:ln/>
        </p:spPr>
      </p:sp>
      <p:sp>
        <p:nvSpPr>
          <p:cNvPr id="9" name="Text 7"/>
          <p:cNvSpPr/>
          <p:nvPr/>
        </p:nvSpPr>
        <p:spPr>
          <a:xfrm>
            <a:off x="12773881" y="1455390"/>
            <a:ext cx="626938"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12283B"/>
                </a:solidFill>
                <a:latin typeface="Arial" pitchFamily="34" charset="0"/>
                <a:ea typeface="Arial" pitchFamily="34" charset="-122"/>
                <a:cs typeface="Arial" pitchFamily="34" charset="-120"/>
              </a:rPr>
              <a:t>Build</a:t>
            </a:r>
            <a:endParaRPr lang="en-US" sz="1950" dirty="0"/>
          </a:p>
        </p:txBody>
      </p:sp>
      <p:sp>
        <p:nvSpPr>
          <p:cNvPr id="10" name="Shape 8"/>
          <p:cNvSpPr/>
          <p:nvPr/>
        </p:nvSpPr>
        <p:spPr>
          <a:xfrm>
            <a:off x="10075143" y="3645396"/>
            <a:ext cx="1818829" cy="495300"/>
          </a:xfrm>
          <a:prstGeom prst="roundRect">
            <a:avLst>
              <a:gd name="adj" fmla="val 50000"/>
            </a:avLst>
          </a:prstGeom>
          <a:solidFill>
            <a:srgbClr val="081826">
              <a:alpha val="66000"/>
            </a:srgbClr>
          </a:solidFill>
          <a:ln w="9525">
            <a:solidFill>
              <a:srgbClr val="FFFFFF">
                <a:alpha val="14000"/>
              </a:srgbClr>
            </a:solidFill>
            <a:prstDash val="solid"/>
          </a:ln>
        </p:spPr>
      </p:sp>
      <p:sp>
        <p:nvSpPr>
          <p:cNvPr id="11" name="Text 9"/>
          <p:cNvSpPr/>
          <p:nvPr/>
        </p:nvSpPr>
        <p:spPr>
          <a:xfrm>
            <a:off x="10275168" y="3769221"/>
            <a:ext cx="1494979"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New devices</a:t>
            </a:r>
            <a:endParaRPr lang="en-US" sz="1950" dirty="0"/>
          </a:p>
        </p:txBody>
      </p:sp>
      <p:sp>
        <p:nvSpPr>
          <p:cNvPr id="12" name="Shape 10"/>
          <p:cNvSpPr/>
          <p:nvPr/>
        </p:nvSpPr>
        <p:spPr>
          <a:xfrm>
            <a:off x="12008272" y="3645396"/>
            <a:ext cx="1506215" cy="495300"/>
          </a:xfrm>
          <a:prstGeom prst="roundRect">
            <a:avLst>
              <a:gd name="adj" fmla="val 50000"/>
            </a:avLst>
          </a:prstGeom>
          <a:solidFill>
            <a:srgbClr val="081826">
              <a:alpha val="66000"/>
            </a:srgbClr>
          </a:solidFill>
          <a:ln w="9525">
            <a:solidFill>
              <a:srgbClr val="FFFFFF">
                <a:alpha val="14000"/>
              </a:srgbClr>
            </a:solidFill>
            <a:prstDash val="solid"/>
          </a:ln>
        </p:spPr>
      </p:sp>
      <p:sp>
        <p:nvSpPr>
          <p:cNvPr id="13" name="Text 11"/>
          <p:cNvSpPr/>
          <p:nvPr/>
        </p:nvSpPr>
        <p:spPr>
          <a:xfrm>
            <a:off x="12208297" y="3769221"/>
            <a:ext cx="1182365"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New rules</a:t>
            </a:r>
            <a:endParaRPr lang="en-US" sz="1950" dirty="0"/>
          </a:p>
        </p:txBody>
      </p:sp>
      <p:sp>
        <p:nvSpPr>
          <p:cNvPr id="14" name="Shape 12"/>
          <p:cNvSpPr/>
          <p:nvPr/>
        </p:nvSpPr>
        <p:spPr>
          <a:xfrm>
            <a:off x="13628787" y="3645396"/>
            <a:ext cx="2394570" cy="495300"/>
          </a:xfrm>
          <a:prstGeom prst="roundRect">
            <a:avLst>
              <a:gd name="adj" fmla="val 50000"/>
            </a:avLst>
          </a:prstGeom>
          <a:solidFill>
            <a:srgbClr val="081826">
              <a:alpha val="66000"/>
            </a:srgbClr>
          </a:solidFill>
          <a:ln w="9525">
            <a:solidFill>
              <a:srgbClr val="FFFFFF">
                <a:alpha val="14000"/>
              </a:srgbClr>
            </a:solidFill>
            <a:prstDash val="solid"/>
          </a:ln>
        </p:spPr>
      </p:sp>
      <p:sp>
        <p:nvSpPr>
          <p:cNvPr id="15" name="Text 13"/>
          <p:cNvSpPr/>
          <p:nvPr/>
        </p:nvSpPr>
        <p:spPr>
          <a:xfrm>
            <a:off x="13828812" y="3769221"/>
            <a:ext cx="2070720"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New expectations</a:t>
            </a:r>
            <a:endParaRPr lang="en-US" sz="1950" dirty="0"/>
          </a:p>
        </p:txBody>
      </p:sp>
      <p:sp>
        <p:nvSpPr>
          <p:cNvPr id="16" name="Shape 14"/>
          <p:cNvSpPr/>
          <p:nvPr/>
        </p:nvSpPr>
        <p:spPr>
          <a:xfrm>
            <a:off x="11755264" y="4254996"/>
            <a:ext cx="2587898" cy="495300"/>
          </a:xfrm>
          <a:prstGeom prst="roundRect">
            <a:avLst>
              <a:gd name="adj" fmla="val 50000"/>
            </a:avLst>
          </a:prstGeom>
          <a:solidFill>
            <a:srgbClr val="081826">
              <a:alpha val="66000"/>
            </a:srgbClr>
          </a:solidFill>
          <a:ln w="9525">
            <a:solidFill>
              <a:srgbClr val="FFFFFF">
                <a:alpha val="14000"/>
              </a:srgbClr>
            </a:solidFill>
            <a:prstDash val="solid"/>
          </a:ln>
        </p:spPr>
      </p:sp>
      <p:sp>
        <p:nvSpPr>
          <p:cNvPr id="17" name="Text 15"/>
          <p:cNvSpPr/>
          <p:nvPr/>
        </p:nvSpPr>
        <p:spPr>
          <a:xfrm>
            <a:off x="11955289" y="4378821"/>
            <a:ext cx="2265485"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EEF4F8"/>
                </a:solidFill>
                <a:latin typeface="Arial" pitchFamily="34" charset="0"/>
                <a:ea typeface="Arial" pitchFamily="34" charset="-122"/>
                <a:cs typeface="Arial" pitchFamily="34" charset="-120"/>
              </a:rPr>
              <a:t>Fixing old shortcuts</a:t>
            </a:r>
            <a:endParaRPr lang="en-US" sz="1950" dirty="0"/>
          </a:p>
        </p:txBody>
      </p:sp>
      <p:sp>
        <p:nvSpPr>
          <p:cNvPr id="18" name="Text 16"/>
          <p:cNvSpPr/>
          <p:nvPr/>
        </p:nvSpPr>
        <p:spPr>
          <a:xfrm>
            <a:off x="12328736" y="8708157"/>
            <a:ext cx="1585131"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360" kern="0" dirty="0">
                <a:solidFill>
                  <a:srgbClr val="AEC3D1"/>
                </a:solidFill>
                <a:latin typeface="Arial" pitchFamily="34" charset="0"/>
                <a:ea typeface="Arial" pitchFamily="34" charset="-122"/>
                <a:cs typeface="Arial" pitchFamily="34" charset="-120"/>
              </a:rPr>
              <a:t>MAINTAIN</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3ECDF">
                  <a:alpha val="100000"/>
                </a:srgbClr>
              </a:gs>
              <a:gs pos="100000">
                <a:srgbClr val="E9DFCC">
                  <a:alpha val="100000"/>
                </a:srgbClr>
              </a:gs>
            </a:gsLst>
            <a:lin ang="5400000" scaled="0"/>
          </a:gradFill>
          <a:ln/>
        </p:spPr>
      </p:sp>
      <p:sp>
        <p:nvSpPr>
          <p:cNvPr id="3" name="Text 1"/>
          <p:cNvSpPr/>
          <p:nvPr/>
        </p:nvSpPr>
        <p:spPr>
          <a:xfrm>
            <a:off x="7827109" y="3259931"/>
            <a:ext cx="2633782" cy="266700"/>
          </a:xfrm>
          <a:prstGeom prst="rect">
            <a:avLst/>
          </a:prstGeom>
          <a:noFill/>
          <a:ln/>
        </p:spPr>
        <p:txBody>
          <a:bodyPr wrap="square" lIns="25400" tIns="25400" rIns="25400" bIns="25400" rtlCol="0" anchor="t">
            <a:normAutofit/>
          </a:bodyPr>
          <a:lstStyle/>
          <a:p>
            <a:pPr algn="ctr" indent="0" marL="0">
              <a:lnSpc>
                <a:spcPct val="87273"/>
              </a:lnSpc>
              <a:buNone/>
            </a:pPr>
            <a:r>
              <a:rPr lang="en-US" sz="1800" b="1" spc="432" kern="0" dirty="0">
                <a:solidFill>
                  <a:srgbClr val="B08A3C"/>
                </a:solidFill>
                <a:latin typeface="Arial" pitchFamily="34" charset="0"/>
                <a:ea typeface="Arial" pitchFamily="34" charset="-122"/>
                <a:cs typeface="Arial" pitchFamily="34" charset="-120"/>
              </a:rPr>
              <a:t>THE TAKEAWAY</a:t>
            </a:r>
            <a:endParaRPr lang="en-US" sz="18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572500" y="3869531"/>
            <a:ext cx="1143000" cy="762000"/>
          </a:xfrm>
          <a:prstGeom prst="rect">
            <a:avLst/>
          </a:prstGeom>
        </p:spPr>
      </p:pic>
      <p:sp>
        <p:nvSpPr>
          <p:cNvPr id="5" name="Text 2"/>
          <p:cNvSpPr/>
          <p:nvPr/>
        </p:nvSpPr>
        <p:spPr>
          <a:xfrm>
            <a:off x="2080260" y="5122069"/>
            <a:ext cx="14127480" cy="2019300"/>
          </a:xfrm>
          <a:prstGeom prst="rect">
            <a:avLst/>
          </a:prstGeom>
          <a:noFill/>
          <a:ln/>
        </p:spPr>
        <p:txBody>
          <a:bodyPr wrap="square" lIns="25400" tIns="25400" rIns="25400" bIns="25400" rtlCol="0" anchor="t">
            <a:normAutofit/>
          </a:bodyPr>
          <a:lstStyle/>
          <a:p>
            <a:pPr algn="ctr" indent="0" marL="0">
              <a:lnSpc>
                <a:spcPct val="91630"/>
              </a:lnSpc>
              <a:buNone/>
            </a:pPr>
            <a:r>
              <a:rPr lang="en-US" sz="7500" spc="-150" kern="0" dirty="0">
                <a:solidFill>
                  <a:srgbClr val="29211A"/>
                </a:solidFill>
                <a:latin typeface="Georgia" pitchFamily="34" charset="0"/>
                <a:ea typeface="Georgia" pitchFamily="34" charset="-122"/>
                <a:cs typeface="Georgia" pitchFamily="34" charset="-120"/>
              </a:rPr>
              <a:t>So how do you work well with the people who build this?</a:t>
            </a:r>
            <a:endParaRPr lang="en-US" sz="7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3ECDF">
                  <a:alpha val="100000"/>
                </a:srgbClr>
              </a:gs>
              <a:gs pos="100000">
                <a:srgbClr val="E9DFCC">
                  <a:alpha val="100000"/>
                </a:srgbClr>
              </a:gs>
            </a:gsLst>
            <a:lin ang="5400000" scaled="0"/>
          </a:gradFill>
          <a:ln/>
        </p:spPr>
      </p:sp>
      <p:sp>
        <p:nvSpPr>
          <p:cNvPr id="3" name="Text 1"/>
          <p:cNvSpPr/>
          <p:nvPr/>
        </p:nvSpPr>
        <p:spPr>
          <a:xfrm>
            <a:off x="1143000" y="914400"/>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B08A3C"/>
                </a:solidFill>
                <a:latin typeface="Arial" pitchFamily="34" charset="0"/>
                <a:ea typeface="Arial" pitchFamily="34" charset="-122"/>
                <a:cs typeface="Arial" pitchFamily="34" charset="-120"/>
              </a:rPr>
              <a:t>THE TAKEAWAY · THREE HABITS</a:t>
            </a:r>
            <a:endParaRPr lang="en-US" sz="1800" dirty="0"/>
          </a:p>
        </p:txBody>
      </p:sp>
      <p:sp>
        <p:nvSpPr>
          <p:cNvPr id="4" name="Text 2"/>
          <p:cNvSpPr/>
          <p:nvPr/>
        </p:nvSpPr>
        <p:spPr>
          <a:xfrm>
            <a:off x="1143000" y="1390650"/>
            <a:ext cx="9536817"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spc="-72" kern="0" dirty="0">
                <a:solidFill>
                  <a:srgbClr val="29211A"/>
                </a:solidFill>
                <a:latin typeface="Georgia" pitchFamily="34" charset="0"/>
                <a:ea typeface="Georgia" pitchFamily="34" charset="-122"/>
                <a:cs typeface="Georgia" pitchFamily="34" charset="-120"/>
              </a:rPr>
              <a:t>How to be a great partner.</a:t>
            </a:r>
            <a:endParaRPr lang="en-US" sz="4800" dirty="0"/>
          </a:p>
        </p:txBody>
      </p:sp>
      <p:sp>
        <p:nvSpPr>
          <p:cNvPr id="5" name="Shape 3"/>
          <p:cNvSpPr/>
          <p:nvPr/>
        </p:nvSpPr>
        <p:spPr>
          <a:xfrm>
            <a:off x="1143000" y="5776913"/>
            <a:ext cx="5105400" cy="3671888"/>
          </a:xfrm>
          <a:prstGeom prst="roundRect">
            <a:avLst>
              <a:gd name="adj" fmla="val 5188"/>
            </a:avLst>
          </a:prstGeom>
          <a:solidFill>
            <a:srgbClr val="FFFFFF"/>
          </a:solidFill>
          <a:ln w="9525">
            <a:solidFill>
              <a:srgbClr val="29211A">
                <a:alpha val="12000"/>
              </a:srgbClr>
            </a:solidFill>
            <a:prstDash val="solid"/>
          </a:ln>
          <a:effectLst>
            <a:outerShdw sx="100000" sy="100000" kx="0" ky="0" algn="bl" rotWithShape="0" blurRad="476250" dist="228600" dir="5400000">
              <a:srgbClr val="29211A">
                <a:alpha val="8000"/>
              </a:srgbClr>
            </a:outerShdw>
          </a:effectLst>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33525" y="6205538"/>
            <a:ext cx="685800" cy="685800"/>
          </a:xfrm>
          <a:prstGeom prst="rect">
            <a:avLst/>
          </a:prstGeom>
        </p:spPr>
      </p:pic>
      <p:sp>
        <p:nvSpPr>
          <p:cNvPr id="7" name="Text 4"/>
          <p:cNvSpPr/>
          <p:nvPr/>
        </p:nvSpPr>
        <p:spPr>
          <a:xfrm>
            <a:off x="1533525" y="7191375"/>
            <a:ext cx="4756785" cy="457200"/>
          </a:xfrm>
          <a:prstGeom prst="rect">
            <a:avLst/>
          </a:prstGeom>
          <a:noFill/>
          <a:ln/>
        </p:spPr>
        <p:txBody>
          <a:bodyPr wrap="square" lIns="25400" tIns="25400" rIns="25400" bIns="25400" rtlCol="0" anchor="t">
            <a:normAutofit/>
          </a:bodyPr>
          <a:lstStyle/>
          <a:p>
            <a:pPr algn="l" indent="0" marL="0">
              <a:lnSpc>
                <a:spcPct val="96703"/>
              </a:lnSpc>
              <a:buNone/>
            </a:pPr>
            <a:r>
              <a:rPr lang="en-US" sz="3000" dirty="0">
                <a:solidFill>
                  <a:srgbClr val="29211A"/>
                </a:solidFill>
                <a:latin typeface="Georgia" pitchFamily="34" charset="0"/>
                <a:ea typeface="Georgia" pitchFamily="34" charset="-122"/>
                <a:cs typeface="Georgia" pitchFamily="34" charset="-120"/>
              </a:rPr>
              <a:t>Ask for ranges.</a:t>
            </a:r>
            <a:endParaRPr lang="en-US" sz="3000" dirty="0"/>
          </a:p>
        </p:txBody>
      </p:sp>
      <p:sp>
        <p:nvSpPr>
          <p:cNvPr id="8" name="Text 5"/>
          <p:cNvSpPr/>
          <p:nvPr/>
        </p:nvSpPr>
        <p:spPr>
          <a:xfrm>
            <a:off x="1533525" y="7743825"/>
            <a:ext cx="4454081" cy="895350"/>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7A6C5A"/>
                </a:solidFill>
                <a:latin typeface="Arial" pitchFamily="34" charset="0"/>
                <a:ea typeface="Arial" pitchFamily="34" charset="-122"/>
                <a:cs typeface="Arial" pitchFamily="34" charset="-120"/>
              </a:rPr>
              <a:t>A confident single date deserves suspicion.</a:t>
            </a:r>
            <a:endParaRPr lang="en-US" sz="2250" dirty="0"/>
          </a:p>
        </p:txBody>
      </p:sp>
      <p:sp>
        <p:nvSpPr>
          <p:cNvPr id="9" name="Shape 6"/>
          <p:cNvSpPr/>
          <p:nvPr/>
        </p:nvSpPr>
        <p:spPr>
          <a:xfrm>
            <a:off x="6591300" y="5776913"/>
            <a:ext cx="5105400" cy="3671888"/>
          </a:xfrm>
          <a:prstGeom prst="roundRect">
            <a:avLst>
              <a:gd name="adj" fmla="val 5188"/>
            </a:avLst>
          </a:prstGeom>
          <a:solidFill>
            <a:srgbClr val="FFFFFF"/>
          </a:solidFill>
          <a:ln w="9525">
            <a:solidFill>
              <a:srgbClr val="29211A">
                <a:alpha val="12000"/>
              </a:srgbClr>
            </a:solidFill>
            <a:prstDash val="solid"/>
          </a:ln>
          <a:effectLst>
            <a:outerShdw sx="100000" sy="100000" kx="0" ky="0" algn="bl" rotWithShape="0" blurRad="476250" dist="228600" dir="5400000">
              <a:srgbClr val="29211A">
                <a:alpha val="8000"/>
              </a:srgbClr>
            </a:outerShdw>
          </a:effectLst>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81825" y="6205538"/>
            <a:ext cx="685800" cy="685800"/>
          </a:xfrm>
          <a:prstGeom prst="rect">
            <a:avLst/>
          </a:prstGeom>
        </p:spPr>
      </p:pic>
      <p:sp>
        <p:nvSpPr>
          <p:cNvPr id="11" name="Text 7"/>
          <p:cNvSpPr/>
          <p:nvPr/>
        </p:nvSpPr>
        <p:spPr>
          <a:xfrm>
            <a:off x="6981825" y="7191375"/>
            <a:ext cx="4454081" cy="876300"/>
          </a:xfrm>
          <a:prstGeom prst="rect">
            <a:avLst/>
          </a:prstGeom>
          <a:noFill/>
          <a:ln/>
        </p:spPr>
        <p:txBody>
          <a:bodyPr wrap="square" lIns="25400" tIns="25400" rIns="25400" bIns="25400" rtlCol="0" anchor="t">
            <a:normAutofit/>
          </a:bodyPr>
          <a:lstStyle/>
          <a:p>
            <a:pPr algn="l" indent="0" marL="0">
              <a:lnSpc>
                <a:spcPct val="96703"/>
              </a:lnSpc>
              <a:buNone/>
            </a:pPr>
            <a:r>
              <a:rPr lang="en-US" sz="3000" dirty="0">
                <a:solidFill>
                  <a:srgbClr val="29211A"/>
                </a:solidFill>
                <a:latin typeface="Georgia" pitchFamily="34" charset="0"/>
                <a:ea typeface="Georgia" pitchFamily="34" charset="-122"/>
                <a:cs typeface="Georgia" pitchFamily="34" charset="-120"/>
              </a:rPr>
              <a:t>Bring problems, not solutions.</a:t>
            </a:r>
            <a:endParaRPr lang="en-US" sz="3000" dirty="0"/>
          </a:p>
        </p:txBody>
      </p:sp>
      <p:sp>
        <p:nvSpPr>
          <p:cNvPr id="12" name="Text 8"/>
          <p:cNvSpPr/>
          <p:nvPr/>
        </p:nvSpPr>
        <p:spPr>
          <a:xfrm>
            <a:off x="6981825" y="8162925"/>
            <a:ext cx="4454081" cy="895350"/>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7A6C5A"/>
                </a:solidFill>
                <a:latin typeface="Arial" pitchFamily="34" charset="0"/>
                <a:ea typeface="Arial" pitchFamily="34" charset="-122"/>
                <a:cs typeface="Arial" pitchFamily="34" charset="-120"/>
              </a:rPr>
              <a:t>Let the team find the cheapest path to it.</a:t>
            </a:r>
            <a:endParaRPr lang="en-US" sz="2250" dirty="0"/>
          </a:p>
        </p:txBody>
      </p:sp>
      <p:sp>
        <p:nvSpPr>
          <p:cNvPr id="13" name="Shape 9"/>
          <p:cNvSpPr/>
          <p:nvPr/>
        </p:nvSpPr>
        <p:spPr>
          <a:xfrm>
            <a:off x="12039600" y="5776913"/>
            <a:ext cx="5105400" cy="3671888"/>
          </a:xfrm>
          <a:prstGeom prst="roundRect">
            <a:avLst>
              <a:gd name="adj" fmla="val 5188"/>
            </a:avLst>
          </a:prstGeom>
          <a:solidFill>
            <a:srgbClr val="FFFFFF"/>
          </a:solidFill>
          <a:ln w="9525">
            <a:solidFill>
              <a:srgbClr val="29211A">
                <a:alpha val="12000"/>
              </a:srgbClr>
            </a:solidFill>
            <a:prstDash val="solid"/>
          </a:ln>
          <a:effectLst>
            <a:outerShdw sx="100000" sy="100000" kx="0" ky="0" algn="bl" rotWithShape="0" blurRad="476250" dist="228600" dir="5400000">
              <a:srgbClr val="29211A">
                <a:alpha val="8000"/>
              </a:srgbClr>
            </a:outerShdw>
          </a:effectLst>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30125" y="6205538"/>
            <a:ext cx="685800" cy="685800"/>
          </a:xfrm>
          <a:prstGeom prst="rect">
            <a:avLst/>
          </a:prstGeom>
        </p:spPr>
      </p:pic>
      <p:sp>
        <p:nvSpPr>
          <p:cNvPr id="15" name="Text 10"/>
          <p:cNvSpPr/>
          <p:nvPr/>
        </p:nvSpPr>
        <p:spPr>
          <a:xfrm>
            <a:off x="12430125" y="7191375"/>
            <a:ext cx="4454081" cy="876300"/>
          </a:xfrm>
          <a:prstGeom prst="rect">
            <a:avLst/>
          </a:prstGeom>
          <a:noFill/>
          <a:ln/>
        </p:spPr>
        <p:txBody>
          <a:bodyPr wrap="square" lIns="25400" tIns="25400" rIns="25400" bIns="25400" rtlCol="0" anchor="t">
            <a:normAutofit/>
          </a:bodyPr>
          <a:lstStyle/>
          <a:p>
            <a:pPr algn="l" indent="0" marL="0">
              <a:lnSpc>
                <a:spcPct val="96703"/>
              </a:lnSpc>
              <a:buNone/>
            </a:pPr>
            <a:r>
              <a:rPr lang="en-US" sz="3000" dirty="0">
                <a:solidFill>
                  <a:srgbClr val="29211A"/>
                </a:solidFill>
                <a:latin typeface="Georgia" pitchFamily="34" charset="0"/>
                <a:ea typeface="Georgia" pitchFamily="34" charset="-122"/>
                <a:cs typeface="Georgia" pitchFamily="34" charset="-120"/>
              </a:rPr>
              <a:t>Treat questions as the work.</a:t>
            </a:r>
            <a:endParaRPr lang="en-US" sz="3000" dirty="0"/>
          </a:p>
        </p:txBody>
      </p:sp>
      <p:sp>
        <p:nvSpPr>
          <p:cNvPr id="16" name="Text 11"/>
          <p:cNvSpPr/>
          <p:nvPr/>
        </p:nvSpPr>
        <p:spPr>
          <a:xfrm>
            <a:off x="12430125" y="8162925"/>
            <a:ext cx="4454081" cy="895350"/>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7A6C5A"/>
                </a:solidFill>
                <a:latin typeface="Arial" pitchFamily="34" charset="0"/>
                <a:ea typeface="Arial" pitchFamily="34" charset="-122"/>
                <a:cs typeface="Arial" pitchFamily="34" charset="-120"/>
              </a:rPr>
              <a:t>A pile of questions is progress, not delay.</a:t>
            </a:r>
            <a:endParaRPr lang="en-US" sz="2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40A11"/>
        </a:solidFill>
      </p:bgPr>
    </p:bg>
    <p:spTree>
      <p:nvGrpSpPr>
        <p:cNvPr id="1" name=""/>
        <p:cNvGrpSpPr/>
        <p:nvPr/>
      </p:nvGrpSpPr>
      <p:grpSpPr>
        <a:xfrm>
          <a:off x="0" y="0"/>
          <a:ext cx="0" cy="0"/>
          <a:chOff x="0" y="0"/>
          <a:chExt cx="0" cy="0"/>
        </a:xfrm>
      </p:grpSpPr>
      <p:sp>
        <p:nvSpPr>
          <p:cNvPr id="2" name="Text 0"/>
          <p:cNvSpPr/>
          <p:nvPr/>
        </p:nvSpPr>
        <p:spPr>
          <a:xfrm>
            <a:off x="3580080" y="3801517"/>
            <a:ext cx="11127767" cy="2798266"/>
          </a:xfrm>
          <a:prstGeom prst="rect">
            <a:avLst/>
          </a:prstGeom>
          <a:noFill/>
          <a:ln/>
        </p:spPr>
        <p:txBody>
          <a:bodyPr wrap="square" lIns="25400" tIns="25400" rIns="25400" bIns="25400" rtlCol="0" anchor="t">
            <a:normAutofit/>
          </a:bodyPr>
          <a:lstStyle/>
          <a:p>
            <a:pPr algn="ctr" indent="0" marL="0">
              <a:lnSpc>
                <a:spcPct val="101152"/>
              </a:lnSpc>
              <a:buNone/>
            </a:pPr>
            <a:r>
              <a:rPr lang="en-US" sz="6300" i="1" spc="-63" kern="0" dirty="0">
                <a:solidFill>
                  <a:srgbClr val="EEF4F8"/>
                </a:solidFill>
                <a:latin typeface="Georgia" pitchFamily="34" charset="0"/>
                <a:ea typeface="Georgia" pitchFamily="34" charset="-122"/>
                <a:cs typeface="Georgia" pitchFamily="34" charset="-120"/>
              </a:rPr>
              <a:t>The most expensive thing you can build is the wrong thing quickly.</a:t>
            </a:r>
            <a:endParaRPr lang="en-US" sz="6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73247">
                  <a:alpha val="100000"/>
                </a:srgbClr>
              </a:gs>
              <a:gs pos="52000">
                <a:srgbClr val="0B1A29">
                  <a:alpha val="100000"/>
                </a:srgbClr>
              </a:gs>
              <a:gs pos="100000">
                <a:srgbClr val="06121D">
                  <a:alpha val="100000"/>
                </a:srgbClr>
              </a:gs>
            </a:gsLst>
            <a:path path="circle">
              <a:fillToRect l="78000" t="0" r="22000" b="100000"/>
            </a:path>
          </a:gradFill>
          <a:ln/>
        </p:spPr>
      </p:sp>
      <p:sp>
        <p:nvSpPr>
          <p:cNvPr id="3" name="Shape 1"/>
          <p:cNvSpPr/>
          <p:nvPr/>
        </p:nvSpPr>
        <p:spPr>
          <a:xfrm>
            <a:off x="13906500" y="5715000"/>
            <a:ext cx="4953000" cy="5334000"/>
          </a:xfrm>
          <a:prstGeom prst="rect">
            <a:avLst/>
          </a:prstGeom>
          <a:solidFill>
            <a:srgbClr val="5CC6E8">
              <a:alpha val="6000"/>
            </a:srgbClr>
          </a:solidFill>
          <a:ln/>
        </p:spPr>
      </p:sp>
      <p:sp>
        <p:nvSpPr>
          <p:cNvPr id="4" name="Text 2"/>
          <p:cNvSpPr/>
          <p:nvPr/>
        </p:nvSpPr>
        <p:spPr>
          <a:xfrm>
            <a:off x="1143000" y="3891632"/>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5CC6E8"/>
                </a:solidFill>
                <a:latin typeface="Arial" pitchFamily="34" charset="0"/>
                <a:ea typeface="Arial" pitchFamily="34" charset="-122"/>
                <a:cs typeface="Arial" pitchFamily="34" charset="-120"/>
              </a:rPr>
              <a:t>THANK YOU</a:t>
            </a:r>
            <a:endParaRPr lang="en-US" sz="1800" dirty="0"/>
          </a:p>
        </p:txBody>
      </p:sp>
      <p:sp>
        <p:nvSpPr>
          <p:cNvPr id="5" name="Text 3"/>
          <p:cNvSpPr/>
          <p:nvPr/>
        </p:nvSpPr>
        <p:spPr>
          <a:xfrm>
            <a:off x="1143000" y="4405982"/>
            <a:ext cx="17602200" cy="1270248"/>
          </a:xfrm>
          <a:prstGeom prst="rect">
            <a:avLst/>
          </a:prstGeom>
          <a:noFill/>
          <a:ln/>
        </p:spPr>
        <p:txBody>
          <a:bodyPr wrap="square" lIns="25400" tIns="25400" rIns="25400" bIns="25400" rtlCol="0" anchor="t">
            <a:normAutofit/>
          </a:bodyPr>
          <a:lstStyle/>
          <a:p>
            <a:pPr algn="l" indent="0" marL="0">
              <a:lnSpc>
                <a:spcPct val="86240"/>
              </a:lnSpc>
              <a:buNone/>
            </a:pPr>
            <a:r>
              <a:rPr lang="en-US" sz="9900" spc="-198" kern="0" dirty="0">
                <a:solidFill>
                  <a:srgbClr val="EEF4F8"/>
                </a:solidFill>
                <a:latin typeface="Georgia" pitchFamily="34" charset="0"/>
                <a:ea typeface="Georgia" pitchFamily="34" charset="-122"/>
                <a:cs typeface="Georgia" pitchFamily="34" charset="-120"/>
              </a:rPr>
              <a:t>Questions</a:t>
            </a:r>
            <a:endParaRPr lang="en-US" sz="9900" dirty="0"/>
          </a:p>
        </p:txBody>
      </p:sp>
      <p:sp>
        <p:nvSpPr>
          <p:cNvPr id="6" name="Text 4"/>
          <p:cNvSpPr/>
          <p:nvPr/>
        </p:nvSpPr>
        <p:spPr>
          <a:xfrm>
            <a:off x="1143000" y="6057230"/>
            <a:ext cx="17602200" cy="452438"/>
          </a:xfrm>
          <a:prstGeom prst="rect">
            <a:avLst/>
          </a:prstGeom>
          <a:noFill/>
          <a:ln/>
        </p:spPr>
        <p:txBody>
          <a:bodyPr wrap="square" lIns="25400" tIns="25400" rIns="25400" bIns="25400" rtlCol="0" anchor="t">
            <a:normAutofit/>
          </a:bodyPr>
          <a:lstStyle/>
          <a:p>
            <a:pPr algn="l" indent="0" marL="0">
              <a:buNone/>
            </a:pPr>
            <a:r>
              <a:rPr lang="en-US" sz="3000" dirty="0">
                <a:solidFill>
                  <a:srgbClr val="AEC3D1"/>
                </a:solidFill>
                <a:latin typeface="Arial" pitchFamily="34" charset="0"/>
                <a:ea typeface="Arial" pitchFamily="34" charset="-122"/>
                <a:cs typeface="Arial" pitchFamily="34" charset="-120"/>
              </a:rPr>
              <a:t>Your name · how to reach you</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2026-07-23T01:47:46Z</dcterms:created>
  <dcterms:modified xsi:type="dcterms:W3CDTF">2026-07-23T01:47:46Z</dcterms:modified>
</cp:coreProperties>
</file>