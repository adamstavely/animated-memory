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them back. Set the tone immediately and physically: yesterday they sat and listened; today they will stand up, draw, and argue. Tell them the day is built around their hands, not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callback so the two days feel like one argument. Yesterday you showed them the hidden work: the iceberg, the questions nobody asks, the data, the security, the policy. Then land the turn that makes today matter: if building the right thing is expensive, building the WRONG thing is catastrophic. Yesterday's closing line was that the most expensive thing you can build is the wrong thing quickly. Today is the discipline that stops that. Say plainly that they are the ones who can prevent it, because they know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statement out loud, slowly, reading one real quote under each. This is the single most important trust-building moment of the day — do not rush it, do not paraphrase their words into corporate language. Say two things explicitly. First: these came from their cards, and every card is in the pile even if it isn't on the wall. Second, ask directly: did we get these right, and is anything big missing? Take two or three corrections live and write them up. If they see you change a statement because of what they said, you own the room for the rest of the day.  FACILITATOR: table facilitators post the matching How Might We poster on their table during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of setup. Everything built for people carries an assumption about those people, and most bad tools are not badly made. They are made for someone who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classic story. A building gets complaints that the elevators are too slow. The engineering fix is expensive and slow: new motors, new shafts. Someone reframes the problem instead. People don't hate the wait — they hate the EMPTY wait. Mirrors go in. Complaints stop. The elevator was never made faster. The requested solution was 'faster elevators'; the actual job was 'make this wait tolerable.' Build what was requested and you spend a fortune solving it slowly; understand the job and you solve it cheaply. Then the uncomfortable half: engineers can't find that reframe alone, and neither can users alone. It only shows up when both are in the room. That is why they are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Generalize the elevator into something they can use. When someone asks for a feature, they've already done a private translation from their problem into a solution — usually based on a tool they've seen. That translation is useful information, but it is not the requirement. Then give permission for the rest of the day: nobody is being accused of asking for the wrong thing. The ask is genuinely valuable; it just isn't the whole story, and the job underneath is where the good options live.  FACILITATOR: optional 3-min table turn — each table fills one blank row with something they asked for recently and the job underneath. Take two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plain definition. Human-centered design means starting with a real understanding of the people who will use the thing, and staying with them the whole way through — not checking in at the end. The three circles show why it isn't just being nice: something can be lovable and unbuildable, or buildable and unwanted. The job is the overlap. Point out that today maps onto exactly these three circles: the morning is desirable, after lunch is feasible, and the backlog session is viable.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process model they should leave with, so teach it properly. Diamond one is about the PROBLEM. Discover = going wide: gathering everything, all the friction, no filtering — exactly what their index cards did yesterday. Define = narrowing to the problem worth solving — the How Might We statements on their tables. Diamond two is about the SOLUTION. Develop = going wide again with many possible answers — the studio they're about to do. Deliver = narrowing to what actually gets built — the afternoon. Name the discipline people find hardest: the widening steps feel like waste. Generating twelve ideas when you'll build one looks inefficient, and the instinct is to skip to the answer. But the quality of the final choice is capped by the quality of the options you generated. You cannot pick a good idea you never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failure is not bad engineering. It's skipping the first diamond entirely: someone has an idea, it goes straight into a plan, and eighteen months later a technically excellent thing arrives that nobody uses. Be candid here, including about your own organization — a little self-criticism buys enormous credibility with a skeptical room. Then connect it to yesterday: this is what 'the wrong thing quickly' actually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'what's in it for me' slide — make it concrete. Tell them what changes: they'll be asked about jobs, not features. They'll see rough things early — rough on purpose, because polished work is hard to criticize honestly. They'll be asked to react to something wrong rather than describe something right, since people are far better at critique than specification. And they should expect to be asked 'why' more than they're used to — that's not doubt, it's the first diamond.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diamond and tell them exactly where they're going. The problems are defined and on their tables. After the break, they widen. Set expectations for the anxiety about to arrive: they'll be asked to draw, most of them will hate the idea, and it will be fine. Send them to break on that note rather than explaining the exercise now — explaining the studio before a break wastes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the barrier hard and fast — half the room is quietly panicking about being asked to draw. Say it directly: nobody is judging the art, and the ugliest sketch in the room has won plenty of these before. Give the four rules. Quantity before quality (you can't pick a good idea you never had). Fast beats polished. Words on a sketch are allowed and encouraged. And no critique during generation — not even of your own idea — since the fastest way to kill a room's ideas is to evaluate them while they're still arriving.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throwaway warm-up on a neutral prompt so the first sketch of the day carries no stakes. Eight boxes, four minutes, one idea per box, silent. Push them when they stall around box four (everyone does) — the interesting ideas live after the obvious ones run out. When time's up, don't share. Just ask for a show of hands: who filled all eight, who surprised themselves. Then say the honest thing: boxes six through eight were the strange ones, and the strange ones are the point.  FACILITATOR: table facilitators sketch too. Visibly.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each table its How Might We statement — already on their poster. Tell them the one constraint that matters: design for the person in the quote, not for the whole organization. Specific beats universal every time — a solution that perfectly serves one real person usually serves many, while a solution designed for everyone serves nobody. Remind them they're still in the wide part of the diamond, so nobody should be converging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silent, because people find it strange: talking first means the loudest and most senior voice anchors the whole table, and you lose every idea that disagreed. Silence protects the quiet people — and the quiet people are frequently the ones doing the actual work being discussed. Everyone sketches alone. Words allowed. No talking, including facilitators.  FACILITATOR: enforce silence gently but firmly. Warn at 6 minutes and at 2. Watch for anyone frozen and put a marker in their hand with a whisper of 'just draw the annoying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gets 60 seconds to walk their table through their sketches — no defending, no apologizing (people will try constantly). Others may ask clarifying questions only, not 'have you considered.' Then each person places three dots on the ideas or fragments — anywhere on the table — that feel strongest, including their own. Say clearly: combining ideas is the goal, not choosing a winner, and the best concept usually turns out to be a mash-up of three people's fragments.  FACILITATOR: keep 60 seconds per person hard. A quiet timer at each table beats the host calling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they converge for the first time. Each table builds one concept, drawing from the dotted ideas, and fills the poster: name it, who it's for, the job it does, how it works in three steps, and what changes for that person. Stress the last line hardest — 'what changes for that person' is what makes it a design instead of a feature list, and it's the line the afternoon will lean on. Tell them the name matters more than they think: a concept with a name survives a meeting, and a concept without one does not.  FACILITATOR: at 15 minutes remaining, warn tables still arguing about scope to pick one thing and go deep. Photograph all individual sketches now while tables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table posts their concept on the wall and presents for three minutes. Hold the time strictly and visibly so later tables get the same airtime as the first. Do NOT open the floor to critique after each one. Ask the room for one question per concept — questions only — and hold everything else. After all tables have gone, spend the last 5 minutes on patterns rather than judgment: which concepts serve the same underlying job, where two tables independently landed in the same place, which How Might We statements produced the most energy. Independent convergence is a strong signal — name it out loud when it happens. Close by telling them what happens over lunch: engineering leads will study these posters and come back with honest answers, not polite ones.  FACILITATOR: scribe captures every concept name and its one-line job into a running list. Leads get that list plus photos at the start of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session very deliberately — the room is bracing to have their morning's work marked. Say plainly that nothing here is a verdict, and no idea is being killed in this session. The goal is shared understanding: they know the job, engineering knows the terrain, and neither knows the whole map alone. Remind them of yesterday's material — this is where the iceberg, the data, the security, and the policy come back and land on their own ideas. That's the moment the two days click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three questions and be explicit about the one that's missing. Engineering answers these three, and the room will notice 'should we build it?' is not on the list. Tell them why: that question is theirs, not engineering's, and they'll answer it themselves in the next session. Engineering's job is to tell them what a thing costs and what's unknown. Deciding what's worth it belongs to the people who know the mission. Saying this out loud transfers ownership and changes how the whole afternoon feels.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shared vocabulary before feedback starts, or every comment will be heard as yes or no. Well-trodden means the team has done this shape of thing before and can estimate with confidence. Some unknowns means it's buildable but there are open questions that change the size. Genuine unknowns means real investigation is needed before anyone can honestly estimate. Make the reframe explicit: when an engineer says something is hard, they usually don't mean impossible — they mean uncertain, and uncertainty is what makes estimates wide. That connects straight back to yesterday's 'ask for ranges, not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each concept in turn — with six tables, roughly 6 to 7 minutes each, so hold the clock. For each: the table gives a 30-second reminder of the job it does. An engineering lead answers the three questions honestly, using the vocabulary from the previous slide. Then two minutes of open exchange, where the most valuable move is engineering asking 'what if we solved it this way instead?' and the table saying whether that would still do the job. Some of the best outcomes of the day come from exactly that trade. Coach the leads beforehand on two habits: always say what IS easy before what is hard (starting with the obstacle reads as a no); and when something is genuinely difficult, explain which of yesterday's forces is causing it — data, security, policy, or a dependency — since the room now has the vocabulary to understand the answer.  FACILITATOR: scribe fills a card per concept in real time — difficulty band, the single biggest unknown, and any alternative approach suggested. These cards drive the next session; finish before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shape of what emerged, not each individual answer. Usually a few patterns are worth naming: several concepts share one underlying dependency, or the hardest parts cluster around data quality or permissions rather than the visible feature. Say clearly that no idea was eliminated, and that the room now knows something it did not know this morning — what each idea would actually cost. Send them to break with the next question already planted: now that you know the price of each, which ones are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handing them the question you withheld earlier. Engineering answered 'could we' and 'what would it take.' Now the room answers 'should we' — and they own it. Be honest about the constraint that makes the session necessary: everything on that wall could be built, and not everything can be built at once, so sequence is the real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grid and, more importantly, who owns which axis. The vertical axis is impact on their actual work — only they can place that. The horizontal is effort and uncertainty — engineering already placed it during the reality check. Neither side can fill in the other's axis, which is the whole reason both are in the room. Walk the quadrants briefly. High impact + light effort = easy wins, soon. High impact + heavy effort = need real planning, not optimism. Low impact + light effort = pleasant, but don't let them crowd out the first two. Low impact + heavy effort = not now. Be precise about 'not now': it means not in this cycle, reasons recorded, and it can change. It doesn't mean the idea was bad or that it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2x2 sorts by feel. BRICE lets you put an actual number on the same instinct — useful when two concepts land in the same square and you need a tiebreaker. Walk the five letters. Business importance: does it serve the mission (1 to 3). Reach: how many people it touches. Impact: how much it changes their work — the vertical axis again. Confidence: how sure we are, as a percentage, straight from the reality check. Effort: the cost engineering placed on the horizontal. Multiply the first four, divide by effort; higher scores rise to the top. Say who owns what: the room owns Business, Reach, and Impact; engineering owns Effort; Confidence is the shared honesty from today. Then the warning — do not worship the number. It ranks; it does not decide. It is a conversation starter, not a verdict. BRICE is a business-weighted take on RICE (credit: Kasey Kaplan).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same four shortlist concepts run through BRICE so they see the method produce a ranking, not a truth. Read one row out loud end to end so the multiplication feels concrete, then point at the order it produced. Make two points. First, the ranking here matches the instinct from the grid — that's reassuring, and when the number and the room disagree, that disagreement is the useful part, worth talking through rather than trusting the formula blindly. Second, the only inputs engineering set were Effort and half of Confidence; everything else came from the room, which is exactly the ownership split from the grid. Close by repeating: it ranks, it doesn't decide — the decision is still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standing up at the wall — sitting kills the energy of the last working session of a two-day summit. Engineering places each concept card horizontally first, using the difficulty bands from the reality check. Then the room places each card vertically by impact. The argument that happens while placing is the actual output, so don't rush past disagreement. When two people place the same card very differently, ask both who they were thinking about — they're usually both right about different people, and that difference is real information. Have the scribe capture the disagreements rather than resolving them away.  FACILITATOR: timebox debate on any single card to 2 minutes. If unresolved, place it on the line and move on. Scribe records the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 to a shortlist of three to five — the second diamond closing. Resist a longer list even under pressure, and say why: a prioritized list of fifteen is not prioritized, it's a wish list with numbers on it, and everything on it moves slowly. For each shortlisted item, state three things aloud so the room hears the commitment take shape: the job it serves, the biggest unknown from the reality check, and what the immediate next step is. Then be straight about what this is and isn't. It IS a shared recommendation with real evidence behind it. It is NOT yet a funded, dated plan — pretending otherwise would break the trust built over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protects everyone whose idea didn't make the shortlist — most of the room. Everything on the wall goes into the opportunity backlog with its difficulty band, its unknowns, and the reasoning from today attached. Explain what the record is worth: when circumstances change, when a dependency lands, or when someone asks for something similar next quarter, the work already exists rather than starting over. Say the sentence directly — no idea from today disappears — and mean it, because they will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them the distance travelled in one day — in the middle of a workshop people lose track of it. They arrived with friction they lived with privately. They now have framed problems, concepts they made themselves, honest feasibility from the people who would build them, and an agreed sequence. Name the thing that makes it different from a normal wish list: every item carries both sides of the story — the job and the cost — which is exactly what usually goes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this is the part that determines whether the summit mattered. Everyone in the room has been to a workshop that produced nothing, and they're quietly waiting to find out if this was one. Answer that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line by line. Names of people, not team names, and real dates, not 'in the coming weeks.' At minimum cover: who writes up the day and when they'll circulate it, who owns each shortlisted concept, when the feasibility unknowns get investigated, and when this group hears back next. If something is genuinely uncertain, commit to a date for the DECISION rather than inventing a date for the outcome. That distinction is both honest and useful — this audience will respect it more than optimism.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for the ongoing relationship — one summit is not human-centered design, it's an event. Tell them concretely what to expect: they'll be shown rough work early and asked to react, some of them will be asked to be tested WITH rather than presented TO, and the loop repeats rather than ending at a launch. Ask for something specific in return — a request lands better than a vague invitation. Ask who's willing to be contacted for 30 minutes when a rough version exists, and get hands or names in the room while the energy is still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two days together in a short close — keep it short, because a long ending undoes a good day. Day 1 was honest about the cost of building: the hidden work, the data, the security, the policy, the reason a small ask becomes a long project. Day 2 was about making sure that cost buys something worth having. Reflect back one or two specific things the room produced today, by name — specificity is what makes gratitude credible. Then land the closing pair. Yesterday ended on the most expensive thing you can build being the wrong thing quickly. Today ends on its answer: they are the reason it will be the right thing. Thank them by name where you can, and finish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people gather their things. Make sure the concept wall stays up long enough for people to photograph it, and that they know the write-up is coming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3.png"/><Relationship Id="rId4" Type="http://schemas.openxmlformats.org/officeDocument/2006/relationships/image" Target="../media/image-34-4.svg"/><Relationship Id="rId5" Type="http://schemas.openxmlformats.org/officeDocument/2006/relationships/image" Target="../media/image-34-5.png"/><Relationship Id="rId6" Type="http://schemas.openxmlformats.org/officeDocument/2006/relationships/image" Target="../media/image-34-6.sv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D1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41D16">
                  <a:alpha val="30000"/>
                </a:srgbClr>
              </a:gs>
              <a:gs pos="30000">
                <a:srgbClr val="241D16">
                  <a:alpha val="10000"/>
                </a:srgbClr>
              </a:gs>
              <a:gs pos="72000">
                <a:srgbClr val="241D16">
                  <a:alpha val="72000"/>
                </a:srgbClr>
              </a:gs>
              <a:gs pos="100000">
                <a:srgbClr val="241D16">
                  <a:alpha val="96000"/>
                </a:srgbClr>
              </a:gs>
            </a:gsLst>
            <a:lin ang="5400000" scaled="0"/>
          </a:gradFill>
          <a:ln/>
        </p:spPr>
      </p:sp>
      <p:sp>
        <p:nvSpPr>
          <p:cNvPr id="3" name="Text 1"/>
          <p:cNvSpPr/>
          <p:nvPr/>
        </p:nvSpPr>
        <p:spPr>
          <a:xfrm>
            <a:off x="1143000" y="5860554"/>
            <a:ext cx="8984047"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504" kern="0" dirty="0">
                <a:solidFill>
                  <a:srgbClr val="D99B34"/>
                </a:solidFill>
                <a:latin typeface="Arial" pitchFamily="34" charset="0"/>
                <a:ea typeface="Arial" pitchFamily="34" charset="-122"/>
                <a:cs typeface="Arial" pitchFamily="34" charset="-120"/>
              </a:rPr>
              <a:t>DAY 2 · HUMAN-CENTERED DESIGN</a:t>
            </a:r>
            <a:endParaRPr lang="en-US" sz="1800" dirty="0"/>
          </a:p>
        </p:txBody>
      </p:sp>
      <p:sp>
        <p:nvSpPr>
          <p:cNvPr id="4" name="Text 2"/>
          <p:cNvSpPr/>
          <p:nvPr/>
        </p:nvSpPr>
        <p:spPr>
          <a:xfrm>
            <a:off x="1143000" y="6336804"/>
            <a:ext cx="8412335" cy="2502396"/>
          </a:xfrm>
          <a:prstGeom prst="rect">
            <a:avLst/>
          </a:prstGeom>
          <a:noFill/>
          <a:ln/>
        </p:spPr>
        <p:txBody>
          <a:bodyPr wrap="square" lIns="25400" tIns="25400" rIns="25400" bIns="25400" rtlCol="0" anchor="t">
            <a:normAutofit/>
          </a:bodyPr>
          <a:lstStyle/>
          <a:p>
            <a:pPr algn="l" indent="0" marL="0">
              <a:lnSpc>
                <a:spcPct val="86240"/>
              </a:lnSpc>
              <a:buNone/>
            </a:pPr>
            <a:r>
              <a:rPr lang="en-US" sz="9900" spc="-198" kern="0" dirty="0">
                <a:solidFill>
                  <a:srgbClr val="F5EFE3"/>
                </a:solidFill>
                <a:latin typeface="Georgia" pitchFamily="34" charset="0"/>
                <a:ea typeface="Georgia" pitchFamily="34" charset="-122"/>
                <a:cs typeface="Georgia" pitchFamily="34" charset="-120"/>
              </a:rPr>
              <a:t>Designed Around You</a:t>
            </a:r>
            <a:endParaRPr lang="en-US" sz="9900" dirty="0"/>
          </a:p>
        </p:txBody>
      </p:sp>
      <p:sp>
        <p:nvSpPr>
          <p:cNvPr id="5" name="Text 3"/>
          <p:cNvSpPr/>
          <p:nvPr/>
        </p:nvSpPr>
        <p:spPr>
          <a:xfrm>
            <a:off x="1143000" y="9105900"/>
            <a:ext cx="8984047" cy="419100"/>
          </a:xfrm>
          <a:prstGeom prst="rect">
            <a:avLst/>
          </a:prstGeom>
          <a:noFill/>
          <a:ln/>
        </p:spPr>
        <p:txBody>
          <a:bodyPr wrap="square" lIns="25400" tIns="25400" rIns="25400" bIns="25400" rtlCol="0" anchor="t">
            <a:normAutofit/>
          </a:bodyPr>
          <a:lstStyle/>
          <a:p>
            <a:pPr algn="l" indent="0" marL="0">
              <a:buNone/>
            </a:pPr>
            <a:r>
              <a:rPr lang="en-US" sz="3000" i="1" dirty="0">
                <a:solidFill>
                  <a:srgbClr val="D8C9B2"/>
                </a:solidFill>
                <a:latin typeface="Georgia" pitchFamily="34" charset="0"/>
                <a:ea typeface="Georgia" pitchFamily="34" charset="-122"/>
                <a:cs typeface="Georgia" pitchFamily="34" charset="-120"/>
              </a:rPr>
              <a:t>Yesterday was about the work. Today is about your hands.</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Shape 1"/>
          <p:cNvSpPr/>
          <p:nvPr/>
        </p:nvSpPr>
        <p:spPr>
          <a:xfrm>
            <a:off x="1143000" y="3181350"/>
            <a:ext cx="4000500" cy="4000500"/>
          </a:xfrm>
          <a:prstGeom prst="roundRect">
            <a:avLst>
              <a:gd name="adj" fmla="val 4762"/>
            </a:avLst>
          </a:prstGeom>
          <a:gradFill rotWithShape="1">
            <a:gsLst>
              <a:gs pos="0">
                <a:srgbClr val="16344A">
                  <a:alpha val="100000"/>
                </a:srgbClr>
              </a:gs>
              <a:gs pos="34000">
                <a:srgbClr val="0D2233">
                  <a:alpha val="100000"/>
                </a:srgbClr>
              </a:gs>
              <a:gs pos="34200">
                <a:srgbClr val="081826">
                  <a:alpha val="100000"/>
                </a:srgbClr>
              </a:gs>
              <a:gs pos="100000">
                <a:srgbClr val="040E17">
                  <a:alpha val="100000"/>
                </a:srgbClr>
              </a:gs>
            </a:gsLst>
            <a:lin ang="5400000" scaled="0"/>
          </a:gradFill>
          <a:ln/>
        </p:spPr>
      </p:sp>
      <p:sp>
        <p:nvSpPr>
          <p:cNvPr id="4" name="Shape 2"/>
          <p:cNvSpPr/>
          <p:nvPr/>
        </p:nvSpPr>
        <p:spPr>
          <a:xfrm>
            <a:off x="1143000" y="4541490"/>
            <a:ext cx="4000500" cy="19050"/>
          </a:xfrm>
          <a:prstGeom prst="rect">
            <a:avLst/>
          </a:prstGeom>
          <a:gradFill rotWithShape="1">
            <a:gsLst>
              <a:gs pos="0">
                <a:srgbClr val="7CC5E8">
                  <a:alpha val="0"/>
                </a:srgbClr>
              </a:gs>
              <a:gs pos="50000">
                <a:srgbClr val="7CC5E8">
                  <a:alpha val="50000"/>
                </a:srgbClr>
              </a:gs>
              <a:gs pos="100000">
                <a:srgbClr val="7CC5E8">
                  <a:alpha val="0"/>
                </a:srgbClr>
              </a:gs>
            </a:gsLst>
            <a:lin ang="0" scaled="0"/>
          </a:gradFill>
          <a:ln/>
        </p:spPr>
      </p:sp>
      <p:sp>
        <p:nvSpPr>
          <p:cNvPr id="5" name="Shape 3"/>
          <p:cNvSpPr/>
          <p:nvPr/>
        </p:nvSpPr>
        <p:spPr>
          <a:xfrm>
            <a:off x="2103127" y="3501330"/>
            <a:ext cx="2080245" cy="3360390"/>
          </a:xfrm>
          <a:prstGeom prst="rect">
            <a:avLst/>
          </a:prstGeom>
          <a:gradFill rotWithShape="1">
            <a:gsLst>
              <a:gs pos="0">
                <a:srgbClr val="E6EEF4">
                  <a:alpha val="100000"/>
                </a:srgbClr>
              </a:gs>
              <a:gs pos="34000">
                <a:srgbClr val="9FBCCF">
                  <a:alpha val="100000"/>
                </a:srgbClr>
              </a:gs>
              <a:gs pos="62000">
                <a:srgbClr val="3F6D8B">
                  <a:alpha val="100000"/>
                </a:srgbClr>
              </a:gs>
              <a:gs pos="100000">
                <a:srgbClr val="173A53">
                  <a:alpha val="100000"/>
                </a:srgbClr>
              </a:gs>
            </a:gsLst>
            <a:lin ang="5400000" scaled="0"/>
          </a:gradFill>
          <a:ln/>
        </p:spPr>
      </p:sp>
      <p:sp>
        <p:nvSpPr>
          <p:cNvPr id="6" name="Text 4"/>
          <p:cNvSpPr/>
          <p:nvPr/>
        </p:nvSpPr>
        <p:spPr>
          <a:xfrm>
            <a:off x="2732001" y="9086850"/>
            <a:ext cx="898699" cy="266700"/>
          </a:xfrm>
          <a:prstGeom prst="rect">
            <a:avLst/>
          </a:prstGeom>
          <a:noFill/>
          <a:ln/>
        </p:spPr>
        <p:txBody>
          <a:bodyPr wrap="none" lIns="25400" tIns="25400" rIns="25400" bIns="25400" rtlCol="0" anchor="t">
            <a:normAutofit/>
          </a:bodyPr>
          <a:lstStyle/>
          <a:p>
            <a:pPr algn="l" indent="0" marL="0">
              <a:lnSpc>
                <a:spcPct val="87273"/>
              </a:lnSpc>
              <a:buNone/>
            </a:pPr>
            <a:r>
              <a:rPr lang="en-US" sz="1800" b="1" spc="288" kern="0" dirty="0">
                <a:solidFill>
                  <a:srgbClr val="9FB3C2"/>
                </a:solidFill>
                <a:latin typeface="Arial" pitchFamily="34" charset="0"/>
                <a:ea typeface="Arial" pitchFamily="34" charset="-122"/>
                <a:cs typeface="Arial" pitchFamily="34" charset="-120"/>
              </a:rPr>
              <a:t>DAY 1</a:t>
            </a:r>
            <a:endParaRPr lang="en-US" sz="1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05500" y="4895850"/>
            <a:ext cx="1143000" cy="571500"/>
          </a:xfrm>
          <a:prstGeom prst="rect">
            <a:avLst/>
          </a:prstGeom>
        </p:spPr>
      </p:pic>
      <p:sp>
        <p:nvSpPr>
          <p:cNvPr id="8" name="Text 5"/>
          <p:cNvSpPr/>
          <p:nvPr/>
        </p:nvSpPr>
        <p:spPr>
          <a:xfrm>
            <a:off x="7810500" y="2916882"/>
            <a:ext cx="1026795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THE BRIDGE</a:t>
            </a:r>
            <a:endParaRPr lang="en-US" sz="1800" dirty="0"/>
          </a:p>
        </p:txBody>
      </p:sp>
      <p:sp>
        <p:nvSpPr>
          <p:cNvPr id="9" name="Text 6"/>
          <p:cNvSpPr/>
          <p:nvPr/>
        </p:nvSpPr>
        <p:spPr>
          <a:xfrm>
            <a:off x="7810500" y="3412182"/>
            <a:ext cx="6680738" cy="2424410"/>
          </a:xfrm>
          <a:prstGeom prst="rect">
            <a:avLst/>
          </a:prstGeom>
          <a:noFill/>
          <a:ln/>
        </p:spPr>
        <p:txBody>
          <a:bodyPr wrap="square" lIns="25400" tIns="25400" rIns="25400" bIns="25400" rtlCol="0" anchor="t">
            <a:normAutofit/>
          </a:bodyPr>
          <a:lstStyle/>
          <a:p>
            <a:pPr algn="l" indent="0" marL="0">
              <a:lnSpc>
                <a:spcPct val="95634"/>
              </a:lnSpc>
              <a:buNone/>
            </a:pPr>
            <a:r>
              <a:rPr lang="en-US" sz="4350" spc="-65" kern="0" dirty="0">
                <a:solidFill>
                  <a:srgbClr val="8A7A64"/>
                </a:solidFill>
                <a:latin typeface="Georgia" pitchFamily="34" charset="0"/>
                <a:ea typeface="Georgia" pitchFamily="34" charset="-122"/>
                <a:cs typeface="Georgia" pitchFamily="34" charset="-120"/>
              </a:rPr>
              <a:t>Yesterday: </a:t>
            </a:r>
            <a:pPr algn="l" indent="0" marL="0">
              <a:lnSpc>
                <a:spcPct val="95634"/>
              </a:lnSpc>
              <a:buNone/>
            </a:pPr>
            <a:r>
              <a:rPr lang="en-US" sz="4350" spc="-65" kern="0" dirty="0">
                <a:solidFill>
                  <a:srgbClr val="29211A"/>
                </a:solidFill>
                <a:latin typeface="Georgia" pitchFamily="34" charset="0"/>
                <a:ea typeface="Georgia" pitchFamily="34" charset="-122"/>
                <a:cs typeface="Georgia" pitchFamily="34" charset="-120"/>
              </a:rPr>
              <a:t>why it takes so long. </a:t>
            </a:r>
            <a:pPr algn="l" indent="0" marL="0">
              <a:lnSpc>
                <a:spcPct val="95634"/>
              </a:lnSpc>
              <a:buNone/>
            </a:pPr>
            <a:r>
              <a:rPr lang="en-US" sz="4350" spc="-65" kern="0" dirty="0">
                <a:solidFill>
                  <a:srgbClr val="8A7A64"/>
                </a:solidFill>
                <a:latin typeface="Georgia" pitchFamily="34" charset="0"/>
                <a:ea typeface="Georgia" pitchFamily="34" charset="-122"/>
                <a:cs typeface="Georgia" pitchFamily="34" charset="-120"/>
              </a:rPr>
              <a:t>Today: </a:t>
            </a:r>
            <a:pPr algn="l" indent="0" marL="0">
              <a:lnSpc>
                <a:spcPct val="95634"/>
              </a:lnSpc>
              <a:buNone/>
            </a:pPr>
            <a:r>
              <a:rPr lang="en-US" sz="4350" spc="-65" kern="0" dirty="0">
                <a:solidFill>
                  <a:srgbClr val="29211A"/>
                </a:solidFill>
                <a:latin typeface="Georgia" pitchFamily="34" charset="0"/>
                <a:ea typeface="Georgia" pitchFamily="34" charset="-122"/>
                <a:cs typeface="Georgia" pitchFamily="34" charset="-120"/>
              </a:rPr>
              <a:t>how we make sure it's the right thing.</a:t>
            </a:r>
            <a:endParaRPr lang="en-US" sz="4350" dirty="0"/>
          </a:p>
        </p:txBody>
      </p:sp>
      <p:sp>
        <p:nvSpPr>
          <p:cNvPr id="10" name="Text 7"/>
          <p:cNvSpPr/>
          <p:nvPr/>
        </p:nvSpPr>
        <p:spPr>
          <a:xfrm>
            <a:off x="7810500" y="6160443"/>
            <a:ext cx="5731011"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4A3F33"/>
                </a:solidFill>
                <a:latin typeface="Arial" pitchFamily="34" charset="0"/>
                <a:ea typeface="Arial" pitchFamily="34" charset="-122"/>
                <a:cs typeface="Arial" pitchFamily="34" charset="-120"/>
              </a:rPr>
              <a:t>Building the right thing is expensive. Building the </a:t>
            </a:r>
            <a:pPr algn="l" indent="0" marL="0">
              <a:lnSpc>
                <a:spcPct val="130435"/>
              </a:lnSpc>
              <a:buNone/>
            </a:pPr>
            <a:r>
              <a:rPr lang="en-US" sz="2250" i="1" dirty="0">
                <a:solidFill>
                  <a:srgbClr val="4A3F33"/>
                </a:solidFill>
                <a:latin typeface="Arial" pitchFamily="34" charset="0"/>
                <a:ea typeface="Arial" pitchFamily="34" charset="-122"/>
                <a:cs typeface="Arial" pitchFamily="34" charset="-120"/>
              </a:rPr>
              <a:t>wrong </a:t>
            </a:r>
            <a:pPr algn="l" indent="0" marL="0">
              <a:lnSpc>
                <a:spcPct val="130435"/>
              </a:lnSpc>
              <a:buNone/>
            </a:pPr>
            <a:r>
              <a:rPr lang="en-US" sz="2250" dirty="0">
                <a:solidFill>
                  <a:srgbClr val="4A3F33"/>
                </a:solidFill>
                <a:latin typeface="Arial" pitchFamily="34" charset="0"/>
                <a:ea typeface="Arial" pitchFamily="34" charset="-122"/>
                <a:cs typeface="Arial" pitchFamily="34" charset="-120"/>
              </a:rPr>
              <a:t>thing is catastrophic — and you are how we tell them apart.</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723900"/>
            <a:ext cx="9246639" cy="533400"/>
          </a:xfrm>
          <a:prstGeom prst="rect">
            <a:avLst/>
          </a:prstGeom>
          <a:noFill/>
          <a:ln/>
        </p:spPr>
        <p:txBody>
          <a:bodyPr wrap="square" lIns="25400" tIns="25400" rIns="25400" bIns="25400" rtlCol="0" anchor="t">
            <a:normAutofit/>
          </a:bodyPr>
          <a:lstStyle/>
          <a:p>
            <a:pPr algn="l" indent="0" marL="0">
              <a:lnSpc>
                <a:spcPct val="88136"/>
              </a:lnSpc>
              <a:buNone/>
            </a:pPr>
            <a:r>
              <a:rPr lang="en-US" sz="3900" spc="-58" kern="0" dirty="0">
                <a:solidFill>
                  <a:srgbClr val="29211A"/>
                </a:solidFill>
                <a:latin typeface="Georgia" pitchFamily="34" charset="0"/>
                <a:ea typeface="Georgia" pitchFamily="34" charset="-122"/>
                <a:cs typeface="Georgia" pitchFamily="34" charset="-120"/>
              </a:rPr>
              <a:t>You wrote these. We just organized them.</a:t>
            </a:r>
            <a:endParaRPr lang="en-US" sz="3900" dirty="0"/>
          </a:p>
        </p:txBody>
      </p:sp>
      <p:sp>
        <p:nvSpPr>
          <p:cNvPr id="4" name="Text 2"/>
          <p:cNvSpPr/>
          <p:nvPr/>
        </p:nvSpPr>
        <p:spPr>
          <a:xfrm rot="-180000">
            <a:off x="13867134" y="750094"/>
            <a:ext cx="3374900" cy="457200"/>
          </a:xfrm>
          <a:prstGeom prst="rect">
            <a:avLst/>
          </a:prstGeom>
          <a:noFill/>
          <a:ln/>
        </p:spPr>
        <p:txBody>
          <a:bodyPr wrap="none" lIns="25400" tIns="25400" rIns="25400" bIns="25400" rtlCol="0" anchor="t">
            <a:normAutofit/>
          </a:bodyPr>
          <a:lstStyle/>
          <a:p>
            <a:pPr algn="l" indent="0" marL="0">
              <a:buNone/>
            </a:pPr>
            <a:r>
              <a:rPr lang="en-US" sz="2850" dirty="0">
                <a:solidFill>
                  <a:srgbClr val="CF4B2B"/>
                </a:solidFill>
                <a:latin typeface="Arial" pitchFamily="34" charset="0"/>
                <a:ea typeface="Arial" pitchFamily="34" charset="-122"/>
                <a:cs typeface="Arial" pitchFamily="34" charset="-120"/>
              </a:rPr>
              <a:t>your words, not ours</a:t>
            </a:r>
            <a:endParaRPr lang="en-US" sz="2850" dirty="0"/>
          </a:p>
        </p:txBody>
      </p:sp>
      <p:sp>
        <p:nvSpPr>
          <p:cNvPr id="5" name="Shape 3"/>
          <p:cNvSpPr/>
          <p:nvPr/>
        </p:nvSpPr>
        <p:spPr>
          <a:xfrm>
            <a:off x="1143000" y="1504950"/>
            <a:ext cx="7896225" cy="4045744"/>
          </a:xfrm>
          <a:prstGeom prst="roundRect">
            <a:avLst>
              <a:gd name="adj" fmla="val 3296"/>
            </a:avLst>
          </a:prstGeom>
          <a:solidFill>
            <a:srgbClr val="F5EFE3"/>
          </a:solidFill>
          <a:ln/>
        </p:spPr>
      </p:sp>
      <p:sp>
        <p:nvSpPr>
          <p:cNvPr id="6" name="Shape 4"/>
          <p:cNvSpPr/>
          <p:nvPr/>
        </p:nvSpPr>
        <p:spPr>
          <a:xfrm>
            <a:off x="1143000" y="5541169"/>
            <a:ext cx="7896225" cy="9525"/>
          </a:xfrm>
          <a:prstGeom prst="rect">
            <a:avLst/>
          </a:prstGeom>
          <a:solidFill>
            <a:srgbClr val="29211A">
              <a:alpha val="14000"/>
            </a:srgbClr>
          </a:solidFill>
          <a:ln/>
        </p:spPr>
      </p:sp>
      <p:sp>
        <p:nvSpPr>
          <p:cNvPr id="7" name="Shape 5"/>
          <p:cNvSpPr/>
          <p:nvPr/>
        </p:nvSpPr>
        <p:spPr>
          <a:xfrm>
            <a:off x="1143000" y="1504950"/>
            <a:ext cx="7896225" cy="9525"/>
          </a:xfrm>
          <a:prstGeom prst="rect">
            <a:avLst/>
          </a:prstGeom>
          <a:solidFill>
            <a:srgbClr val="29211A">
              <a:alpha val="14000"/>
            </a:srgbClr>
          </a:solidFill>
          <a:ln/>
        </p:spPr>
      </p:sp>
      <p:sp>
        <p:nvSpPr>
          <p:cNvPr id="8" name="Shape 6"/>
          <p:cNvSpPr/>
          <p:nvPr/>
        </p:nvSpPr>
        <p:spPr>
          <a:xfrm>
            <a:off x="1143000" y="1504950"/>
            <a:ext cx="57150" cy="4045744"/>
          </a:xfrm>
          <a:prstGeom prst="rect">
            <a:avLst/>
          </a:prstGeom>
          <a:solidFill>
            <a:srgbClr val="CF4B2B"/>
          </a:solidFill>
          <a:ln/>
        </p:spPr>
      </p:sp>
      <p:sp>
        <p:nvSpPr>
          <p:cNvPr id="9" name="Shape 7"/>
          <p:cNvSpPr/>
          <p:nvPr/>
        </p:nvSpPr>
        <p:spPr>
          <a:xfrm>
            <a:off x="9029700" y="1504950"/>
            <a:ext cx="9525" cy="4045744"/>
          </a:xfrm>
          <a:prstGeom prst="rect">
            <a:avLst/>
          </a:prstGeom>
          <a:solidFill>
            <a:srgbClr val="29211A">
              <a:alpha val="14000"/>
            </a:srgbClr>
          </a:solidFill>
          <a:ln/>
        </p:spPr>
      </p:sp>
      <p:sp>
        <p:nvSpPr>
          <p:cNvPr id="10" name="Text 8"/>
          <p:cNvSpPr/>
          <p:nvPr/>
        </p:nvSpPr>
        <p:spPr>
          <a:xfrm>
            <a:off x="1504950" y="1781175"/>
            <a:ext cx="7436549" cy="757386"/>
          </a:xfrm>
          <a:prstGeom prst="rect">
            <a:avLst/>
          </a:prstGeom>
          <a:noFill/>
          <a:ln/>
        </p:spPr>
        <p:txBody>
          <a:bodyPr wrap="square" lIns="25400" tIns="25400" rIns="25400" bIns="25400" rtlCol="0" anchor="t">
            <a:normAutofit/>
          </a:bodyPr>
          <a:lstStyle/>
          <a:p>
            <a:pPr algn="l" indent="0" marL="0">
              <a:lnSpc>
                <a:spcPct val="103452"/>
              </a:lnSpc>
              <a:buNone/>
            </a:pPr>
            <a:r>
              <a:rPr lang="en-US" sz="2400" dirty="0">
                <a:solidFill>
                  <a:srgbClr val="29211A"/>
                </a:solidFill>
                <a:latin typeface="Georgia" pitchFamily="34" charset="0"/>
                <a:ea typeface="Georgia" pitchFamily="34" charset="-122"/>
                <a:cs typeface="Georgia" pitchFamily="34" charset="-120"/>
              </a:rPr>
              <a:t>How might we help someone trust a number without checking it three separate ways?</a:t>
            </a:r>
            <a:endParaRPr lang="en-US" sz="2400" dirty="0"/>
          </a:p>
        </p:txBody>
      </p:sp>
      <p:sp>
        <p:nvSpPr>
          <p:cNvPr id="11" name="Text 9"/>
          <p:cNvSpPr/>
          <p:nvPr/>
        </p:nvSpPr>
        <p:spPr>
          <a:xfrm>
            <a:off x="1504950" y="4636294"/>
            <a:ext cx="7436549" cy="676275"/>
          </a:xfrm>
          <a:prstGeom prst="rect">
            <a:avLst/>
          </a:prstGeom>
          <a:noFill/>
          <a:ln/>
        </p:spPr>
        <p:txBody>
          <a:bodyPr wrap="square" lIns="25400" tIns="25400" rIns="25400" bIns="25400" rtlCol="0" anchor="t">
            <a:normAutofit/>
          </a:bodyPr>
          <a:lstStyle/>
          <a:p>
            <a:pPr algn="l" indent="0" marL="0">
              <a:buNone/>
            </a:pPr>
            <a:r>
              <a:rPr lang="en-US" sz="2175" dirty="0">
                <a:solidFill>
                  <a:srgbClr val="4A3F33"/>
                </a:solidFill>
                <a:latin typeface="Arial" pitchFamily="34" charset="0"/>
                <a:ea typeface="Arial" pitchFamily="34" charset="-122"/>
                <a:cs typeface="Arial" pitchFamily="34" charset="-120"/>
              </a:rPr>
              <a:t>"I don't trust the report, so I rebuild it by hand every Monday."</a:t>
            </a:r>
            <a:endParaRPr lang="en-US" sz="2175" dirty="0"/>
          </a:p>
        </p:txBody>
      </p:sp>
      <p:sp>
        <p:nvSpPr>
          <p:cNvPr id="12" name="Shape 10"/>
          <p:cNvSpPr/>
          <p:nvPr/>
        </p:nvSpPr>
        <p:spPr>
          <a:xfrm>
            <a:off x="9248775" y="1504950"/>
            <a:ext cx="7896225" cy="4045744"/>
          </a:xfrm>
          <a:prstGeom prst="roundRect">
            <a:avLst>
              <a:gd name="adj" fmla="val 3296"/>
            </a:avLst>
          </a:prstGeom>
          <a:solidFill>
            <a:srgbClr val="F5EFE3"/>
          </a:solidFill>
          <a:ln/>
        </p:spPr>
      </p:sp>
      <p:sp>
        <p:nvSpPr>
          <p:cNvPr id="13" name="Shape 11"/>
          <p:cNvSpPr/>
          <p:nvPr/>
        </p:nvSpPr>
        <p:spPr>
          <a:xfrm>
            <a:off x="9248775" y="5541169"/>
            <a:ext cx="7896225" cy="9525"/>
          </a:xfrm>
          <a:prstGeom prst="rect">
            <a:avLst/>
          </a:prstGeom>
          <a:solidFill>
            <a:srgbClr val="29211A">
              <a:alpha val="14000"/>
            </a:srgbClr>
          </a:solidFill>
          <a:ln/>
        </p:spPr>
      </p:sp>
      <p:sp>
        <p:nvSpPr>
          <p:cNvPr id="14" name="Shape 12"/>
          <p:cNvSpPr/>
          <p:nvPr/>
        </p:nvSpPr>
        <p:spPr>
          <a:xfrm>
            <a:off x="9248775" y="1504950"/>
            <a:ext cx="7896225" cy="9525"/>
          </a:xfrm>
          <a:prstGeom prst="rect">
            <a:avLst/>
          </a:prstGeom>
          <a:solidFill>
            <a:srgbClr val="29211A">
              <a:alpha val="14000"/>
            </a:srgbClr>
          </a:solidFill>
          <a:ln/>
        </p:spPr>
      </p:sp>
      <p:sp>
        <p:nvSpPr>
          <p:cNvPr id="15" name="Shape 13"/>
          <p:cNvSpPr/>
          <p:nvPr/>
        </p:nvSpPr>
        <p:spPr>
          <a:xfrm>
            <a:off x="9248775" y="1504950"/>
            <a:ext cx="57150" cy="4045744"/>
          </a:xfrm>
          <a:prstGeom prst="rect">
            <a:avLst/>
          </a:prstGeom>
          <a:solidFill>
            <a:srgbClr val="2F6F86"/>
          </a:solidFill>
          <a:ln/>
        </p:spPr>
      </p:sp>
      <p:sp>
        <p:nvSpPr>
          <p:cNvPr id="16" name="Shape 14"/>
          <p:cNvSpPr/>
          <p:nvPr/>
        </p:nvSpPr>
        <p:spPr>
          <a:xfrm>
            <a:off x="17135475" y="1504950"/>
            <a:ext cx="9525" cy="4045744"/>
          </a:xfrm>
          <a:prstGeom prst="rect">
            <a:avLst/>
          </a:prstGeom>
          <a:solidFill>
            <a:srgbClr val="29211A">
              <a:alpha val="14000"/>
            </a:srgbClr>
          </a:solidFill>
          <a:ln/>
        </p:spPr>
      </p:sp>
      <p:sp>
        <p:nvSpPr>
          <p:cNvPr id="17" name="Text 15"/>
          <p:cNvSpPr/>
          <p:nvPr/>
        </p:nvSpPr>
        <p:spPr>
          <a:xfrm>
            <a:off x="9610725" y="1781175"/>
            <a:ext cx="7436549" cy="757386"/>
          </a:xfrm>
          <a:prstGeom prst="rect">
            <a:avLst/>
          </a:prstGeom>
          <a:noFill/>
          <a:ln/>
        </p:spPr>
        <p:txBody>
          <a:bodyPr wrap="square" lIns="25400" tIns="25400" rIns="25400" bIns="25400" rtlCol="0" anchor="t">
            <a:normAutofit/>
          </a:bodyPr>
          <a:lstStyle/>
          <a:p>
            <a:pPr algn="l" indent="0" marL="0">
              <a:lnSpc>
                <a:spcPct val="103452"/>
              </a:lnSpc>
              <a:buNone/>
            </a:pPr>
            <a:r>
              <a:rPr lang="en-US" sz="2400" dirty="0">
                <a:solidFill>
                  <a:srgbClr val="29211A"/>
                </a:solidFill>
                <a:latin typeface="Georgia" pitchFamily="34" charset="0"/>
                <a:ea typeface="Georgia" pitchFamily="34" charset="-122"/>
                <a:cs typeface="Georgia" pitchFamily="34" charset="-120"/>
              </a:rPr>
              <a:t>How might we let people find what they need without knowing which system it lives in?</a:t>
            </a:r>
            <a:endParaRPr lang="en-US" sz="2400" dirty="0"/>
          </a:p>
        </p:txBody>
      </p:sp>
      <p:sp>
        <p:nvSpPr>
          <p:cNvPr id="18" name="Text 16"/>
          <p:cNvSpPr/>
          <p:nvPr/>
        </p:nvSpPr>
        <p:spPr>
          <a:xfrm>
            <a:off x="9610725" y="4955381"/>
            <a:ext cx="7941945" cy="357188"/>
          </a:xfrm>
          <a:prstGeom prst="rect">
            <a:avLst/>
          </a:prstGeom>
          <a:noFill/>
          <a:ln/>
        </p:spPr>
        <p:txBody>
          <a:bodyPr wrap="square" lIns="25400" tIns="25400" rIns="25400" bIns="25400" rtlCol="0" anchor="t">
            <a:normAutofit/>
          </a:bodyPr>
          <a:lstStyle/>
          <a:p>
            <a:pPr algn="l" indent="0" marL="0">
              <a:buNone/>
            </a:pPr>
            <a:r>
              <a:rPr lang="en-US" sz="2175" dirty="0">
                <a:solidFill>
                  <a:srgbClr val="4A3F33"/>
                </a:solidFill>
                <a:latin typeface="Arial" pitchFamily="34" charset="0"/>
                <a:ea typeface="Arial" pitchFamily="34" charset="-122"/>
                <a:cs typeface="Arial" pitchFamily="34" charset="-120"/>
              </a:rPr>
              <a:t>"I open four tools before I can answer one question."</a:t>
            </a:r>
            <a:endParaRPr lang="en-US" sz="2175" dirty="0"/>
          </a:p>
        </p:txBody>
      </p:sp>
      <p:sp>
        <p:nvSpPr>
          <p:cNvPr id="19" name="Shape 17"/>
          <p:cNvSpPr/>
          <p:nvPr/>
        </p:nvSpPr>
        <p:spPr>
          <a:xfrm>
            <a:off x="1143000" y="5760244"/>
            <a:ext cx="7896225" cy="3726656"/>
          </a:xfrm>
          <a:prstGeom prst="roundRect">
            <a:avLst>
              <a:gd name="adj" fmla="val 3578"/>
            </a:avLst>
          </a:prstGeom>
          <a:solidFill>
            <a:srgbClr val="F5EFE3"/>
          </a:solidFill>
          <a:ln/>
        </p:spPr>
      </p:sp>
      <p:sp>
        <p:nvSpPr>
          <p:cNvPr id="20" name="Shape 18"/>
          <p:cNvSpPr/>
          <p:nvPr/>
        </p:nvSpPr>
        <p:spPr>
          <a:xfrm>
            <a:off x="1143000" y="9477375"/>
            <a:ext cx="7896225" cy="9525"/>
          </a:xfrm>
          <a:prstGeom prst="rect">
            <a:avLst/>
          </a:prstGeom>
          <a:solidFill>
            <a:srgbClr val="29211A">
              <a:alpha val="14000"/>
            </a:srgbClr>
          </a:solidFill>
          <a:ln/>
        </p:spPr>
      </p:sp>
      <p:sp>
        <p:nvSpPr>
          <p:cNvPr id="21" name="Shape 19"/>
          <p:cNvSpPr/>
          <p:nvPr/>
        </p:nvSpPr>
        <p:spPr>
          <a:xfrm>
            <a:off x="1143000" y="5760244"/>
            <a:ext cx="7896225" cy="9525"/>
          </a:xfrm>
          <a:prstGeom prst="rect">
            <a:avLst/>
          </a:prstGeom>
          <a:solidFill>
            <a:srgbClr val="29211A">
              <a:alpha val="14000"/>
            </a:srgbClr>
          </a:solidFill>
          <a:ln/>
        </p:spPr>
      </p:sp>
      <p:sp>
        <p:nvSpPr>
          <p:cNvPr id="22" name="Shape 20"/>
          <p:cNvSpPr/>
          <p:nvPr/>
        </p:nvSpPr>
        <p:spPr>
          <a:xfrm>
            <a:off x="1143000" y="5760244"/>
            <a:ext cx="57150" cy="3726656"/>
          </a:xfrm>
          <a:prstGeom prst="rect">
            <a:avLst/>
          </a:prstGeom>
          <a:solidFill>
            <a:srgbClr val="6D9A54"/>
          </a:solidFill>
          <a:ln/>
        </p:spPr>
      </p:sp>
      <p:sp>
        <p:nvSpPr>
          <p:cNvPr id="23" name="Shape 21"/>
          <p:cNvSpPr/>
          <p:nvPr/>
        </p:nvSpPr>
        <p:spPr>
          <a:xfrm>
            <a:off x="9029700" y="5760244"/>
            <a:ext cx="9525" cy="3726656"/>
          </a:xfrm>
          <a:prstGeom prst="rect">
            <a:avLst/>
          </a:prstGeom>
          <a:solidFill>
            <a:srgbClr val="29211A">
              <a:alpha val="14000"/>
            </a:srgbClr>
          </a:solidFill>
          <a:ln/>
        </p:spPr>
      </p:sp>
      <p:sp>
        <p:nvSpPr>
          <p:cNvPr id="24" name="Text 22"/>
          <p:cNvSpPr/>
          <p:nvPr/>
        </p:nvSpPr>
        <p:spPr>
          <a:xfrm>
            <a:off x="1504950" y="6036469"/>
            <a:ext cx="7436549" cy="757386"/>
          </a:xfrm>
          <a:prstGeom prst="rect">
            <a:avLst/>
          </a:prstGeom>
          <a:noFill/>
          <a:ln/>
        </p:spPr>
        <p:txBody>
          <a:bodyPr wrap="square" lIns="25400" tIns="25400" rIns="25400" bIns="25400" rtlCol="0" anchor="t">
            <a:normAutofit/>
          </a:bodyPr>
          <a:lstStyle/>
          <a:p>
            <a:pPr algn="l" indent="0" marL="0">
              <a:lnSpc>
                <a:spcPct val="103452"/>
              </a:lnSpc>
              <a:buNone/>
            </a:pPr>
            <a:r>
              <a:rPr lang="en-US" sz="2400" dirty="0">
                <a:solidFill>
                  <a:srgbClr val="29211A"/>
                </a:solidFill>
                <a:latin typeface="Georgia" pitchFamily="34" charset="0"/>
                <a:ea typeface="Georgia" pitchFamily="34" charset="-122"/>
                <a:cs typeface="Georgia" pitchFamily="34" charset="-120"/>
              </a:rPr>
              <a:t>How might we make the routine request take a minute instead of an afternoon?</a:t>
            </a:r>
            <a:endParaRPr lang="en-US" sz="2400" dirty="0"/>
          </a:p>
        </p:txBody>
      </p:sp>
      <p:sp>
        <p:nvSpPr>
          <p:cNvPr id="25" name="Text 23"/>
          <p:cNvSpPr/>
          <p:nvPr/>
        </p:nvSpPr>
        <p:spPr>
          <a:xfrm>
            <a:off x="1504950" y="8891588"/>
            <a:ext cx="7941945" cy="357188"/>
          </a:xfrm>
          <a:prstGeom prst="rect">
            <a:avLst/>
          </a:prstGeom>
          <a:noFill/>
          <a:ln/>
        </p:spPr>
        <p:txBody>
          <a:bodyPr wrap="square" lIns="25400" tIns="25400" rIns="25400" bIns="25400" rtlCol="0" anchor="t">
            <a:normAutofit/>
          </a:bodyPr>
          <a:lstStyle/>
          <a:p>
            <a:pPr algn="l" indent="0" marL="0">
              <a:buNone/>
            </a:pPr>
            <a:r>
              <a:rPr lang="en-US" sz="2175" dirty="0">
                <a:solidFill>
                  <a:srgbClr val="4A3F33"/>
                </a:solidFill>
                <a:latin typeface="Arial" pitchFamily="34" charset="0"/>
                <a:ea typeface="Arial" pitchFamily="34" charset="-122"/>
                <a:cs typeface="Arial" pitchFamily="34" charset="-120"/>
              </a:rPr>
              <a:t>"The form is ten screens for something I do every day."</a:t>
            </a:r>
            <a:endParaRPr lang="en-US" sz="2175" dirty="0"/>
          </a:p>
        </p:txBody>
      </p:sp>
      <p:sp>
        <p:nvSpPr>
          <p:cNvPr id="26" name="Shape 24"/>
          <p:cNvSpPr/>
          <p:nvPr/>
        </p:nvSpPr>
        <p:spPr>
          <a:xfrm>
            <a:off x="9248775" y="5760244"/>
            <a:ext cx="7896225" cy="3726656"/>
          </a:xfrm>
          <a:prstGeom prst="roundRect">
            <a:avLst>
              <a:gd name="adj" fmla="val 3578"/>
            </a:avLst>
          </a:prstGeom>
          <a:solidFill>
            <a:srgbClr val="F5EFE3"/>
          </a:solidFill>
          <a:ln/>
        </p:spPr>
      </p:sp>
      <p:sp>
        <p:nvSpPr>
          <p:cNvPr id="27" name="Shape 25"/>
          <p:cNvSpPr/>
          <p:nvPr/>
        </p:nvSpPr>
        <p:spPr>
          <a:xfrm>
            <a:off x="9248775" y="9477375"/>
            <a:ext cx="7896225" cy="9525"/>
          </a:xfrm>
          <a:prstGeom prst="rect">
            <a:avLst/>
          </a:prstGeom>
          <a:solidFill>
            <a:srgbClr val="29211A">
              <a:alpha val="14000"/>
            </a:srgbClr>
          </a:solidFill>
          <a:ln/>
        </p:spPr>
      </p:sp>
      <p:sp>
        <p:nvSpPr>
          <p:cNvPr id="28" name="Shape 26"/>
          <p:cNvSpPr/>
          <p:nvPr/>
        </p:nvSpPr>
        <p:spPr>
          <a:xfrm>
            <a:off x="9248775" y="5760244"/>
            <a:ext cx="7896225" cy="9525"/>
          </a:xfrm>
          <a:prstGeom prst="rect">
            <a:avLst/>
          </a:prstGeom>
          <a:solidFill>
            <a:srgbClr val="29211A">
              <a:alpha val="14000"/>
            </a:srgbClr>
          </a:solidFill>
          <a:ln/>
        </p:spPr>
      </p:sp>
      <p:sp>
        <p:nvSpPr>
          <p:cNvPr id="29" name="Shape 27"/>
          <p:cNvSpPr/>
          <p:nvPr/>
        </p:nvSpPr>
        <p:spPr>
          <a:xfrm>
            <a:off x="9248775" y="5760244"/>
            <a:ext cx="57150" cy="3726656"/>
          </a:xfrm>
          <a:prstGeom prst="rect">
            <a:avLst/>
          </a:prstGeom>
          <a:solidFill>
            <a:srgbClr val="D99B34"/>
          </a:solidFill>
          <a:ln/>
        </p:spPr>
      </p:sp>
      <p:sp>
        <p:nvSpPr>
          <p:cNvPr id="30" name="Shape 28"/>
          <p:cNvSpPr/>
          <p:nvPr/>
        </p:nvSpPr>
        <p:spPr>
          <a:xfrm>
            <a:off x="17135475" y="5760244"/>
            <a:ext cx="9525" cy="3726656"/>
          </a:xfrm>
          <a:prstGeom prst="rect">
            <a:avLst/>
          </a:prstGeom>
          <a:solidFill>
            <a:srgbClr val="29211A">
              <a:alpha val="14000"/>
            </a:srgbClr>
          </a:solidFill>
          <a:ln/>
        </p:spPr>
      </p:sp>
      <p:sp>
        <p:nvSpPr>
          <p:cNvPr id="31" name="Text 29"/>
          <p:cNvSpPr/>
          <p:nvPr/>
        </p:nvSpPr>
        <p:spPr>
          <a:xfrm>
            <a:off x="9610725" y="6036469"/>
            <a:ext cx="7436549" cy="757386"/>
          </a:xfrm>
          <a:prstGeom prst="rect">
            <a:avLst/>
          </a:prstGeom>
          <a:noFill/>
          <a:ln/>
        </p:spPr>
        <p:txBody>
          <a:bodyPr wrap="square" lIns="25400" tIns="25400" rIns="25400" bIns="25400" rtlCol="0" anchor="t">
            <a:normAutofit/>
          </a:bodyPr>
          <a:lstStyle/>
          <a:p>
            <a:pPr algn="l" indent="0" marL="0">
              <a:lnSpc>
                <a:spcPct val="103452"/>
              </a:lnSpc>
              <a:buNone/>
            </a:pPr>
            <a:r>
              <a:rPr lang="en-US" sz="2400" dirty="0">
                <a:solidFill>
                  <a:srgbClr val="29211A"/>
                </a:solidFill>
                <a:latin typeface="Georgia" pitchFamily="34" charset="0"/>
                <a:ea typeface="Georgia" pitchFamily="34" charset="-122"/>
                <a:cs typeface="Georgia" pitchFamily="34" charset="-120"/>
              </a:rPr>
              <a:t>How might we tell someone what changed without making them go looking for it?</a:t>
            </a:r>
            <a:endParaRPr lang="en-US" sz="2400" dirty="0"/>
          </a:p>
        </p:txBody>
      </p:sp>
      <p:sp>
        <p:nvSpPr>
          <p:cNvPr id="32" name="Text 30"/>
          <p:cNvSpPr/>
          <p:nvPr/>
        </p:nvSpPr>
        <p:spPr>
          <a:xfrm>
            <a:off x="9610725" y="8891588"/>
            <a:ext cx="7941945" cy="357188"/>
          </a:xfrm>
          <a:prstGeom prst="rect">
            <a:avLst/>
          </a:prstGeom>
          <a:noFill/>
          <a:ln/>
        </p:spPr>
        <p:txBody>
          <a:bodyPr wrap="square" lIns="25400" tIns="25400" rIns="25400" bIns="25400" rtlCol="0" anchor="t">
            <a:normAutofit/>
          </a:bodyPr>
          <a:lstStyle/>
          <a:p>
            <a:pPr algn="l" indent="0" marL="0">
              <a:buNone/>
            </a:pPr>
            <a:r>
              <a:rPr lang="en-US" sz="2175" dirty="0">
                <a:solidFill>
                  <a:srgbClr val="4A3F33"/>
                </a:solidFill>
                <a:latin typeface="Arial" pitchFamily="34" charset="0"/>
                <a:ea typeface="Arial" pitchFamily="34" charset="-122"/>
                <a:cs typeface="Arial" pitchFamily="34" charset="-120"/>
              </a:rPr>
              <a:t>"Something moved and nobody told me until it broke."</a:t>
            </a:r>
            <a:endParaRPr lang="en-US" sz="21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01A"/>
        </a:solidFill>
      </p:bgPr>
    </p:bg>
    <p:spTree>
      <p:nvGrpSpPr>
        <p:cNvPr id="1" name=""/>
        <p:cNvGrpSpPr/>
        <p:nvPr/>
      </p:nvGrpSpPr>
      <p:grpSpPr>
        <a:xfrm>
          <a:off x="0" y="0"/>
          <a:ext cx="0" cy="0"/>
          <a:chOff x="0" y="0"/>
          <a:chExt cx="0" cy="0"/>
        </a:xfrm>
      </p:grpSpPr>
      <p:sp>
        <p:nvSpPr>
          <p:cNvPr id="2" name="Text 0"/>
          <p:cNvSpPr/>
          <p:nvPr/>
        </p:nvSpPr>
        <p:spPr>
          <a:xfrm>
            <a:off x="1143000" y="3247281"/>
            <a:ext cx="121539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504" kern="0" dirty="0">
                <a:solidFill>
                  <a:srgbClr val="D99B34"/>
                </a:solidFill>
                <a:latin typeface="Arial" pitchFamily="34" charset="0"/>
                <a:ea typeface="Arial" pitchFamily="34" charset="-122"/>
                <a:cs typeface="Arial" pitchFamily="34" charset="-120"/>
              </a:rPr>
              <a:t>BLOCK 1</a:t>
            </a:r>
            <a:endParaRPr lang="en-US" sz="1800" dirty="0"/>
          </a:p>
        </p:txBody>
      </p:sp>
      <p:sp>
        <p:nvSpPr>
          <p:cNvPr id="3" name="Text 1"/>
          <p:cNvSpPr/>
          <p:nvPr/>
        </p:nvSpPr>
        <p:spPr>
          <a:xfrm>
            <a:off x="1143000" y="3761631"/>
            <a:ext cx="11380470" cy="1725513"/>
          </a:xfrm>
          <a:prstGeom prst="rect">
            <a:avLst/>
          </a:prstGeom>
          <a:noFill/>
          <a:ln/>
        </p:spPr>
        <p:txBody>
          <a:bodyPr wrap="square" lIns="25400" tIns="25400" rIns="25400" bIns="25400" rtlCol="0" anchor="t">
            <a:normAutofit/>
          </a:bodyPr>
          <a:lstStyle/>
          <a:p>
            <a:pPr algn="l" indent="0" marL="0">
              <a:lnSpc>
                <a:spcPct val="90388"/>
              </a:lnSpc>
              <a:buNone/>
            </a:pPr>
            <a:r>
              <a:rPr lang="en-US" sz="6450" spc="-129" kern="0" dirty="0">
                <a:solidFill>
                  <a:srgbClr val="F5EFE3"/>
                </a:solidFill>
                <a:latin typeface="Georgia" pitchFamily="34" charset="0"/>
                <a:ea typeface="Georgia" pitchFamily="34" charset="-122"/>
                <a:cs typeface="Georgia" pitchFamily="34" charset="-120"/>
              </a:rPr>
              <a:t>Technology designed around humans</a:t>
            </a:r>
            <a:endParaRPr lang="en-US" sz="6450" dirty="0"/>
          </a:p>
        </p:txBody>
      </p:sp>
      <p:sp>
        <p:nvSpPr>
          <p:cNvPr id="4" name="Text 2"/>
          <p:cNvSpPr/>
          <p:nvPr/>
        </p:nvSpPr>
        <p:spPr>
          <a:xfrm>
            <a:off x="1143000" y="5830044"/>
            <a:ext cx="5056752"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C8B9A2"/>
                </a:solidFill>
                <a:latin typeface="Arial" pitchFamily="34" charset="0"/>
                <a:ea typeface="Arial" pitchFamily="34" charset="-122"/>
                <a:cs typeface="Arial" pitchFamily="34" charset="-120"/>
              </a:rPr>
              <a:t>Most bad tools aren't badly made. They're made for someone who doesn't exist.</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A STORY · THE SLOW ELEVATOR</a:t>
            </a:r>
            <a:endParaRPr lang="en-US" sz="1800" dirty="0"/>
          </a:p>
        </p:txBody>
      </p:sp>
      <p:sp>
        <p:nvSpPr>
          <p:cNvPr id="4" name="Text 2"/>
          <p:cNvSpPr/>
          <p:nvPr/>
        </p:nvSpPr>
        <p:spPr>
          <a:xfrm>
            <a:off x="1143000" y="1333500"/>
            <a:ext cx="17602200" cy="691828"/>
          </a:xfrm>
          <a:prstGeom prst="rect">
            <a:avLst/>
          </a:prstGeom>
          <a:noFill/>
          <a:ln/>
        </p:spPr>
        <p:txBody>
          <a:bodyPr wrap="square" lIns="25400" tIns="25400" rIns="25400" bIns="25400" rtlCol="0" anchor="t">
            <a:normAutofit/>
          </a:bodyPr>
          <a:lstStyle/>
          <a:p>
            <a:pPr algn="l" indent="0" marL="0">
              <a:lnSpc>
                <a:spcPct val="91520"/>
              </a:lnSpc>
              <a:buNone/>
            </a:pPr>
            <a:r>
              <a:rPr lang="en-US" sz="4950" spc="-74" kern="0" dirty="0">
                <a:solidFill>
                  <a:srgbClr val="29211A"/>
                </a:solidFill>
                <a:latin typeface="Georgia" pitchFamily="34" charset="0"/>
                <a:ea typeface="Georgia" pitchFamily="34" charset="-122"/>
                <a:cs typeface="Georgia" pitchFamily="34" charset="-120"/>
              </a:rPr>
              <a:t>The problem wasn't the speed. It was the waiting.</a:t>
            </a:r>
            <a:endParaRPr lang="en-US" sz="4950" dirty="0"/>
          </a:p>
        </p:txBody>
      </p:sp>
      <p:sp>
        <p:nvSpPr>
          <p:cNvPr id="5" name="Shape 3"/>
          <p:cNvSpPr/>
          <p:nvPr/>
        </p:nvSpPr>
        <p:spPr>
          <a:xfrm>
            <a:off x="1143000" y="6197947"/>
            <a:ext cx="7829550" cy="3288953"/>
          </a:xfrm>
          <a:prstGeom prst="roundRect">
            <a:avLst>
              <a:gd name="adj" fmla="val 4634"/>
            </a:avLst>
          </a:prstGeom>
          <a:solidFill>
            <a:srgbClr val="F5EFE3"/>
          </a:solidFill>
          <a:ln w="9525">
            <a:solidFill>
              <a:srgbClr val="29211A">
                <a:alpha val="14000"/>
              </a:srgbClr>
            </a:solidFill>
            <a:prstDash val="solid"/>
          </a:ln>
        </p:spPr>
      </p:sp>
      <p:sp>
        <p:nvSpPr>
          <p:cNvPr id="6" name="Text 4"/>
          <p:cNvSpPr/>
          <p:nvPr/>
        </p:nvSpPr>
        <p:spPr>
          <a:xfrm>
            <a:off x="1495425" y="6531322"/>
            <a:ext cx="783717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THE ASK</a:t>
            </a:r>
            <a:endParaRPr lang="en-US" sz="1800" dirty="0"/>
          </a:p>
        </p:txBody>
      </p:sp>
      <p:sp>
        <p:nvSpPr>
          <p:cNvPr id="7" name="Text 5"/>
          <p:cNvSpPr/>
          <p:nvPr/>
        </p:nvSpPr>
        <p:spPr>
          <a:xfrm>
            <a:off x="1495425" y="6931372"/>
            <a:ext cx="7837170" cy="464790"/>
          </a:xfrm>
          <a:prstGeom prst="rect">
            <a:avLst/>
          </a:prstGeom>
          <a:noFill/>
          <a:ln/>
        </p:spPr>
        <p:txBody>
          <a:bodyPr wrap="square" lIns="25400" tIns="25400" rIns="25400" bIns="25400" rtlCol="0" anchor="t">
            <a:normAutofit/>
          </a:bodyPr>
          <a:lstStyle/>
          <a:p>
            <a:pPr algn="l" indent="0" marL="0">
              <a:lnSpc>
                <a:spcPct val="98462"/>
              </a:lnSpc>
              <a:buNone/>
            </a:pPr>
            <a:r>
              <a:rPr lang="en-US" sz="3000" dirty="0">
                <a:solidFill>
                  <a:srgbClr val="29211A"/>
                </a:solidFill>
                <a:latin typeface="Georgia" pitchFamily="34" charset="0"/>
                <a:ea typeface="Georgia" pitchFamily="34" charset="-122"/>
                <a:cs typeface="Georgia" pitchFamily="34" charset="-120"/>
              </a:rPr>
              <a:t>"Make the elevator faster."</a:t>
            </a:r>
            <a:endParaRPr lang="en-US" sz="3000" dirty="0"/>
          </a:p>
        </p:txBody>
      </p:sp>
      <p:sp>
        <p:nvSpPr>
          <p:cNvPr id="8" name="Shape 6"/>
          <p:cNvSpPr/>
          <p:nvPr/>
        </p:nvSpPr>
        <p:spPr>
          <a:xfrm>
            <a:off x="1495425" y="7777163"/>
            <a:ext cx="2311375" cy="914400"/>
          </a:xfrm>
          <a:custGeom>
            <a:avLst/>
            <a:gdLst/>
            <a:ahLst/>
            <a:cxnLst/>
            <a:rect l="l" t="t" r="r" b="b"/>
            <a:pathLst>
              <a:path w="2311375" h="914400">
                <a:moveTo>
                  <a:pt x="76200" y="0"/>
                </a:moveTo>
                <a:lnTo>
                  <a:pt x="2235175" y="0"/>
                </a:lnTo>
                <a:arcTo hR="76200" wR="76200" stAng="16200000" swAng="5400000"/>
                <a:lnTo>
                  <a:pt x="2311375" y="914400"/>
                </a:lnTo>
                <a:lnTo>
                  <a:pt x="0" y="914400"/>
                </a:lnTo>
                <a:lnTo>
                  <a:pt x="0" y="76200"/>
                </a:lnTo>
                <a:arcTo hR="76200" wR="76200" stAng="10800000" swAng="5400000"/>
                <a:close/>
              </a:path>
            </a:pathLst>
          </a:custGeom>
          <a:solidFill>
            <a:srgbClr val="CABFA9"/>
          </a:solidFill>
          <a:ln/>
        </p:spPr>
      </p:sp>
      <p:sp>
        <p:nvSpPr>
          <p:cNvPr id="9" name="Shape 7"/>
          <p:cNvSpPr/>
          <p:nvPr/>
        </p:nvSpPr>
        <p:spPr>
          <a:xfrm>
            <a:off x="3902050" y="7548563"/>
            <a:ext cx="2311450" cy="1143000"/>
          </a:xfrm>
          <a:custGeom>
            <a:avLst/>
            <a:gdLst/>
            <a:ahLst/>
            <a:cxnLst/>
            <a:rect l="l" t="t" r="r" b="b"/>
            <a:pathLst>
              <a:path w="2311450" h="1143000">
                <a:moveTo>
                  <a:pt x="76200" y="0"/>
                </a:moveTo>
                <a:lnTo>
                  <a:pt x="2235250" y="0"/>
                </a:lnTo>
                <a:arcTo hR="76200" wR="76200" stAng="16200000" swAng="5400000"/>
                <a:lnTo>
                  <a:pt x="2311450" y="1143000"/>
                </a:lnTo>
                <a:lnTo>
                  <a:pt x="0" y="1143000"/>
                </a:lnTo>
                <a:lnTo>
                  <a:pt x="0" y="76200"/>
                </a:lnTo>
                <a:arcTo hR="76200" wR="76200" stAng="10800000" swAng="5400000"/>
                <a:close/>
              </a:path>
            </a:pathLst>
          </a:custGeom>
          <a:solidFill>
            <a:srgbClr val="CABFA9"/>
          </a:solidFill>
          <a:ln/>
        </p:spPr>
      </p:sp>
      <p:sp>
        <p:nvSpPr>
          <p:cNvPr id="10" name="Shape 8"/>
          <p:cNvSpPr/>
          <p:nvPr/>
        </p:nvSpPr>
        <p:spPr>
          <a:xfrm>
            <a:off x="6308750" y="7891463"/>
            <a:ext cx="2311375" cy="800100"/>
          </a:xfrm>
          <a:custGeom>
            <a:avLst/>
            <a:gdLst/>
            <a:ahLst/>
            <a:cxnLst/>
            <a:rect l="l" t="t" r="r" b="b"/>
            <a:pathLst>
              <a:path w="2311375" h="800100">
                <a:moveTo>
                  <a:pt x="76200" y="0"/>
                </a:moveTo>
                <a:lnTo>
                  <a:pt x="2235175" y="0"/>
                </a:lnTo>
                <a:arcTo hR="76200" wR="76200" stAng="16200000" swAng="5400000"/>
                <a:lnTo>
                  <a:pt x="2311375" y="800100"/>
                </a:lnTo>
                <a:lnTo>
                  <a:pt x="0" y="800100"/>
                </a:lnTo>
                <a:lnTo>
                  <a:pt x="0" y="76200"/>
                </a:lnTo>
                <a:arcTo hR="76200" wR="76200" stAng="10800000" swAng="5400000"/>
                <a:close/>
              </a:path>
            </a:pathLst>
          </a:custGeom>
          <a:solidFill>
            <a:srgbClr val="CABFA9"/>
          </a:solidFill>
          <a:ln/>
        </p:spPr>
      </p:sp>
      <p:sp>
        <p:nvSpPr>
          <p:cNvPr id="11" name="Text 9"/>
          <p:cNvSpPr/>
          <p:nvPr/>
        </p:nvSpPr>
        <p:spPr>
          <a:xfrm>
            <a:off x="1495425" y="8882063"/>
            <a:ext cx="7837170" cy="309563"/>
          </a:xfrm>
          <a:prstGeom prst="rect">
            <a:avLst/>
          </a:prstGeom>
          <a:noFill/>
          <a:ln/>
        </p:spPr>
        <p:txBody>
          <a:bodyPr wrap="square" lIns="25400" tIns="25400" rIns="25400" bIns="25400" rtlCol="0" anchor="t">
            <a:normAutofit/>
          </a:bodyPr>
          <a:lstStyle/>
          <a:p>
            <a:pPr algn="l" indent="0" marL="0">
              <a:buNone/>
            </a:pPr>
            <a:r>
              <a:rPr lang="en-US" sz="1950" dirty="0">
                <a:solidFill>
                  <a:srgbClr val="4A3F33"/>
                </a:solidFill>
                <a:latin typeface="Arial" pitchFamily="34" charset="0"/>
                <a:ea typeface="Arial" pitchFamily="34" charset="-122"/>
                <a:cs typeface="Arial" pitchFamily="34" charset="-120"/>
              </a:rPr>
              <a:t>New motors. New shafts. Expensive. Slow.</a:t>
            </a:r>
            <a:endParaRPr lang="en-US" sz="1950" dirty="0"/>
          </a:p>
        </p:txBody>
      </p:sp>
      <p:sp>
        <p:nvSpPr>
          <p:cNvPr id="12" name="Shape 10"/>
          <p:cNvSpPr/>
          <p:nvPr/>
        </p:nvSpPr>
        <p:spPr>
          <a:xfrm>
            <a:off x="9315450" y="6197947"/>
            <a:ext cx="7829550" cy="3288953"/>
          </a:xfrm>
          <a:prstGeom prst="roundRect">
            <a:avLst>
              <a:gd name="adj" fmla="val 4634"/>
            </a:avLst>
          </a:prstGeom>
          <a:solidFill>
            <a:srgbClr val="F5EFE3"/>
          </a:solidFill>
          <a:ln w="9525">
            <a:solidFill>
              <a:srgbClr val="29211A">
                <a:alpha val="14000"/>
              </a:srgbClr>
            </a:solidFill>
            <a:prstDash val="solid"/>
          </a:ln>
        </p:spPr>
      </p:sp>
      <p:sp>
        <p:nvSpPr>
          <p:cNvPr id="13" name="Text 11"/>
          <p:cNvSpPr/>
          <p:nvPr/>
        </p:nvSpPr>
        <p:spPr>
          <a:xfrm>
            <a:off x="9667875" y="6531322"/>
            <a:ext cx="783717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6D9A54"/>
                </a:solidFill>
                <a:latin typeface="Arial" pitchFamily="34" charset="0"/>
                <a:ea typeface="Arial" pitchFamily="34" charset="-122"/>
                <a:cs typeface="Arial" pitchFamily="34" charset="-120"/>
              </a:rPr>
              <a:t>THE REFRAME</a:t>
            </a:r>
            <a:endParaRPr lang="en-US" sz="1800" dirty="0"/>
          </a:p>
        </p:txBody>
      </p:sp>
      <p:sp>
        <p:nvSpPr>
          <p:cNvPr id="14" name="Text 12"/>
          <p:cNvSpPr/>
          <p:nvPr/>
        </p:nvSpPr>
        <p:spPr>
          <a:xfrm>
            <a:off x="9667875" y="6931372"/>
            <a:ext cx="7837170" cy="464790"/>
          </a:xfrm>
          <a:prstGeom prst="rect">
            <a:avLst/>
          </a:prstGeom>
          <a:noFill/>
          <a:ln/>
        </p:spPr>
        <p:txBody>
          <a:bodyPr wrap="square" lIns="25400" tIns="25400" rIns="25400" bIns="25400" rtlCol="0" anchor="t">
            <a:normAutofit/>
          </a:bodyPr>
          <a:lstStyle/>
          <a:p>
            <a:pPr algn="l" indent="0" marL="0">
              <a:lnSpc>
                <a:spcPct val="98462"/>
              </a:lnSpc>
              <a:buNone/>
            </a:pPr>
            <a:r>
              <a:rPr lang="en-US" sz="3000" dirty="0">
                <a:solidFill>
                  <a:srgbClr val="29211A"/>
                </a:solidFill>
                <a:latin typeface="Georgia" pitchFamily="34" charset="0"/>
                <a:ea typeface="Georgia" pitchFamily="34" charset="-122"/>
                <a:cs typeface="Georgia" pitchFamily="34" charset="-120"/>
              </a:rPr>
              <a:t>Put mirrors by the doors.</a:t>
            </a:r>
            <a:endParaRPr lang="en-US" sz="3000" dirty="0"/>
          </a:p>
        </p:txBody>
      </p:sp>
      <p:sp>
        <p:nvSpPr>
          <p:cNvPr id="15" name="Shape 13"/>
          <p:cNvSpPr/>
          <p:nvPr/>
        </p:nvSpPr>
        <p:spPr>
          <a:xfrm>
            <a:off x="9667875" y="7548563"/>
            <a:ext cx="2311375" cy="1143000"/>
          </a:xfrm>
          <a:custGeom>
            <a:avLst/>
            <a:gdLst/>
            <a:ahLst/>
            <a:cxnLst/>
            <a:rect l="l" t="t" r="r" b="b"/>
            <a:pathLst>
              <a:path w="2311375" h="1143000">
                <a:moveTo>
                  <a:pt x="76200" y="0"/>
                </a:moveTo>
                <a:lnTo>
                  <a:pt x="2235175" y="0"/>
                </a:lnTo>
                <a:arcTo hR="76200" wR="76200" stAng="16200000" swAng="5400000"/>
                <a:lnTo>
                  <a:pt x="2311375" y="1143000"/>
                </a:lnTo>
                <a:lnTo>
                  <a:pt x="0" y="1143000"/>
                </a:lnTo>
                <a:lnTo>
                  <a:pt x="0" y="76200"/>
                </a:lnTo>
                <a:arcTo hR="76200" wR="76200" stAng="10800000" swAng="5400000"/>
                <a:close/>
              </a:path>
            </a:pathLst>
          </a:custGeom>
          <a:gradFill rotWithShape="1">
            <a:gsLst>
              <a:gs pos="0">
                <a:srgbClr val="BFE0EA">
                  <a:alpha val="100000"/>
                </a:srgbClr>
              </a:gs>
              <a:gs pos="100000">
                <a:srgbClr val="8FBCCB">
                  <a:alpha val="100000"/>
                </a:srgbClr>
              </a:gs>
            </a:gsLst>
            <a:lin ang="5400000" scaled="0"/>
          </a:gradFill>
          <a:ln w="9525">
            <a:solidFill>
              <a:srgbClr val="29211A">
                <a:alpha val="12000"/>
              </a:srgbClr>
            </a:solidFill>
            <a:prstDash val="solid"/>
          </a:ln>
        </p:spPr>
      </p:sp>
      <p:sp>
        <p:nvSpPr>
          <p:cNvPr id="16" name="Shape 14"/>
          <p:cNvSpPr/>
          <p:nvPr/>
        </p:nvSpPr>
        <p:spPr>
          <a:xfrm>
            <a:off x="12074500" y="7548563"/>
            <a:ext cx="2311450" cy="1143000"/>
          </a:xfrm>
          <a:custGeom>
            <a:avLst/>
            <a:gdLst/>
            <a:ahLst/>
            <a:cxnLst/>
            <a:rect l="l" t="t" r="r" b="b"/>
            <a:pathLst>
              <a:path w="2311450" h="1143000">
                <a:moveTo>
                  <a:pt x="76200" y="0"/>
                </a:moveTo>
                <a:lnTo>
                  <a:pt x="2235250" y="0"/>
                </a:lnTo>
                <a:arcTo hR="76200" wR="76200" stAng="16200000" swAng="5400000"/>
                <a:lnTo>
                  <a:pt x="2311450" y="1143000"/>
                </a:lnTo>
                <a:lnTo>
                  <a:pt x="0" y="1143000"/>
                </a:lnTo>
                <a:lnTo>
                  <a:pt x="0" y="76200"/>
                </a:lnTo>
                <a:arcTo hR="76200" wR="76200" stAng="10800000" swAng="5400000"/>
                <a:close/>
              </a:path>
            </a:pathLst>
          </a:custGeom>
          <a:gradFill rotWithShape="1">
            <a:gsLst>
              <a:gs pos="0">
                <a:srgbClr val="BFE0EA">
                  <a:alpha val="100000"/>
                </a:srgbClr>
              </a:gs>
              <a:gs pos="100000">
                <a:srgbClr val="8FBCCB">
                  <a:alpha val="100000"/>
                </a:srgbClr>
              </a:gs>
            </a:gsLst>
            <a:lin ang="5400000" scaled="0"/>
          </a:gradFill>
          <a:ln w="9525">
            <a:solidFill>
              <a:srgbClr val="29211A">
                <a:alpha val="12000"/>
              </a:srgbClr>
            </a:solidFill>
            <a:prstDash val="solid"/>
          </a:ln>
        </p:spPr>
      </p:sp>
      <p:sp>
        <p:nvSpPr>
          <p:cNvPr id="17" name="Shape 15"/>
          <p:cNvSpPr/>
          <p:nvPr/>
        </p:nvSpPr>
        <p:spPr>
          <a:xfrm>
            <a:off x="14481200" y="7548563"/>
            <a:ext cx="2311375" cy="1143000"/>
          </a:xfrm>
          <a:custGeom>
            <a:avLst/>
            <a:gdLst/>
            <a:ahLst/>
            <a:cxnLst/>
            <a:rect l="l" t="t" r="r" b="b"/>
            <a:pathLst>
              <a:path w="2311375" h="1143000">
                <a:moveTo>
                  <a:pt x="76200" y="0"/>
                </a:moveTo>
                <a:lnTo>
                  <a:pt x="2235175" y="0"/>
                </a:lnTo>
                <a:arcTo hR="76200" wR="76200" stAng="16200000" swAng="5400000"/>
                <a:lnTo>
                  <a:pt x="2311375" y="1143000"/>
                </a:lnTo>
                <a:lnTo>
                  <a:pt x="0" y="1143000"/>
                </a:lnTo>
                <a:lnTo>
                  <a:pt x="0" y="76200"/>
                </a:lnTo>
                <a:arcTo hR="76200" wR="76200" stAng="10800000" swAng="5400000"/>
                <a:close/>
              </a:path>
            </a:pathLst>
          </a:custGeom>
          <a:gradFill rotWithShape="1">
            <a:gsLst>
              <a:gs pos="0">
                <a:srgbClr val="BFE0EA">
                  <a:alpha val="100000"/>
                </a:srgbClr>
              </a:gs>
              <a:gs pos="100000">
                <a:srgbClr val="8FBCCB">
                  <a:alpha val="100000"/>
                </a:srgbClr>
              </a:gs>
            </a:gsLst>
            <a:lin ang="5400000" scaled="0"/>
          </a:gradFill>
          <a:ln w="9525">
            <a:solidFill>
              <a:srgbClr val="29211A">
                <a:alpha val="12000"/>
              </a:srgbClr>
            </a:solidFill>
            <a:prstDash val="solid"/>
          </a:ln>
        </p:spPr>
      </p:sp>
      <p:sp>
        <p:nvSpPr>
          <p:cNvPr id="18" name="Text 16"/>
          <p:cNvSpPr/>
          <p:nvPr/>
        </p:nvSpPr>
        <p:spPr>
          <a:xfrm>
            <a:off x="9667875" y="8882063"/>
            <a:ext cx="7837170" cy="309563"/>
          </a:xfrm>
          <a:prstGeom prst="rect">
            <a:avLst/>
          </a:prstGeom>
          <a:noFill/>
          <a:ln/>
        </p:spPr>
        <p:txBody>
          <a:bodyPr wrap="square" lIns="25400" tIns="25400" rIns="25400" bIns="25400" rtlCol="0" anchor="t">
            <a:normAutofit/>
          </a:bodyPr>
          <a:lstStyle/>
          <a:p>
            <a:pPr algn="l" indent="0" marL="0">
              <a:buNone/>
            </a:pPr>
            <a:r>
              <a:rPr lang="en-US" sz="1950" dirty="0">
                <a:solidFill>
                  <a:srgbClr val="4A3F33"/>
                </a:solidFill>
                <a:latin typeface="Arial" pitchFamily="34" charset="0"/>
                <a:ea typeface="Arial" pitchFamily="34" charset="-122"/>
                <a:cs typeface="Arial" pitchFamily="34" charset="-120"/>
              </a:rPr>
              <a:t>Cheap. Fast. Complaints stopped.</a:t>
            </a:r>
            <a:endParaRPr lang="en-US" sz="1950" dirty="0"/>
          </a:p>
        </p:txBody>
      </p:sp>
      <p:sp>
        <p:nvSpPr>
          <p:cNvPr id="19" name="Text 17"/>
          <p:cNvSpPr/>
          <p:nvPr/>
        </p:nvSpPr>
        <p:spPr>
          <a:xfrm rot="-359998">
            <a:off x="14725687" y="7677150"/>
            <a:ext cx="2200275" cy="409575"/>
          </a:xfrm>
          <a:prstGeom prst="rect">
            <a:avLst/>
          </a:prstGeom>
          <a:noFill/>
          <a:ln/>
        </p:spPr>
        <p:txBody>
          <a:bodyPr wrap="square" lIns="25400" tIns="25400" rIns="25400" bIns="25400" rtlCol="0" anchor="t">
            <a:normAutofit/>
          </a:bodyPr>
          <a:lstStyle/>
          <a:p>
            <a:pPr algn="l" indent="0" marL="0">
              <a:buNone/>
            </a:pPr>
            <a:r>
              <a:rPr lang="en-US" sz="2550" dirty="0">
                <a:solidFill>
                  <a:srgbClr val="CF4B2B"/>
                </a:solidFill>
                <a:latin typeface="Arial" pitchFamily="34" charset="0"/>
                <a:ea typeface="Arial" pitchFamily="34" charset="-122"/>
                <a:cs typeface="Arial" pitchFamily="34" charset="-120"/>
              </a:rPr>
              <a:t>same elevator!</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PART ONE</a:t>
            </a:r>
            <a:endParaRPr lang="en-US" sz="1800" dirty="0"/>
          </a:p>
        </p:txBody>
      </p:sp>
      <p:sp>
        <p:nvSpPr>
          <p:cNvPr id="4" name="Text 2"/>
          <p:cNvSpPr/>
          <p:nvPr/>
        </p:nvSpPr>
        <p:spPr>
          <a:xfrm>
            <a:off x="1143000" y="1314450"/>
            <a:ext cx="17602200" cy="691828"/>
          </a:xfrm>
          <a:prstGeom prst="rect">
            <a:avLst/>
          </a:prstGeom>
          <a:noFill/>
          <a:ln/>
        </p:spPr>
        <p:txBody>
          <a:bodyPr wrap="square" lIns="25400" tIns="25400" rIns="25400" bIns="25400" rtlCol="0" anchor="t">
            <a:normAutofit/>
          </a:bodyPr>
          <a:lstStyle/>
          <a:p>
            <a:pPr algn="l" indent="0" marL="0">
              <a:lnSpc>
                <a:spcPct val="91520"/>
              </a:lnSpc>
              <a:buNone/>
            </a:pPr>
            <a:r>
              <a:rPr lang="en-US" sz="4950" spc="-74" kern="0" dirty="0">
                <a:solidFill>
                  <a:srgbClr val="29211A"/>
                </a:solidFill>
                <a:latin typeface="Georgia" pitchFamily="34" charset="0"/>
                <a:ea typeface="Georgia" pitchFamily="34" charset="-122"/>
                <a:cs typeface="Georgia" pitchFamily="34" charset="-120"/>
              </a:rPr>
              <a:t>The ask is a clue, not an instruction.</a:t>
            </a:r>
            <a:endParaRPr lang="en-US" sz="4950" dirty="0"/>
          </a:p>
        </p:txBody>
      </p:sp>
      <p:sp>
        <p:nvSpPr>
          <p:cNvPr id="5" name="Shape 3"/>
          <p:cNvSpPr/>
          <p:nvPr/>
        </p:nvSpPr>
        <p:spPr>
          <a:xfrm>
            <a:off x="1143000" y="2349178"/>
            <a:ext cx="16002000" cy="7137722"/>
          </a:xfrm>
          <a:prstGeom prst="roundRect">
            <a:avLst>
              <a:gd name="adj" fmla="val 2135"/>
            </a:avLst>
          </a:prstGeom>
          <a:solidFill>
            <a:srgbClr val="F5EFE3"/>
          </a:solidFill>
          <a:ln w="9525">
            <a:solidFill>
              <a:srgbClr val="29211A">
                <a:alpha val="14000"/>
              </a:srgbClr>
            </a:solidFill>
            <a:prstDash val="solid"/>
          </a:ln>
        </p:spPr>
      </p:sp>
      <p:sp>
        <p:nvSpPr>
          <p:cNvPr id="6" name="Shape 4"/>
          <p:cNvSpPr/>
          <p:nvPr/>
        </p:nvSpPr>
        <p:spPr>
          <a:xfrm>
            <a:off x="1152525" y="4611588"/>
            <a:ext cx="5327600" cy="9525"/>
          </a:xfrm>
          <a:prstGeom prst="rect">
            <a:avLst/>
          </a:prstGeom>
          <a:solidFill>
            <a:srgbClr val="29211A">
              <a:alpha val="14000"/>
            </a:srgbClr>
          </a:solidFill>
          <a:ln/>
        </p:spPr>
      </p:sp>
      <p:sp>
        <p:nvSpPr>
          <p:cNvPr id="7" name="Text 5"/>
          <p:cNvSpPr/>
          <p:nvPr/>
        </p:nvSpPr>
        <p:spPr>
          <a:xfrm>
            <a:off x="1457325" y="2625403"/>
            <a:ext cx="4877828" cy="1757586"/>
          </a:xfrm>
          <a:prstGeom prst="rect">
            <a:avLst/>
          </a:prstGeom>
          <a:noFill/>
          <a:ln/>
        </p:spPr>
        <p:txBody>
          <a:bodyPr wrap="square" lIns="25400" tIns="25400" rIns="25400" bIns="25400" rtlCol="0" anchor="t">
            <a:normAutofit/>
          </a:bodyPr>
          <a:lstStyle/>
          <a:p>
            <a:pPr algn="l" indent="0" marL="0">
              <a:lnSpc>
                <a:spcPct val="87273"/>
              </a:lnSpc>
              <a:buNone/>
            </a:pPr>
            <a:r>
              <a:rPr lang="en-US" sz="1800" b="1" spc="216" kern="0" dirty="0">
                <a:solidFill>
                  <a:srgbClr val="8A7A64"/>
                </a:solidFill>
                <a:latin typeface="Arial" pitchFamily="34" charset="0"/>
                <a:ea typeface="Arial" pitchFamily="34" charset="-122"/>
                <a:cs typeface="Arial" pitchFamily="34" charset="-120"/>
              </a:rPr>
              <a:t>WHAT WAS ASKED FOR</a:t>
            </a:r>
            <a:endParaRPr lang="en-US" sz="1800" dirty="0"/>
          </a:p>
        </p:txBody>
      </p:sp>
      <p:sp>
        <p:nvSpPr>
          <p:cNvPr id="8" name="Shape 6"/>
          <p:cNvSpPr/>
          <p:nvPr/>
        </p:nvSpPr>
        <p:spPr>
          <a:xfrm>
            <a:off x="6480125" y="4611588"/>
            <a:ext cx="5327675" cy="9525"/>
          </a:xfrm>
          <a:prstGeom prst="rect">
            <a:avLst/>
          </a:prstGeom>
          <a:solidFill>
            <a:srgbClr val="29211A">
              <a:alpha val="14000"/>
            </a:srgbClr>
          </a:solidFill>
          <a:ln/>
        </p:spPr>
      </p:sp>
      <p:sp>
        <p:nvSpPr>
          <p:cNvPr id="9" name="Shape 7"/>
          <p:cNvSpPr/>
          <p:nvPr/>
        </p:nvSpPr>
        <p:spPr>
          <a:xfrm>
            <a:off x="6480125" y="2358703"/>
            <a:ext cx="9525" cy="2262411"/>
          </a:xfrm>
          <a:prstGeom prst="rect">
            <a:avLst/>
          </a:prstGeom>
          <a:solidFill>
            <a:srgbClr val="29211A">
              <a:alpha val="14000"/>
            </a:srgbClr>
          </a:solidFill>
          <a:ln/>
        </p:spPr>
      </p:sp>
      <p:sp>
        <p:nvSpPr>
          <p:cNvPr id="10" name="Text 8"/>
          <p:cNvSpPr/>
          <p:nvPr/>
        </p:nvSpPr>
        <p:spPr>
          <a:xfrm>
            <a:off x="6794450" y="2625403"/>
            <a:ext cx="4868380" cy="1757586"/>
          </a:xfrm>
          <a:prstGeom prst="rect">
            <a:avLst/>
          </a:prstGeom>
          <a:noFill/>
          <a:ln/>
        </p:spPr>
        <p:txBody>
          <a:bodyPr wrap="square" lIns="25400" tIns="25400" rIns="25400" bIns="25400" rtlCol="0" anchor="t">
            <a:normAutofit/>
          </a:bodyPr>
          <a:lstStyle/>
          <a:p>
            <a:pPr algn="l" indent="0" marL="0">
              <a:lnSpc>
                <a:spcPct val="87273"/>
              </a:lnSpc>
              <a:buNone/>
            </a:pPr>
            <a:r>
              <a:rPr lang="en-US" sz="1800" b="1" spc="216" kern="0" dirty="0">
                <a:solidFill>
                  <a:srgbClr val="8A7A64"/>
                </a:solidFill>
                <a:latin typeface="Arial" pitchFamily="34" charset="0"/>
                <a:ea typeface="Arial" pitchFamily="34" charset="-122"/>
                <a:cs typeface="Arial" pitchFamily="34" charset="-120"/>
              </a:rPr>
              <a:t>THE JOB UNDERNEATH</a:t>
            </a:r>
            <a:endParaRPr lang="en-US" sz="1800" dirty="0"/>
          </a:p>
        </p:txBody>
      </p:sp>
      <p:sp>
        <p:nvSpPr>
          <p:cNvPr id="11" name="Shape 9"/>
          <p:cNvSpPr/>
          <p:nvPr/>
        </p:nvSpPr>
        <p:spPr>
          <a:xfrm>
            <a:off x="11807800" y="4611588"/>
            <a:ext cx="5327600" cy="9525"/>
          </a:xfrm>
          <a:prstGeom prst="rect">
            <a:avLst/>
          </a:prstGeom>
          <a:solidFill>
            <a:srgbClr val="29211A">
              <a:alpha val="14000"/>
            </a:srgbClr>
          </a:solidFill>
          <a:ln/>
        </p:spPr>
      </p:sp>
      <p:sp>
        <p:nvSpPr>
          <p:cNvPr id="12" name="Shape 10"/>
          <p:cNvSpPr/>
          <p:nvPr/>
        </p:nvSpPr>
        <p:spPr>
          <a:xfrm>
            <a:off x="11807800" y="2358703"/>
            <a:ext cx="9525" cy="2262411"/>
          </a:xfrm>
          <a:prstGeom prst="rect">
            <a:avLst/>
          </a:prstGeom>
          <a:solidFill>
            <a:srgbClr val="29211A">
              <a:alpha val="14000"/>
            </a:srgbClr>
          </a:solidFill>
          <a:ln/>
        </p:spPr>
      </p:sp>
      <p:sp>
        <p:nvSpPr>
          <p:cNvPr id="13" name="Text 11"/>
          <p:cNvSpPr/>
          <p:nvPr/>
        </p:nvSpPr>
        <p:spPr>
          <a:xfrm>
            <a:off x="12122125" y="2625403"/>
            <a:ext cx="4868303" cy="1757586"/>
          </a:xfrm>
          <a:prstGeom prst="rect">
            <a:avLst/>
          </a:prstGeom>
          <a:noFill/>
          <a:ln/>
        </p:spPr>
        <p:txBody>
          <a:bodyPr wrap="square" lIns="25400" tIns="25400" rIns="25400" bIns="25400" rtlCol="0" anchor="t">
            <a:normAutofit/>
          </a:bodyPr>
          <a:lstStyle/>
          <a:p>
            <a:pPr algn="l" indent="0" marL="0">
              <a:lnSpc>
                <a:spcPct val="87273"/>
              </a:lnSpc>
              <a:buNone/>
            </a:pPr>
            <a:r>
              <a:rPr lang="en-US" sz="1800" b="1" spc="216" kern="0" dirty="0">
                <a:solidFill>
                  <a:srgbClr val="8A7A64"/>
                </a:solidFill>
                <a:latin typeface="Arial" pitchFamily="34" charset="0"/>
                <a:ea typeface="Arial" pitchFamily="34" charset="-122"/>
                <a:cs typeface="Arial" pitchFamily="34" charset="-120"/>
              </a:rPr>
              <a:t>WHAT WE MIGHT BUILD</a:t>
            </a:r>
            <a:endParaRPr lang="en-US" sz="1800" dirty="0"/>
          </a:p>
        </p:txBody>
      </p:sp>
      <p:sp>
        <p:nvSpPr>
          <p:cNvPr id="14" name="Text 12"/>
          <p:cNvSpPr/>
          <p:nvPr/>
        </p:nvSpPr>
        <p:spPr>
          <a:xfrm>
            <a:off x="1457325" y="4906863"/>
            <a:ext cx="4877828" cy="1879476"/>
          </a:xfrm>
          <a:prstGeom prst="rect">
            <a:avLst/>
          </a:prstGeom>
          <a:noFill/>
          <a:ln/>
        </p:spPr>
        <p:txBody>
          <a:bodyPr wrap="square" lIns="25400" tIns="25400" rIns="25400" bIns="25400" rtlCol="0" anchor="t">
            <a:normAutofit/>
          </a:bodyPr>
          <a:lstStyle/>
          <a:p>
            <a:pPr algn="l" indent="0" marL="0">
              <a:lnSpc>
                <a:spcPct val="100822"/>
              </a:lnSpc>
              <a:buNone/>
            </a:pPr>
            <a:r>
              <a:rPr lang="en-US" sz="2400" dirty="0">
                <a:solidFill>
                  <a:srgbClr val="29211A"/>
                </a:solidFill>
                <a:latin typeface="Georgia" pitchFamily="34" charset="0"/>
                <a:ea typeface="Georgia" pitchFamily="34" charset="-122"/>
                <a:cs typeface="Georgia" pitchFamily="34" charset="-120"/>
              </a:rPr>
              <a:t>"Make the elevator faster."</a:t>
            </a:r>
            <a:endParaRPr lang="en-US" sz="2400" dirty="0"/>
          </a:p>
        </p:txBody>
      </p:sp>
      <p:sp>
        <p:nvSpPr>
          <p:cNvPr id="15" name="Shape 13"/>
          <p:cNvSpPr/>
          <p:nvPr/>
        </p:nvSpPr>
        <p:spPr>
          <a:xfrm>
            <a:off x="6480125" y="4621113"/>
            <a:ext cx="9525" cy="2412876"/>
          </a:xfrm>
          <a:prstGeom prst="rect">
            <a:avLst/>
          </a:prstGeom>
          <a:solidFill>
            <a:srgbClr val="29211A">
              <a:alpha val="14000"/>
            </a:srgbClr>
          </a:solidFill>
          <a:ln/>
        </p:spPr>
      </p:sp>
      <p:sp>
        <p:nvSpPr>
          <p:cNvPr id="16" name="Text 14"/>
          <p:cNvSpPr/>
          <p:nvPr/>
        </p:nvSpPr>
        <p:spPr>
          <a:xfrm>
            <a:off x="6794450" y="4906863"/>
            <a:ext cx="4868380" cy="1879476"/>
          </a:xfrm>
          <a:prstGeom prst="rect">
            <a:avLst/>
          </a:prstGeom>
          <a:noFill/>
          <a:ln/>
        </p:spPr>
        <p:txBody>
          <a:bodyPr wrap="square" lIns="25400" tIns="25400" rIns="25400" bIns="25400" rtlCol="0" anchor="t">
            <a:normAutofit/>
          </a:bodyPr>
          <a:lstStyle/>
          <a:p>
            <a:pPr algn="l" indent="0" marL="0">
              <a:lnSpc>
                <a:spcPct val="100822"/>
              </a:lnSpc>
              <a:buNone/>
            </a:pPr>
            <a:r>
              <a:rPr lang="en-US" sz="2400" dirty="0">
                <a:solidFill>
                  <a:srgbClr val="6D9A54"/>
                </a:solidFill>
                <a:latin typeface="Georgia" pitchFamily="34" charset="0"/>
                <a:ea typeface="Georgia" pitchFamily="34" charset="-122"/>
                <a:cs typeface="Georgia" pitchFamily="34" charset="-120"/>
              </a:rPr>
              <a:t>Make the wait tolerable.</a:t>
            </a:r>
            <a:endParaRPr lang="en-US" sz="2400" dirty="0"/>
          </a:p>
        </p:txBody>
      </p:sp>
      <p:sp>
        <p:nvSpPr>
          <p:cNvPr id="17" name="Shape 15"/>
          <p:cNvSpPr/>
          <p:nvPr/>
        </p:nvSpPr>
        <p:spPr>
          <a:xfrm>
            <a:off x="11807800" y="4621113"/>
            <a:ext cx="9525" cy="2412876"/>
          </a:xfrm>
          <a:prstGeom prst="rect">
            <a:avLst/>
          </a:prstGeom>
          <a:solidFill>
            <a:srgbClr val="29211A">
              <a:alpha val="14000"/>
            </a:srgbClr>
          </a:solidFill>
          <a:ln/>
        </p:spPr>
      </p:sp>
      <p:sp>
        <p:nvSpPr>
          <p:cNvPr id="18" name="Text 16"/>
          <p:cNvSpPr/>
          <p:nvPr/>
        </p:nvSpPr>
        <p:spPr>
          <a:xfrm>
            <a:off x="12122125" y="4906863"/>
            <a:ext cx="4868303" cy="1879476"/>
          </a:xfrm>
          <a:prstGeom prst="rect">
            <a:avLst/>
          </a:prstGeom>
          <a:noFill/>
          <a:ln/>
        </p:spPr>
        <p:txBody>
          <a:bodyPr wrap="square" lIns="25400" tIns="25400" rIns="25400" bIns="25400" rtlCol="0" anchor="t">
            <a:normAutofit/>
          </a:bodyPr>
          <a:lstStyle/>
          <a:p>
            <a:pPr algn="l" indent="0" marL="0">
              <a:lnSpc>
                <a:spcPct val="100822"/>
              </a:lnSpc>
              <a:buNone/>
            </a:pPr>
            <a:r>
              <a:rPr lang="en-US" sz="2400" dirty="0">
                <a:solidFill>
                  <a:srgbClr val="2F6F86"/>
                </a:solidFill>
                <a:latin typeface="Georgia" pitchFamily="34" charset="0"/>
                <a:ea typeface="Georgia" pitchFamily="34" charset="-122"/>
                <a:cs typeface="Georgia" pitchFamily="34" charset="-120"/>
              </a:rPr>
              <a:t>Mirrors. Screens. Anything.</a:t>
            </a:r>
            <a:endParaRPr lang="en-US" sz="2400" dirty="0"/>
          </a:p>
        </p:txBody>
      </p:sp>
      <p:sp>
        <p:nvSpPr>
          <p:cNvPr id="19" name="Shape 17"/>
          <p:cNvSpPr/>
          <p:nvPr/>
        </p:nvSpPr>
        <p:spPr>
          <a:xfrm>
            <a:off x="1152525" y="7033989"/>
            <a:ext cx="5327600" cy="9525"/>
          </a:xfrm>
          <a:prstGeom prst="rect">
            <a:avLst/>
          </a:prstGeom>
          <a:solidFill>
            <a:srgbClr val="29211A">
              <a:alpha val="14000"/>
            </a:srgbClr>
          </a:solidFill>
          <a:ln/>
        </p:spPr>
      </p:sp>
      <p:sp>
        <p:nvSpPr>
          <p:cNvPr id="20" name="Text 18"/>
          <p:cNvSpPr/>
          <p:nvPr/>
        </p:nvSpPr>
        <p:spPr>
          <a:xfrm>
            <a:off x="1457325" y="8074670"/>
            <a:ext cx="2514518" cy="409575"/>
          </a:xfrm>
          <a:prstGeom prst="rect">
            <a:avLst/>
          </a:prstGeom>
          <a:noFill/>
          <a:ln/>
        </p:spPr>
        <p:txBody>
          <a:bodyPr wrap="square" lIns="25400" tIns="25400" rIns="25400" bIns="25400" rtlCol="0" anchor="t">
            <a:normAutofit/>
          </a:bodyPr>
          <a:lstStyle/>
          <a:p>
            <a:pPr algn="l" indent="0" marL="0">
              <a:buNone/>
            </a:pPr>
            <a:r>
              <a:rPr lang="en-US" sz="2550" dirty="0">
                <a:solidFill>
                  <a:srgbClr val="8A7A64"/>
                </a:solidFill>
                <a:latin typeface="Arial" pitchFamily="34" charset="0"/>
                <a:ea typeface="Arial" pitchFamily="34" charset="-122"/>
                <a:cs typeface="Arial" pitchFamily="34" charset="-120"/>
              </a:rPr>
              <a:t>your ask here…</a:t>
            </a:r>
            <a:endParaRPr lang="en-US" sz="2550" dirty="0"/>
          </a:p>
        </p:txBody>
      </p:sp>
      <p:sp>
        <p:nvSpPr>
          <p:cNvPr id="21" name="Shape 19"/>
          <p:cNvSpPr/>
          <p:nvPr/>
        </p:nvSpPr>
        <p:spPr>
          <a:xfrm>
            <a:off x="6480125" y="7033989"/>
            <a:ext cx="5327675" cy="9525"/>
          </a:xfrm>
          <a:prstGeom prst="rect">
            <a:avLst/>
          </a:prstGeom>
          <a:solidFill>
            <a:srgbClr val="29211A">
              <a:alpha val="14000"/>
            </a:srgbClr>
          </a:solidFill>
          <a:ln/>
        </p:spPr>
      </p:sp>
      <p:sp>
        <p:nvSpPr>
          <p:cNvPr id="22" name="Shape 20"/>
          <p:cNvSpPr/>
          <p:nvPr/>
        </p:nvSpPr>
        <p:spPr>
          <a:xfrm>
            <a:off x="6480125" y="7033989"/>
            <a:ext cx="9525" cy="2443386"/>
          </a:xfrm>
          <a:prstGeom prst="rect">
            <a:avLst/>
          </a:prstGeom>
          <a:solidFill>
            <a:srgbClr val="29211A">
              <a:alpha val="14000"/>
            </a:srgbClr>
          </a:solidFill>
          <a:ln/>
        </p:spPr>
      </p:sp>
      <p:sp>
        <p:nvSpPr>
          <p:cNvPr id="23" name="Shape 21"/>
          <p:cNvSpPr/>
          <p:nvPr/>
        </p:nvSpPr>
        <p:spPr>
          <a:xfrm>
            <a:off x="11807800" y="7033989"/>
            <a:ext cx="5327600" cy="9525"/>
          </a:xfrm>
          <a:prstGeom prst="rect">
            <a:avLst/>
          </a:prstGeom>
          <a:solidFill>
            <a:srgbClr val="29211A">
              <a:alpha val="14000"/>
            </a:srgbClr>
          </a:solidFill>
          <a:ln/>
        </p:spPr>
      </p:sp>
      <p:sp>
        <p:nvSpPr>
          <p:cNvPr id="24" name="Shape 22"/>
          <p:cNvSpPr/>
          <p:nvPr/>
        </p:nvSpPr>
        <p:spPr>
          <a:xfrm>
            <a:off x="11807800" y="7033989"/>
            <a:ext cx="9525" cy="2443386"/>
          </a:xfrm>
          <a:prstGeom prst="rect">
            <a:avLst/>
          </a:prstGeom>
          <a:solidFill>
            <a:srgbClr val="29211A">
              <a:alpha val="14000"/>
            </a:srgbClr>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3261122"/>
            <a:ext cx="67056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SO WHAT IS IT</a:t>
            </a:r>
            <a:endParaRPr lang="en-US" sz="1800" dirty="0"/>
          </a:p>
        </p:txBody>
      </p:sp>
      <p:sp>
        <p:nvSpPr>
          <p:cNvPr id="4" name="Text 2"/>
          <p:cNvSpPr/>
          <p:nvPr/>
        </p:nvSpPr>
        <p:spPr>
          <a:xfrm>
            <a:off x="1143000" y="3737372"/>
            <a:ext cx="6278880" cy="1750144"/>
          </a:xfrm>
          <a:prstGeom prst="rect">
            <a:avLst/>
          </a:prstGeom>
          <a:noFill/>
          <a:ln/>
        </p:spPr>
        <p:txBody>
          <a:bodyPr wrap="square" lIns="25400" tIns="25400" rIns="25400" bIns="25400" rtlCol="0" anchor="t">
            <a:normAutofit/>
          </a:bodyPr>
          <a:lstStyle/>
          <a:p>
            <a:pPr algn="l" indent="0" marL="0">
              <a:lnSpc>
                <a:spcPct val="93625"/>
              </a:lnSpc>
              <a:buNone/>
            </a:pPr>
            <a:r>
              <a:rPr lang="en-US" sz="4200" spc="-63" kern="0" dirty="0">
                <a:solidFill>
                  <a:srgbClr val="29211A"/>
                </a:solidFill>
                <a:latin typeface="Georgia" pitchFamily="34" charset="0"/>
                <a:ea typeface="Georgia" pitchFamily="34" charset="-122"/>
                <a:cs typeface="Georgia" pitchFamily="34" charset="-120"/>
              </a:rPr>
              <a:t>Start with the person. Not the technology. Not the budget.</a:t>
            </a:r>
            <a:endParaRPr lang="en-US" sz="4200" dirty="0"/>
          </a:p>
        </p:txBody>
      </p:sp>
      <p:sp>
        <p:nvSpPr>
          <p:cNvPr id="5" name="Text 3"/>
          <p:cNvSpPr/>
          <p:nvPr/>
        </p:nvSpPr>
        <p:spPr>
          <a:xfrm>
            <a:off x="1143000" y="5811366"/>
            <a:ext cx="670560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CF4B2B"/>
                </a:solidFill>
                <a:latin typeface="Arial" pitchFamily="34" charset="0"/>
                <a:ea typeface="Arial" pitchFamily="34" charset="-122"/>
                <a:cs typeface="Arial" pitchFamily="34" charset="-120"/>
              </a:rPr>
              <a:t>Desirable </a:t>
            </a:r>
            <a:pPr algn="l" indent="0" marL="0">
              <a:buNone/>
            </a:pPr>
            <a:r>
              <a:rPr lang="en-US" sz="2250" dirty="0">
                <a:solidFill>
                  <a:srgbClr val="4A3F33"/>
                </a:solidFill>
                <a:latin typeface="Arial" pitchFamily="34" charset="0"/>
                <a:ea typeface="Arial" pitchFamily="34" charset="-122"/>
                <a:cs typeface="Arial" pitchFamily="34" charset="-120"/>
              </a:rPr>
              <a:t>— do people want it? </a:t>
            </a:r>
            <a:pPr algn="l" indent="0" marL="0">
              <a:buNone/>
            </a:pPr>
            <a:r>
              <a:rPr lang="en-US" sz="2250" dirty="0">
                <a:solidFill>
                  <a:srgbClr val="8A7A64"/>
                </a:solidFill>
                <a:latin typeface="Arial" pitchFamily="34" charset="0"/>
                <a:ea typeface="Arial" pitchFamily="34" charset="-122"/>
                <a:cs typeface="Arial" pitchFamily="34" charset="-120"/>
              </a:rPr>
              <a:t>(this morning)</a:t>
            </a:r>
            <a:endParaRPr lang="en-US" sz="2250" dirty="0"/>
          </a:p>
        </p:txBody>
      </p:sp>
      <p:sp>
        <p:nvSpPr>
          <p:cNvPr id="6" name="Text 4"/>
          <p:cNvSpPr/>
          <p:nvPr/>
        </p:nvSpPr>
        <p:spPr>
          <a:xfrm>
            <a:off x="1143000" y="6292379"/>
            <a:ext cx="670560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2F6F86"/>
                </a:solidFill>
                <a:latin typeface="Arial" pitchFamily="34" charset="0"/>
                <a:ea typeface="Arial" pitchFamily="34" charset="-122"/>
                <a:cs typeface="Arial" pitchFamily="34" charset="-120"/>
              </a:rPr>
              <a:t>Feasible </a:t>
            </a:r>
            <a:pPr algn="l" indent="0" marL="0">
              <a:buNone/>
            </a:pPr>
            <a:r>
              <a:rPr lang="en-US" sz="2250" dirty="0">
                <a:solidFill>
                  <a:srgbClr val="4A3F33"/>
                </a:solidFill>
                <a:latin typeface="Arial" pitchFamily="34" charset="0"/>
                <a:ea typeface="Arial" pitchFamily="34" charset="-122"/>
                <a:cs typeface="Arial" pitchFamily="34" charset="-120"/>
              </a:rPr>
              <a:t>— can we build it? </a:t>
            </a:r>
            <a:pPr algn="l" indent="0" marL="0">
              <a:buNone/>
            </a:pPr>
            <a:r>
              <a:rPr lang="en-US" sz="2250" dirty="0">
                <a:solidFill>
                  <a:srgbClr val="8A7A64"/>
                </a:solidFill>
                <a:latin typeface="Arial" pitchFamily="34" charset="0"/>
                <a:ea typeface="Arial" pitchFamily="34" charset="-122"/>
                <a:cs typeface="Arial" pitchFamily="34" charset="-120"/>
              </a:rPr>
              <a:t>(after lunch)</a:t>
            </a:r>
            <a:endParaRPr lang="en-US" sz="2250" dirty="0"/>
          </a:p>
        </p:txBody>
      </p:sp>
      <p:sp>
        <p:nvSpPr>
          <p:cNvPr id="7" name="Text 5"/>
          <p:cNvSpPr/>
          <p:nvPr/>
        </p:nvSpPr>
        <p:spPr>
          <a:xfrm>
            <a:off x="1143000" y="6773391"/>
            <a:ext cx="670560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6D9A54"/>
                </a:solidFill>
                <a:latin typeface="Arial" pitchFamily="34" charset="0"/>
                <a:ea typeface="Arial" pitchFamily="34" charset="-122"/>
                <a:cs typeface="Arial" pitchFamily="34" charset="-120"/>
              </a:rPr>
              <a:t>Viable </a:t>
            </a:r>
            <a:pPr algn="l" indent="0" marL="0">
              <a:buNone/>
            </a:pPr>
            <a:r>
              <a:rPr lang="en-US" sz="2250" dirty="0">
                <a:solidFill>
                  <a:srgbClr val="4A3F33"/>
                </a:solidFill>
                <a:latin typeface="Arial" pitchFamily="34" charset="0"/>
                <a:ea typeface="Arial" pitchFamily="34" charset="-122"/>
                <a:cs typeface="Arial" pitchFamily="34" charset="-120"/>
              </a:rPr>
              <a:t>— can we sustain it? </a:t>
            </a:r>
            <a:pPr algn="l" indent="0" marL="0">
              <a:buNone/>
            </a:pPr>
            <a:r>
              <a:rPr lang="en-US" sz="2250" dirty="0">
                <a:solidFill>
                  <a:srgbClr val="8A7A64"/>
                </a:solidFill>
                <a:latin typeface="Arial" pitchFamily="34" charset="0"/>
                <a:ea typeface="Arial" pitchFamily="34" charset="-122"/>
                <a:cs typeface="Arial" pitchFamily="34" charset="-120"/>
              </a:rPr>
              <a:t>(the backlog)</a:t>
            </a:r>
            <a:endParaRPr lang="en-US" sz="2250" dirty="0"/>
          </a:p>
        </p:txBody>
      </p:sp>
      <p:sp>
        <p:nvSpPr>
          <p:cNvPr id="8" name="Shape 6"/>
          <p:cNvSpPr/>
          <p:nvPr/>
        </p:nvSpPr>
        <p:spPr>
          <a:xfrm>
            <a:off x="8953500" y="2514600"/>
            <a:ext cx="3238500" cy="3238500"/>
          </a:xfrm>
          <a:prstGeom prst="ellipse">
            <a:avLst/>
          </a:prstGeom>
          <a:solidFill>
            <a:srgbClr val="CF4B2B">
              <a:alpha val="16000"/>
            </a:srgbClr>
          </a:solidFill>
          <a:ln w="19050">
            <a:solidFill>
              <a:srgbClr val="CF4B2B"/>
            </a:solidFill>
            <a:prstDash val="solid"/>
          </a:ln>
        </p:spPr>
      </p:sp>
      <p:sp>
        <p:nvSpPr>
          <p:cNvPr id="9" name="Shape 7"/>
          <p:cNvSpPr/>
          <p:nvPr/>
        </p:nvSpPr>
        <p:spPr>
          <a:xfrm>
            <a:off x="8096250" y="4419600"/>
            <a:ext cx="3238500" cy="3238500"/>
          </a:xfrm>
          <a:prstGeom prst="ellipse">
            <a:avLst/>
          </a:prstGeom>
          <a:solidFill>
            <a:srgbClr val="2F6F86">
              <a:alpha val="16000"/>
            </a:srgbClr>
          </a:solidFill>
          <a:ln w="19050">
            <a:solidFill>
              <a:srgbClr val="2F6F86"/>
            </a:solidFill>
            <a:prstDash val="solid"/>
          </a:ln>
        </p:spPr>
      </p:sp>
      <p:sp>
        <p:nvSpPr>
          <p:cNvPr id="10" name="Shape 8"/>
          <p:cNvSpPr/>
          <p:nvPr/>
        </p:nvSpPr>
        <p:spPr>
          <a:xfrm>
            <a:off x="9810750" y="4419600"/>
            <a:ext cx="3238500" cy="3238500"/>
          </a:xfrm>
          <a:prstGeom prst="ellipse">
            <a:avLst/>
          </a:prstGeom>
          <a:solidFill>
            <a:srgbClr val="6D9A54">
              <a:alpha val="16000"/>
            </a:srgbClr>
          </a:solidFill>
          <a:ln w="19050">
            <a:solidFill>
              <a:srgbClr val="6D9A54"/>
            </a:solidFill>
            <a:prstDash val="solid"/>
          </a:ln>
        </p:spPr>
      </p:sp>
      <p:sp>
        <p:nvSpPr>
          <p:cNvPr id="11" name="Text 9"/>
          <p:cNvSpPr/>
          <p:nvPr/>
        </p:nvSpPr>
        <p:spPr>
          <a:xfrm>
            <a:off x="10049694" y="2838450"/>
            <a:ext cx="1122313"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Desirable</a:t>
            </a:r>
            <a:endParaRPr lang="en-US" sz="1950" dirty="0"/>
          </a:p>
        </p:txBody>
      </p:sp>
      <p:sp>
        <p:nvSpPr>
          <p:cNvPr id="12" name="Text 10"/>
          <p:cNvSpPr/>
          <p:nvPr/>
        </p:nvSpPr>
        <p:spPr>
          <a:xfrm>
            <a:off x="8324850" y="7181850"/>
            <a:ext cx="1012329"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2F6F86"/>
                </a:solidFill>
                <a:latin typeface="Arial" pitchFamily="34" charset="0"/>
                <a:ea typeface="Arial" pitchFamily="34" charset="-122"/>
                <a:cs typeface="Arial" pitchFamily="34" charset="-120"/>
              </a:rPr>
              <a:t>Feasible</a:t>
            </a:r>
            <a:endParaRPr lang="en-US" sz="1950" dirty="0"/>
          </a:p>
        </p:txBody>
      </p:sp>
      <p:sp>
        <p:nvSpPr>
          <p:cNvPr id="13" name="Text 11"/>
          <p:cNvSpPr/>
          <p:nvPr/>
        </p:nvSpPr>
        <p:spPr>
          <a:xfrm>
            <a:off x="12136710" y="7181850"/>
            <a:ext cx="760140"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6D9A54"/>
                </a:solidFill>
                <a:latin typeface="Arial" pitchFamily="34" charset="0"/>
                <a:ea typeface="Arial" pitchFamily="34" charset="-122"/>
                <a:cs typeface="Arial" pitchFamily="34" charset="-120"/>
              </a:rPr>
              <a:t>Viable</a:t>
            </a:r>
            <a:endParaRPr lang="en-US" sz="1950" dirty="0"/>
          </a:p>
        </p:txBody>
      </p:sp>
      <p:sp>
        <p:nvSpPr>
          <p:cNvPr id="14" name="Text 12"/>
          <p:cNvSpPr/>
          <p:nvPr/>
        </p:nvSpPr>
        <p:spPr>
          <a:xfrm>
            <a:off x="10333100" y="4895850"/>
            <a:ext cx="479301" cy="609600"/>
          </a:xfrm>
          <a:prstGeom prst="rect">
            <a:avLst/>
          </a:prstGeom>
          <a:noFill/>
          <a:ln/>
        </p:spPr>
        <p:txBody>
          <a:bodyPr wrap="square" lIns="25400" tIns="25400" rIns="25400" bIns="25400" rtlCol="0" anchor="t">
            <a:normAutofit/>
          </a:bodyPr>
          <a:lstStyle/>
          <a:p>
            <a:pPr algn="ctr" indent="0" marL="0">
              <a:lnSpc>
                <a:spcPct val="88235"/>
              </a:lnSpc>
              <a:buNone/>
            </a:pPr>
            <a:r>
              <a:rPr lang="en-US" sz="2250" i="1" dirty="0">
                <a:solidFill>
                  <a:srgbClr val="29211A"/>
                </a:solidFill>
                <a:latin typeface="Georgia" pitchFamily="34" charset="0"/>
                <a:ea typeface="Georgia" pitchFamily="34" charset="-122"/>
                <a:cs typeface="Georgia" pitchFamily="34" charset="-120"/>
              </a:rPr>
              <a:t>the job</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985838"/>
            <a:ext cx="8805193"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THE MAP</a:t>
            </a:r>
            <a:endParaRPr lang="en-US" sz="1800" dirty="0"/>
          </a:p>
        </p:txBody>
      </p:sp>
      <p:sp>
        <p:nvSpPr>
          <p:cNvPr id="4" name="Text 2"/>
          <p:cNvSpPr/>
          <p:nvPr/>
        </p:nvSpPr>
        <p:spPr>
          <a:xfrm>
            <a:off x="1143000" y="1404938"/>
            <a:ext cx="8805193"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spc="-74" kern="0" dirty="0">
                <a:solidFill>
                  <a:srgbClr val="29211A"/>
                </a:solidFill>
                <a:latin typeface="Georgia" pitchFamily="34" charset="0"/>
                <a:ea typeface="Georgia" pitchFamily="34" charset="-122"/>
                <a:cs typeface="Georgia" pitchFamily="34" charset="-120"/>
              </a:rPr>
              <a:t>Go wide. Then narrow. Twice.</a:t>
            </a:r>
            <a:endParaRPr lang="en-US" sz="4950" dirty="0"/>
          </a:p>
        </p:txBody>
      </p:sp>
      <p:sp>
        <p:nvSpPr>
          <p:cNvPr id="5" name="Text 3"/>
          <p:cNvSpPr/>
          <p:nvPr/>
        </p:nvSpPr>
        <p:spPr>
          <a:xfrm>
            <a:off x="14176788" y="876300"/>
            <a:ext cx="2968212" cy="1152525"/>
          </a:xfrm>
          <a:prstGeom prst="rect">
            <a:avLst/>
          </a:prstGeom>
          <a:noFill/>
          <a:ln/>
        </p:spPr>
        <p:txBody>
          <a:bodyPr wrap="square" lIns="25400" tIns="25400" rIns="25400" bIns="25400" rtlCol="0" anchor="t">
            <a:normAutofit/>
          </a:bodyPr>
          <a:lstStyle/>
          <a:p>
            <a:pPr algn="r" indent="0" marL="0">
              <a:buNone/>
            </a:pPr>
            <a:r>
              <a:rPr lang="en-US" sz="2550" dirty="0">
                <a:solidFill>
                  <a:srgbClr val="CF4B2B"/>
                </a:solidFill>
                <a:latin typeface="Arial" pitchFamily="34" charset="0"/>
                <a:ea typeface="Arial" pitchFamily="34" charset="-122"/>
                <a:cs typeface="Arial" pitchFamily="34" charset="-120"/>
              </a:rPr>
              <a:t>you can't pick a good idea you never had</a:t>
            </a:r>
            <a:endParaRPr lang="en-US" sz="2550" dirty="0"/>
          </a:p>
        </p:txBody>
      </p:sp>
      <p:sp>
        <p:nvSpPr>
          <p:cNvPr id="6" name="Text 4"/>
          <p:cNvSpPr/>
          <p:nvPr/>
        </p:nvSpPr>
        <p:spPr>
          <a:xfrm>
            <a:off x="742950" y="2688431"/>
            <a:ext cx="8801100"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PROBLEM</a:t>
            </a:r>
            <a:endParaRPr lang="en-US" sz="1800" dirty="0"/>
          </a:p>
        </p:txBody>
      </p:sp>
      <p:sp>
        <p:nvSpPr>
          <p:cNvPr id="7" name="Text 5"/>
          <p:cNvSpPr/>
          <p:nvPr/>
        </p:nvSpPr>
        <p:spPr>
          <a:xfrm>
            <a:off x="8743950" y="2688431"/>
            <a:ext cx="8801100"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SOLUTION</a:t>
            </a:r>
            <a:endParaRPr lang="en-US" sz="18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2993231"/>
            <a:ext cx="16002000" cy="4800600"/>
          </a:xfrm>
          <a:prstGeom prst="rect">
            <a:avLst/>
          </a:prstGeom>
        </p:spPr>
      </p:pic>
      <p:sp>
        <p:nvSpPr>
          <p:cNvPr id="9" name="Text 6"/>
          <p:cNvSpPr/>
          <p:nvPr/>
        </p:nvSpPr>
        <p:spPr>
          <a:xfrm>
            <a:off x="902970" y="7774781"/>
            <a:ext cx="16482060" cy="409575"/>
          </a:xfrm>
          <a:prstGeom prst="rect">
            <a:avLst/>
          </a:prstGeom>
          <a:noFill/>
          <a:ln/>
        </p:spPr>
        <p:txBody>
          <a:bodyPr wrap="square" lIns="25400" tIns="25400" rIns="25400" bIns="25400" rtlCol="0" anchor="t">
            <a:normAutofit/>
          </a:bodyPr>
          <a:lstStyle/>
          <a:p>
            <a:pPr algn="ctr" indent="0" marL="0">
              <a:buNone/>
            </a:pPr>
            <a:r>
              <a:rPr lang="en-US" sz="2550" dirty="0">
                <a:solidFill>
                  <a:srgbClr val="CF4B2B"/>
                </a:solidFill>
                <a:latin typeface="Arial" pitchFamily="34" charset="0"/>
                <a:ea typeface="Arial" pitchFamily="34" charset="-122"/>
                <a:cs typeface="Arial" pitchFamily="34" charset="-120"/>
              </a:rPr>
              <a:t>you are here — yesterday closed Discover</a:t>
            </a:r>
            <a:endParaRPr lang="en-US" sz="2550" dirty="0"/>
          </a:p>
        </p:txBody>
      </p:sp>
      <p:sp>
        <p:nvSpPr>
          <p:cNvPr id="10" name="Text 7"/>
          <p:cNvSpPr/>
          <p:nvPr/>
        </p:nvSpPr>
        <p:spPr>
          <a:xfrm>
            <a:off x="942975" y="8279606"/>
            <a:ext cx="4400550" cy="285750"/>
          </a:xfrm>
          <a:prstGeom prst="rect">
            <a:avLst/>
          </a:prstGeom>
          <a:noFill/>
          <a:ln/>
        </p:spPr>
        <p:txBody>
          <a:bodyPr wrap="square" lIns="25400" tIns="25400" rIns="25400" bIns="25400" rtlCol="0" anchor="t">
            <a:normAutofit/>
          </a:bodyPr>
          <a:lstStyle/>
          <a:p>
            <a:pPr algn="ctr" indent="0" marL="0">
              <a:lnSpc>
                <a:spcPct val="86667"/>
              </a:lnSpc>
              <a:buNone/>
            </a:pPr>
            <a:r>
              <a:rPr lang="en-US" sz="1950" b="1" dirty="0">
                <a:solidFill>
                  <a:srgbClr val="29211A"/>
                </a:solidFill>
                <a:latin typeface="Arial" pitchFamily="34" charset="0"/>
                <a:ea typeface="Arial" pitchFamily="34" charset="-122"/>
                <a:cs typeface="Arial" pitchFamily="34" charset="-120"/>
              </a:rPr>
              <a:t>Discover</a:t>
            </a:r>
            <a:endParaRPr lang="en-US" sz="1950" dirty="0"/>
          </a:p>
        </p:txBody>
      </p:sp>
      <p:sp>
        <p:nvSpPr>
          <p:cNvPr id="11" name="Text 8"/>
          <p:cNvSpPr/>
          <p:nvPr/>
        </p:nvSpPr>
        <p:spPr>
          <a:xfrm>
            <a:off x="942975" y="8584406"/>
            <a:ext cx="440055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gather everything</a:t>
            </a:r>
            <a:endParaRPr lang="en-US" sz="1800" dirty="0"/>
          </a:p>
        </p:txBody>
      </p:sp>
      <p:sp>
        <p:nvSpPr>
          <p:cNvPr id="12" name="Text 9"/>
          <p:cNvSpPr/>
          <p:nvPr/>
        </p:nvSpPr>
        <p:spPr>
          <a:xfrm>
            <a:off x="4943475" y="8279606"/>
            <a:ext cx="4400550" cy="285750"/>
          </a:xfrm>
          <a:prstGeom prst="rect">
            <a:avLst/>
          </a:prstGeom>
          <a:noFill/>
          <a:ln/>
        </p:spPr>
        <p:txBody>
          <a:bodyPr wrap="square" lIns="25400" tIns="25400" rIns="25400" bIns="25400" rtlCol="0" anchor="t">
            <a:normAutofit/>
          </a:bodyPr>
          <a:lstStyle/>
          <a:p>
            <a:pPr algn="ctr" indent="0" marL="0">
              <a:lnSpc>
                <a:spcPct val="86667"/>
              </a:lnSpc>
              <a:buNone/>
            </a:pPr>
            <a:r>
              <a:rPr lang="en-US" sz="1950" b="1" dirty="0">
                <a:solidFill>
                  <a:srgbClr val="29211A"/>
                </a:solidFill>
                <a:latin typeface="Arial" pitchFamily="34" charset="0"/>
                <a:ea typeface="Arial" pitchFamily="34" charset="-122"/>
                <a:cs typeface="Arial" pitchFamily="34" charset="-120"/>
              </a:rPr>
              <a:t>Define</a:t>
            </a:r>
            <a:endParaRPr lang="en-US" sz="1950" dirty="0"/>
          </a:p>
        </p:txBody>
      </p:sp>
      <p:sp>
        <p:nvSpPr>
          <p:cNvPr id="13" name="Text 10"/>
          <p:cNvSpPr/>
          <p:nvPr/>
        </p:nvSpPr>
        <p:spPr>
          <a:xfrm>
            <a:off x="4943475" y="8584406"/>
            <a:ext cx="440055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the problem worth solving</a:t>
            </a:r>
            <a:endParaRPr lang="en-US" sz="1800" dirty="0"/>
          </a:p>
        </p:txBody>
      </p:sp>
      <p:sp>
        <p:nvSpPr>
          <p:cNvPr id="14" name="Text 11"/>
          <p:cNvSpPr/>
          <p:nvPr/>
        </p:nvSpPr>
        <p:spPr>
          <a:xfrm>
            <a:off x="8943975" y="8279606"/>
            <a:ext cx="4400550" cy="285750"/>
          </a:xfrm>
          <a:prstGeom prst="rect">
            <a:avLst/>
          </a:prstGeom>
          <a:noFill/>
          <a:ln/>
        </p:spPr>
        <p:txBody>
          <a:bodyPr wrap="square" lIns="25400" tIns="25400" rIns="25400" bIns="25400" rtlCol="0" anchor="t">
            <a:normAutofit/>
          </a:bodyPr>
          <a:lstStyle/>
          <a:p>
            <a:pPr algn="ctr" indent="0" marL="0">
              <a:lnSpc>
                <a:spcPct val="86667"/>
              </a:lnSpc>
              <a:buNone/>
            </a:pPr>
            <a:r>
              <a:rPr lang="en-US" sz="1950" b="1" dirty="0">
                <a:solidFill>
                  <a:srgbClr val="29211A"/>
                </a:solidFill>
                <a:latin typeface="Arial" pitchFamily="34" charset="0"/>
                <a:ea typeface="Arial" pitchFamily="34" charset="-122"/>
                <a:cs typeface="Arial" pitchFamily="34" charset="-120"/>
              </a:rPr>
              <a:t>Develop</a:t>
            </a:r>
            <a:endParaRPr lang="en-US" sz="1950" dirty="0"/>
          </a:p>
        </p:txBody>
      </p:sp>
      <p:sp>
        <p:nvSpPr>
          <p:cNvPr id="15" name="Text 12"/>
          <p:cNvSpPr/>
          <p:nvPr/>
        </p:nvSpPr>
        <p:spPr>
          <a:xfrm>
            <a:off x="8943975" y="8584406"/>
            <a:ext cx="440055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many possible answers</a:t>
            </a:r>
            <a:endParaRPr lang="en-US" sz="1800" dirty="0"/>
          </a:p>
        </p:txBody>
      </p:sp>
      <p:sp>
        <p:nvSpPr>
          <p:cNvPr id="16" name="Text 13"/>
          <p:cNvSpPr/>
          <p:nvPr/>
        </p:nvSpPr>
        <p:spPr>
          <a:xfrm>
            <a:off x="12944475" y="8279606"/>
            <a:ext cx="4400550" cy="285750"/>
          </a:xfrm>
          <a:prstGeom prst="rect">
            <a:avLst/>
          </a:prstGeom>
          <a:noFill/>
          <a:ln/>
        </p:spPr>
        <p:txBody>
          <a:bodyPr wrap="square" lIns="25400" tIns="25400" rIns="25400" bIns="25400" rtlCol="0" anchor="t">
            <a:normAutofit/>
          </a:bodyPr>
          <a:lstStyle/>
          <a:p>
            <a:pPr algn="ctr" indent="0" marL="0">
              <a:lnSpc>
                <a:spcPct val="86667"/>
              </a:lnSpc>
              <a:buNone/>
            </a:pPr>
            <a:r>
              <a:rPr lang="en-US" sz="1950" b="1" dirty="0">
                <a:solidFill>
                  <a:srgbClr val="29211A"/>
                </a:solidFill>
                <a:latin typeface="Arial" pitchFamily="34" charset="0"/>
                <a:ea typeface="Arial" pitchFamily="34" charset="-122"/>
                <a:cs typeface="Arial" pitchFamily="34" charset="-120"/>
              </a:rPr>
              <a:t>Deliver</a:t>
            </a:r>
            <a:endParaRPr lang="en-US" sz="1950" dirty="0"/>
          </a:p>
        </p:txBody>
      </p:sp>
      <p:sp>
        <p:nvSpPr>
          <p:cNvPr id="17" name="Text 14"/>
          <p:cNvSpPr/>
          <p:nvPr/>
        </p:nvSpPr>
        <p:spPr>
          <a:xfrm>
            <a:off x="12944475" y="8584406"/>
            <a:ext cx="440055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what gets built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THE SAME MAP</a:t>
            </a:r>
            <a:endParaRPr lang="en-US" sz="1800" dirty="0"/>
          </a:p>
        </p:txBody>
      </p:sp>
      <p:sp>
        <p:nvSpPr>
          <p:cNvPr id="4" name="Text 2"/>
          <p:cNvSpPr/>
          <p:nvPr/>
        </p:nvSpPr>
        <p:spPr>
          <a:xfrm>
            <a:off x="1143000" y="1295400"/>
            <a:ext cx="10007578" cy="1333054"/>
          </a:xfrm>
          <a:prstGeom prst="rect">
            <a:avLst/>
          </a:prstGeom>
          <a:noFill/>
          <a:ln/>
        </p:spPr>
        <p:txBody>
          <a:bodyPr wrap="square" lIns="25400" tIns="25400" rIns="25400" bIns="25400" rtlCol="0" anchor="t">
            <a:normAutofit/>
          </a:bodyPr>
          <a:lstStyle/>
          <a:p>
            <a:pPr algn="l" indent="0" marL="0">
              <a:lnSpc>
                <a:spcPct val="90640"/>
              </a:lnSpc>
              <a:buNone/>
            </a:pPr>
            <a:r>
              <a:rPr lang="en-US" sz="4950" spc="-74" kern="0" dirty="0">
                <a:solidFill>
                  <a:srgbClr val="29211A"/>
                </a:solidFill>
                <a:latin typeface="Georgia" pitchFamily="34" charset="0"/>
                <a:ea typeface="Georgia" pitchFamily="34" charset="-122"/>
                <a:cs typeface="Georgia" pitchFamily="34" charset="-120"/>
              </a:rPr>
              <a:t>Most failed projects were built exactly as requested.</a:t>
            </a:r>
            <a:endParaRPr lang="en-US" sz="4950" dirty="0"/>
          </a:p>
        </p:txBody>
      </p:sp>
      <p:sp>
        <p:nvSpPr>
          <p:cNvPr id="5" name="Text 3"/>
          <p:cNvSpPr/>
          <p:nvPr/>
        </p:nvSpPr>
        <p:spPr>
          <a:xfrm>
            <a:off x="742950" y="3223989"/>
            <a:ext cx="8801100"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PROBLEM</a:t>
            </a:r>
            <a:endParaRPr lang="en-US" sz="1800" dirty="0"/>
          </a:p>
        </p:txBody>
      </p:sp>
      <p:sp>
        <p:nvSpPr>
          <p:cNvPr id="6" name="Text 4"/>
          <p:cNvSpPr/>
          <p:nvPr/>
        </p:nvSpPr>
        <p:spPr>
          <a:xfrm>
            <a:off x="8743950" y="3223989"/>
            <a:ext cx="8801100"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SOLUTION</a:t>
            </a:r>
            <a:endParaRPr lang="en-US" sz="1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3528789"/>
            <a:ext cx="16002000" cy="4800600"/>
          </a:xfrm>
          <a:prstGeom prst="rect">
            <a:avLst/>
          </a:prstGeom>
        </p:spPr>
      </p:pic>
      <p:sp>
        <p:nvSpPr>
          <p:cNvPr id="8" name="Text 5"/>
          <p:cNvSpPr/>
          <p:nvPr/>
        </p:nvSpPr>
        <p:spPr>
          <a:xfrm>
            <a:off x="1143000" y="8481789"/>
            <a:ext cx="2484150" cy="409575"/>
          </a:xfrm>
          <a:prstGeom prst="rect">
            <a:avLst/>
          </a:prstGeom>
          <a:noFill/>
          <a:ln/>
        </p:spPr>
        <p:txBody>
          <a:bodyPr wrap="square" lIns="25400" tIns="25400" rIns="25400" bIns="25400" rtlCol="0" anchor="t">
            <a:normAutofit/>
          </a:bodyPr>
          <a:lstStyle/>
          <a:p>
            <a:pPr algn="l" indent="0" marL="0">
              <a:buNone/>
            </a:pPr>
            <a:r>
              <a:rPr lang="en-US" sz="2550" dirty="0">
                <a:solidFill>
                  <a:srgbClr val="CF4B2B"/>
                </a:solidFill>
                <a:latin typeface="Arial" pitchFamily="34" charset="0"/>
                <a:ea typeface="Arial" pitchFamily="34" charset="-122"/>
                <a:cs typeface="Arial" pitchFamily="34" charset="-120"/>
              </a:rPr>
              <a:t>someone's idea</a:t>
            </a:r>
            <a:endParaRPr lang="en-US" sz="2550" dirty="0"/>
          </a:p>
        </p:txBody>
      </p:sp>
      <p:sp>
        <p:nvSpPr>
          <p:cNvPr id="9" name="Text 6"/>
          <p:cNvSpPr/>
          <p:nvPr/>
        </p:nvSpPr>
        <p:spPr>
          <a:xfrm>
            <a:off x="15471130" y="8481789"/>
            <a:ext cx="1841257" cy="409575"/>
          </a:xfrm>
          <a:prstGeom prst="rect">
            <a:avLst/>
          </a:prstGeom>
          <a:noFill/>
          <a:ln/>
        </p:spPr>
        <p:txBody>
          <a:bodyPr wrap="square" lIns="25400" tIns="25400" rIns="25400" bIns="25400" rtlCol="0" anchor="t">
            <a:normAutofit/>
          </a:bodyPr>
          <a:lstStyle/>
          <a:p>
            <a:pPr algn="l" indent="0" marL="0">
              <a:buNone/>
            </a:pPr>
            <a:r>
              <a:rPr lang="en-US" sz="2550" dirty="0">
                <a:solidFill>
                  <a:srgbClr val="CF4B2B"/>
                </a:solidFill>
                <a:latin typeface="Arial" pitchFamily="34" charset="0"/>
                <a:ea typeface="Arial" pitchFamily="34" charset="-122"/>
                <a:cs typeface="Arial" pitchFamily="34" charset="-120"/>
              </a:rPr>
              <a:t>…build it →</a:t>
            </a:r>
            <a:endParaRPr lang="en-US" sz="2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WHAT CHANGES FOR YOU</a:t>
            </a:r>
            <a:endParaRPr lang="en-US" sz="1800" dirty="0"/>
          </a:p>
        </p:txBody>
      </p:sp>
      <p:sp>
        <p:nvSpPr>
          <p:cNvPr id="4" name="Text 2"/>
          <p:cNvSpPr/>
          <p:nvPr/>
        </p:nvSpPr>
        <p:spPr>
          <a:xfrm>
            <a:off x="1143000" y="1314450"/>
            <a:ext cx="9271159" cy="1148953"/>
          </a:xfrm>
          <a:prstGeom prst="rect">
            <a:avLst/>
          </a:prstGeom>
          <a:noFill/>
          <a:ln/>
        </p:spPr>
        <p:txBody>
          <a:bodyPr wrap="square" lIns="25400" tIns="25400" rIns="25400" bIns="25400" rtlCol="0" anchor="t">
            <a:normAutofit/>
          </a:bodyPr>
          <a:lstStyle/>
          <a:p>
            <a:pPr algn="l" indent="0" marL="0">
              <a:lnSpc>
                <a:spcPct val="94829"/>
              </a:lnSpc>
              <a:buNone/>
            </a:pPr>
            <a:r>
              <a:rPr lang="en-US" sz="4050" spc="-61" kern="0" dirty="0">
                <a:solidFill>
                  <a:srgbClr val="29211A"/>
                </a:solidFill>
                <a:latin typeface="Georgia" pitchFamily="34" charset="0"/>
                <a:ea typeface="Georgia" pitchFamily="34" charset="-122"/>
                <a:cs typeface="Georgia" pitchFamily="34" charset="-120"/>
              </a:rPr>
              <a:t>You are not a stakeholder we check in with. You are part of the process.</a:t>
            </a:r>
            <a:endParaRPr lang="en-US" sz="4050" dirty="0"/>
          </a:p>
        </p:txBody>
      </p:sp>
      <p:sp>
        <p:nvSpPr>
          <p:cNvPr id="5" name="Shape 3"/>
          <p:cNvSpPr/>
          <p:nvPr/>
        </p:nvSpPr>
        <p:spPr>
          <a:xfrm>
            <a:off x="1143000" y="7843838"/>
            <a:ext cx="3843338" cy="1643063"/>
          </a:xfrm>
          <a:prstGeom prst="roundRect">
            <a:avLst>
              <a:gd name="adj" fmla="val 8116"/>
            </a:avLst>
          </a:prstGeom>
          <a:solidFill>
            <a:srgbClr val="F5EFE3"/>
          </a:solidFill>
          <a:ln w="9525">
            <a:solidFill>
              <a:srgbClr val="29211A">
                <a:alpha val="14000"/>
              </a:srgbClr>
            </a:solidFill>
            <a:prstDash val="solid"/>
          </a:ln>
        </p:spPr>
      </p:sp>
      <p:sp>
        <p:nvSpPr>
          <p:cNvPr id="6" name="Text 4"/>
          <p:cNvSpPr/>
          <p:nvPr/>
        </p:nvSpPr>
        <p:spPr>
          <a:xfrm>
            <a:off x="1419225" y="8139112"/>
            <a:ext cx="3389614" cy="728663"/>
          </a:xfrm>
          <a:prstGeom prst="rect">
            <a:avLst/>
          </a:prstGeom>
          <a:noFill/>
          <a:ln/>
        </p:spPr>
        <p:txBody>
          <a:bodyPr wrap="square" lIns="25400" tIns="25400" rIns="25400" bIns="25400" rtlCol="0" anchor="t">
            <a:normAutofit/>
          </a:bodyPr>
          <a:lstStyle/>
          <a:p>
            <a:pPr algn="l" indent="0" marL="0">
              <a:lnSpc>
                <a:spcPct val="101471"/>
              </a:lnSpc>
              <a:buNone/>
            </a:pPr>
            <a:r>
              <a:rPr lang="en-US" sz="2250" dirty="0">
                <a:solidFill>
                  <a:srgbClr val="29211A"/>
                </a:solidFill>
                <a:latin typeface="Georgia" pitchFamily="34" charset="0"/>
                <a:ea typeface="Georgia" pitchFamily="34" charset="-122"/>
                <a:cs typeface="Georgia" pitchFamily="34" charset="-120"/>
              </a:rPr>
              <a:t>You'll be asked about </a:t>
            </a:r>
            <a:pPr algn="l" indent="0" marL="0">
              <a:lnSpc>
                <a:spcPct val="101471"/>
              </a:lnSpc>
              <a:buNone/>
            </a:pPr>
            <a:r>
              <a:rPr lang="en-US" sz="2250" b="1" dirty="0">
                <a:solidFill>
                  <a:srgbClr val="29211A"/>
                </a:solidFill>
                <a:latin typeface="Georgia" pitchFamily="34" charset="0"/>
                <a:ea typeface="Georgia" pitchFamily="34" charset="-122"/>
                <a:cs typeface="Georgia" pitchFamily="34" charset="-120"/>
              </a:rPr>
              <a:t>jobs </a:t>
            </a:r>
            <a:pPr algn="l" indent="0" marL="0">
              <a:lnSpc>
                <a:spcPct val="101471"/>
              </a:lnSpc>
              <a:buNone/>
            </a:pPr>
            <a:r>
              <a:rPr lang="en-US" sz="2250" dirty="0">
                <a:solidFill>
                  <a:srgbClr val="29211A"/>
                </a:solidFill>
                <a:latin typeface="Georgia" pitchFamily="34" charset="0"/>
                <a:ea typeface="Georgia" pitchFamily="34" charset="-122"/>
                <a:cs typeface="Georgia" pitchFamily="34" charset="-120"/>
              </a:rPr>
              <a:t>, not features.</a:t>
            </a:r>
            <a:endParaRPr lang="en-US" sz="2250" dirty="0"/>
          </a:p>
        </p:txBody>
      </p:sp>
      <p:sp>
        <p:nvSpPr>
          <p:cNvPr id="7" name="Shape 5"/>
          <p:cNvSpPr/>
          <p:nvPr/>
        </p:nvSpPr>
        <p:spPr>
          <a:xfrm>
            <a:off x="5195888" y="7843838"/>
            <a:ext cx="3843338" cy="1643063"/>
          </a:xfrm>
          <a:prstGeom prst="roundRect">
            <a:avLst>
              <a:gd name="adj" fmla="val 8116"/>
            </a:avLst>
          </a:prstGeom>
          <a:solidFill>
            <a:srgbClr val="F5EFE3"/>
          </a:solidFill>
          <a:ln w="9525">
            <a:solidFill>
              <a:srgbClr val="29211A">
                <a:alpha val="14000"/>
              </a:srgbClr>
            </a:solidFill>
            <a:prstDash val="solid"/>
          </a:ln>
        </p:spPr>
      </p:sp>
      <p:sp>
        <p:nvSpPr>
          <p:cNvPr id="8" name="Text 6"/>
          <p:cNvSpPr/>
          <p:nvPr/>
        </p:nvSpPr>
        <p:spPr>
          <a:xfrm>
            <a:off x="5472113" y="8139112"/>
            <a:ext cx="3389614" cy="762000"/>
          </a:xfrm>
          <a:prstGeom prst="rect">
            <a:avLst/>
          </a:prstGeom>
          <a:noFill/>
          <a:ln/>
        </p:spPr>
        <p:txBody>
          <a:bodyPr wrap="square" lIns="25400" tIns="25400" rIns="25400" bIns="25400" rtlCol="0" anchor="t">
            <a:normAutofit/>
          </a:bodyPr>
          <a:lstStyle/>
          <a:p>
            <a:pPr algn="l" indent="0" marL="0">
              <a:lnSpc>
                <a:spcPct val="101471"/>
              </a:lnSpc>
              <a:buNone/>
            </a:pPr>
            <a:r>
              <a:rPr lang="en-US" sz="2250" dirty="0">
                <a:solidFill>
                  <a:srgbClr val="29211A"/>
                </a:solidFill>
                <a:latin typeface="Georgia" pitchFamily="34" charset="0"/>
                <a:ea typeface="Georgia" pitchFamily="34" charset="-122"/>
                <a:cs typeface="Georgia" pitchFamily="34" charset="-120"/>
              </a:rPr>
              <a:t>You'll see </a:t>
            </a:r>
            <a:pPr algn="l" indent="0" marL="0">
              <a:lnSpc>
                <a:spcPct val="101471"/>
              </a:lnSpc>
              <a:buNone/>
            </a:pPr>
            <a:r>
              <a:rPr lang="en-US" sz="2250" b="1" dirty="0">
                <a:solidFill>
                  <a:srgbClr val="29211A"/>
                </a:solidFill>
                <a:latin typeface="Georgia" pitchFamily="34" charset="0"/>
                <a:ea typeface="Georgia" pitchFamily="34" charset="-122"/>
                <a:cs typeface="Georgia" pitchFamily="34" charset="-120"/>
              </a:rPr>
              <a:t>rough things early </a:t>
            </a:r>
            <a:pPr algn="l" indent="0" marL="0">
              <a:lnSpc>
                <a:spcPct val="101471"/>
              </a:lnSpc>
              <a:buNone/>
            </a:pPr>
            <a:r>
              <a:rPr lang="en-US" sz="2250" dirty="0">
                <a:solidFill>
                  <a:srgbClr val="29211A"/>
                </a:solidFill>
                <a:latin typeface="Georgia" pitchFamily="34" charset="0"/>
                <a:ea typeface="Georgia" pitchFamily="34" charset="-122"/>
                <a:cs typeface="Georgia" pitchFamily="34" charset="-120"/>
              </a:rPr>
              <a:t>— rough on purpose.</a:t>
            </a:r>
            <a:endParaRPr lang="en-US" sz="2250" dirty="0"/>
          </a:p>
        </p:txBody>
      </p:sp>
      <p:sp>
        <p:nvSpPr>
          <p:cNvPr id="9" name="Shape 7"/>
          <p:cNvSpPr/>
          <p:nvPr/>
        </p:nvSpPr>
        <p:spPr>
          <a:xfrm>
            <a:off x="9248775" y="7843838"/>
            <a:ext cx="3843338" cy="1643063"/>
          </a:xfrm>
          <a:prstGeom prst="roundRect">
            <a:avLst>
              <a:gd name="adj" fmla="val 8116"/>
            </a:avLst>
          </a:prstGeom>
          <a:solidFill>
            <a:srgbClr val="F5EFE3"/>
          </a:solidFill>
          <a:ln w="9525">
            <a:solidFill>
              <a:srgbClr val="29211A">
                <a:alpha val="14000"/>
              </a:srgbClr>
            </a:solidFill>
            <a:prstDash val="solid"/>
          </a:ln>
        </p:spPr>
      </p:sp>
      <p:sp>
        <p:nvSpPr>
          <p:cNvPr id="10" name="Text 8"/>
          <p:cNvSpPr/>
          <p:nvPr/>
        </p:nvSpPr>
        <p:spPr>
          <a:xfrm>
            <a:off x="9525000" y="8139112"/>
            <a:ext cx="3389614" cy="1090613"/>
          </a:xfrm>
          <a:prstGeom prst="rect">
            <a:avLst/>
          </a:prstGeom>
          <a:noFill/>
          <a:ln/>
        </p:spPr>
        <p:txBody>
          <a:bodyPr wrap="square" lIns="25400" tIns="25400" rIns="25400" bIns="25400" rtlCol="0" anchor="t">
            <a:normAutofit/>
          </a:bodyPr>
          <a:lstStyle/>
          <a:p>
            <a:pPr algn="l" indent="0" marL="0">
              <a:lnSpc>
                <a:spcPct val="101471"/>
              </a:lnSpc>
              <a:buNone/>
            </a:pPr>
            <a:r>
              <a:rPr lang="en-US" sz="2250" dirty="0">
                <a:solidFill>
                  <a:srgbClr val="29211A"/>
                </a:solidFill>
                <a:latin typeface="Georgia" pitchFamily="34" charset="0"/>
                <a:ea typeface="Georgia" pitchFamily="34" charset="-122"/>
                <a:cs typeface="Georgia" pitchFamily="34" charset="-120"/>
              </a:rPr>
              <a:t>You'll </a:t>
            </a:r>
            <a:pPr algn="l" indent="0" marL="0">
              <a:lnSpc>
                <a:spcPct val="101471"/>
              </a:lnSpc>
              <a:buNone/>
            </a:pPr>
            <a:r>
              <a:rPr lang="en-US" sz="2250" b="1" dirty="0">
                <a:solidFill>
                  <a:srgbClr val="29211A"/>
                </a:solidFill>
                <a:latin typeface="Georgia" pitchFamily="34" charset="0"/>
                <a:ea typeface="Georgia" pitchFamily="34" charset="-122"/>
                <a:cs typeface="Georgia" pitchFamily="34" charset="-120"/>
              </a:rPr>
              <a:t>react to something wrong </a:t>
            </a:r>
            <a:pPr algn="l" indent="0" marL="0">
              <a:lnSpc>
                <a:spcPct val="101471"/>
              </a:lnSpc>
              <a:buNone/>
            </a:pPr>
            <a:r>
              <a:rPr lang="en-US" sz="2250" dirty="0">
                <a:solidFill>
                  <a:srgbClr val="29211A"/>
                </a:solidFill>
                <a:latin typeface="Georgia" pitchFamily="34" charset="0"/>
                <a:ea typeface="Georgia" pitchFamily="34" charset="-122"/>
                <a:cs typeface="Georgia" pitchFamily="34" charset="-120"/>
              </a:rPr>
              <a:t>, not describe something right.</a:t>
            </a:r>
            <a:endParaRPr lang="en-US" sz="2250" dirty="0"/>
          </a:p>
        </p:txBody>
      </p:sp>
      <p:sp>
        <p:nvSpPr>
          <p:cNvPr id="11" name="Shape 9"/>
          <p:cNvSpPr/>
          <p:nvPr/>
        </p:nvSpPr>
        <p:spPr>
          <a:xfrm>
            <a:off x="13301663" y="7843838"/>
            <a:ext cx="3843338" cy="1643063"/>
          </a:xfrm>
          <a:prstGeom prst="roundRect">
            <a:avLst>
              <a:gd name="adj" fmla="val 8116"/>
            </a:avLst>
          </a:prstGeom>
          <a:solidFill>
            <a:srgbClr val="F5EFE3"/>
          </a:solidFill>
          <a:ln w="9525">
            <a:solidFill>
              <a:srgbClr val="29211A">
                <a:alpha val="14000"/>
              </a:srgbClr>
            </a:solidFill>
            <a:prstDash val="solid"/>
          </a:ln>
        </p:spPr>
      </p:sp>
      <p:sp>
        <p:nvSpPr>
          <p:cNvPr id="12" name="Text 10"/>
          <p:cNvSpPr/>
          <p:nvPr/>
        </p:nvSpPr>
        <p:spPr>
          <a:xfrm>
            <a:off x="13577888" y="8139112"/>
            <a:ext cx="3389614" cy="728663"/>
          </a:xfrm>
          <a:prstGeom prst="rect">
            <a:avLst/>
          </a:prstGeom>
          <a:noFill/>
          <a:ln/>
        </p:spPr>
        <p:txBody>
          <a:bodyPr wrap="square" lIns="25400" tIns="25400" rIns="25400" bIns="25400" rtlCol="0" anchor="t">
            <a:normAutofit/>
          </a:bodyPr>
          <a:lstStyle/>
          <a:p>
            <a:pPr algn="l" indent="0" marL="0">
              <a:lnSpc>
                <a:spcPct val="101471"/>
              </a:lnSpc>
              <a:buNone/>
            </a:pPr>
            <a:r>
              <a:rPr lang="en-US" sz="2250" dirty="0">
                <a:solidFill>
                  <a:srgbClr val="29211A"/>
                </a:solidFill>
                <a:latin typeface="Georgia" pitchFamily="34" charset="0"/>
                <a:ea typeface="Georgia" pitchFamily="34" charset="-122"/>
                <a:cs typeface="Georgia" pitchFamily="34" charset="-120"/>
              </a:rPr>
              <a:t>You'll hear </a:t>
            </a:r>
            <a:pPr algn="l" indent="0" marL="0">
              <a:lnSpc>
                <a:spcPct val="101471"/>
              </a:lnSpc>
              <a:buNone/>
            </a:pPr>
            <a:r>
              <a:rPr lang="en-US" sz="2250" b="1" dirty="0">
                <a:solidFill>
                  <a:srgbClr val="29211A"/>
                </a:solidFill>
                <a:latin typeface="Georgia" pitchFamily="34" charset="0"/>
                <a:ea typeface="Georgia" pitchFamily="34" charset="-122"/>
                <a:cs typeface="Georgia" pitchFamily="34" charset="-120"/>
              </a:rPr>
              <a:t>"why" </a:t>
            </a:r>
            <a:pPr algn="l" indent="0" marL="0">
              <a:lnSpc>
                <a:spcPct val="101471"/>
              </a:lnSpc>
              <a:buNone/>
            </a:pPr>
            <a:r>
              <a:rPr lang="en-US" sz="2250" dirty="0">
                <a:solidFill>
                  <a:srgbClr val="29211A"/>
                </a:solidFill>
                <a:latin typeface="Georgia" pitchFamily="34" charset="0"/>
                <a:ea typeface="Georgia" pitchFamily="34" charset="-122"/>
                <a:cs typeface="Georgia" pitchFamily="34" charset="-120"/>
              </a:rPr>
              <a:t>a lot. That's not doubt.</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985838"/>
            <a:ext cx="3419185"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AFTER THE BREAK</a:t>
            </a:r>
            <a:endParaRPr lang="en-US" sz="1800" dirty="0"/>
          </a:p>
        </p:txBody>
      </p:sp>
      <p:sp>
        <p:nvSpPr>
          <p:cNvPr id="4" name="Text 2"/>
          <p:cNvSpPr/>
          <p:nvPr/>
        </p:nvSpPr>
        <p:spPr>
          <a:xfrm>
            <a:off x="1143000" y="1404938"/>
            <a:ext cx="3419185"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spc="-74" kern="0" dirty="0">
                <a:solidFill>
                  <a:srgbClr val="29211A"/>
                </a:solidFill>
                <a:latin typeface="Georgia" pitchFamily="34" charset="0"/>
                <a:ea typeface="Georgia" pitchFamily="34" charset="-122"/>
                <a:cs typeface="Georgia" pitchFamily="34" charset="-120"/>
              </a:rPr>
              <a:t>You're here.</a:t>
            </a:r>
            <a:endParaRPr lang="en-US" sz="4950" dirty="0"/>
          </a:p>
        </p:txBody>
      </p:sp>
      <p:sp>
        <p:nvSpPr>
          <p:cNvPr id="5" name="Text 3"/>
          <p:cNvSpPr/>
          <p:nvPr/>
        </p:nvSpPr>
        <p:spPr>
          <a:xfrm>
            <a:off x="14362349" y="876300"/>
            <a:ext cx="2782651" cy="781050"/>
          </a:xfrm>
          <a:prstGeom prst="rect">
            <a:avLst/>
          </a:prstGeom>
          <a:noFill/>
          <a:ln/>
        </p:spPr>
        <p:txBody>
          <a:bodyPr wrap="square" lIns="25400" tIns="25400" rIns="25400" bIns="25400" rtlCol="0" anchor="t">
            <a:normAutofit/>
          </a:bodyPr>
          <a:lstStyle/>
          <a:p>
            <a:pPr algn="r" indent="0" marL="0">
              <a:buNone/>
            </a:pPr>
            <a:r>
              <a:rPr lang="en-US" sz="2550" dirty="0">
                <a:solidFill>
                  <a:srgbClr val="CF4B2B"/>
                </a:solidFill>
                <a:latin typeface="Arial" pitchFamily="34" charset="0"/>
                <a:ea typeface="Arial" pitchFamily="34" charset="-122"/>
                <a:cs typeface="Arial" pitchFamily="34" charset="-120"/>
              </a:rPr>
              <a:t>yes, there will be drawing</a:t>
            </a:r>
            <a:endParaRPr lang="en-US" sz="2550" dirty="0"/>
          </a:p>
        </p:txBody>
      </p:sp>
      <p:sp>
        <p:nvSpPr>
          <p:cNvPr id="6" name="Text 4"/>
          <p:cNvSpPr/>
          <p:nvPr/>
        </p:nvSpPr>
        <p:spPr>
          <a:xfrm>
            <a:off x="742950" y="3017044"/>
            <a:ext cx="8801100"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PROBLEM</a:t>
            </a:r>
            <a:endParaRPr lang="en-US" sz="1800" dirty="0"/>
          </a:p>
        </p:txBody>
      </p:sp>
      <p:sp>
        <p:nvSpPr>
          <p:cNvPr id="7" name="Text 5"/>
          <p:cNvSpPr/>
          <p:nvPr/>
        </p:nvSpPr>
        <p:spPr>
          <a:xfrm>
            <a:off x="8743950" y="3017044"/>
            <a:ext cx="8801100"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SOLUTION</a:t>
            </a:r>
            <a:endParaRPr lang="en-US" sz="18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3321844"/>
            <a:ext cx="16002000" cy="4800600"/>
          </a:xfrm>
          <a:prstGeom prst="rect">
            <a:avLst/>
          </a:prstGeom>
        </p:spPr>
      </p:pic>
      <p:sp>
        <p:nvSpPr>
          <p:cNvPr id="9" name="Text 6"/>
          <p:cNvSpPr/>
          <p:nvPr/>
        </p:nvSpPr>
        <p:spPr>
          <a:xfrm>
            <a:off x="942975" y="8255794"/>
            <a:ext cx="4400550" cy="285750"/>
          </a:xfrm>
          <a:prstGeom prst="rect">
            <a:avLst/>
          </a:prstGeom>
          <a:noFill/>
          <a:ln/>
        </p:spPr>
        <p:txBody>
          <a:bodyPr wrap="square" lIns="25400" tIns="25400" rIns="25400" bIns="25400" rtlCol="0" anchor="t">
            <a:normAutofit/>
          </a:bodyPr>
          <a:lstStyle/>
          <a:p>
            <a:pPr algn="ctr" indent="0" marL="0">
              <a:lnSpc>
                <a:spcPct val="86667"/>
              </a:lnSpc>
              <a:buNone/>
            </a:pPr>
            <a:r>
              <a:rPr lang="en-US" sz="1950" b="1" dirty="0">
                <a:solidFill>
                  <a:srgbClr val="8A7A64"/>
                </a:solidFill>
                <a:latin typeface="Arial" pitchFamily="34" charset="0"/>
                <a:ea typeface="Arial" pitchFamily="34" charset="-122"/>
                <a:cs typeface="Arial" pitchFamily="34" charset="-120"/>
              </a:rPr>
              <a:t>Discover</a:t>
            </a:r>
            <a:endParaRPr lang="en-US" sz="1950" dirty="0"/>
          </a:p>
        </p:txBody>
      </p:sp>
      <p:sp>
        <p:nvSpPr>
          <p:cNvPr id="10" name="Text 7"/>
          <p:cNvSpPr/>
          <p:nvPr/>
        </p:nvSpPr>
        <p:spPr>
          <a:xfrm>
            <a:off x="4943475" y="8255794"/>
            <a:ext cx="4400550" cy="285750"/>
          </a:xfrm>
          <a:prstGeom prst="rect">
            <a:avLst/>
          </a:prstGeom>
          <a:noFill/>
          <a:ln/>
        </p:spPr>
        <p:txBody>
          <a:bodyPr wrap="square" lIns="25400" tIns="25400" rIns="25400" bIns="25400" rtlCol="0" anchor="t">
            <a:normAutofit/>
          </a:bodyPr>
          <a:lstStyle/>
          <a:p>
            <a:pPr algn="ctr" indent="0" marL="0">
              <a:lnSpc>
                <a:spcPct val="86667"/>
              </a:lnSpc>
              <a:buNone/>
            </a:pPr>
            <a:r>
              <a:rPr lang="en-US" sz="1950" b="1" dirty="0">
                <a:solidFill>
                  <a:srgbClr val="8A7A64"/>
                </a:solidFill>
                <a:latin typeface="Arial" pitchFamily="34" charset="0"/>
                <a:ea typeface="Arial" pitchFamily="34" charset="-122"/>
                <a:cs typeface="Arial" pitchFamily="34" charset="-120"/>
              </a:rPr>
              <a:t>Define</a:t>
            </a:r>
            <a:endParaRPr lang="en-US" sz="1950" dirty="0"/>
          </a:p>
        </p:txBody>
      </p:sp>
      <p:sp>
        <p:nvSpPr>
          <p:cNvPr id="11" name="Text 8"/>
          <p:cNvSpPr/>
          <p:nvPr/>
        </p:nvSpPr>
        <p:spPr>
          <a:xfrm>
            <a:off x="8943975" y="8255794"/>
            <a:ext cx="4400550" cy="285750"/>
          </a:xfrm>
          <a:prstGeom prst="rect">
            <a:avLst/>
          </a:prstGeom>
          <a:noFill/>
          <a:ln/>
        </p:spPr>
        <p:txBody>
          <a:bodyPr wrap="square" lIns="25400" tIns="25400" rIns="25400" bIns="25400" rtlCol="0" anchor="t">
            <a:normAutofit/>
          </a:bodyPr>
          <a:lstStyle/>
          <a:p>
            <a:pPr algn="ctr" indent="0" marL="0">
              <a:lnSpc>
                <a:spcPct val="86667"/>
              </a:lnSpc>
              <a:buNone/>
            </a:pPr>
            <a:r>
              <a:rPr lang="en-US" sz="1950" b="1" dirty="0">
                <a:solidFill>
                  <a:srgbClr val="CF4B2B"/>
                </a:solidFill>
                <a:latin typeface="Arial" pitchFamily="34" charset="0"/>
                <a:ea typeface="Arial" pitchFamily="34" charset="-122"/>
                <a:cs typeface="Arial" pitchFamily="34" charset="-120"/>
              </a:rPr>
              <a:t>Develop ←</a:t>
            </a:r>
            <a:endParaRPr lang="en-US" sz="1950" dirty="0"/>
          </a:p>
        </p:txBody>
      </p:sp>
      <p:sp>
        <p:nvSpPr>
          <p:cNvPr id="12" name="Text 9"/>
          <p:cNvSpPr/>
          <p:nvPr/>
        </p:nvSpPr>
        <p:spPr>
          <a:xfrm>
            <a:off x="12944475" y="8255794"/>
            <a:ext cx="4400550" cy="285750"/>
          </a:xfrm>
          <a:prstGeom prst="rect">
            <a:avLst/>
          </a:prstGeom>
          <a:noFill/>
          <a:ln/>
        </p:spPr>
        <p:txBody>
          <a:bodyPr wrap="square" lIns="25400" tIns="25400" rIns="25400" bIns="25400" rtlCol="0" anchor="t">
            <a:normAutofit/>
          </a:bodyPr>
          <a:lstStyle/>
          <a:p>
            <a:pPr algn="ctr" indent="0" marL="0">
              <a:lnSpc>
                <a:spcPct val="86667"/>
              </a:lnSpc>
              <a:buNone/>
            </a:pPr>
            <a:r>
              <a:rPr lang="en-US" sz="1950" b="1" dirty="0">
                <a:solidFill>
                  <a:srgbClr val="8A7A64"/>
                </a:solidFill>
                <a:latin typeface="Arial" pitchFamily="34" charset="0"/>
                <a:ea typeface="Arial" pitchFamily="34" charset="-122"/>
                <a:cs typeface="Arial" pitchFamily="34" charset="-120"/>
              </a:rPr>
              <a:t>Deliver</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6201A"/>
        </a:solidFill>
      </p:bgPr>
    </p:bg>
    <p:spTree>
      <p:nvGrpSpPr>
        <p:cNvPr id="1" name=""/>
        <p:cNvGrpSpPr/>
        <p:nvPr/>
      </p:nvGrpSpPr>
      <p:grpSpPr>
        <a:xfrm>
          <a:off x="0" y="0"/>
          <a:ext cx="0" cy="0"/>
          <a:chOff x="0" y="0"/>
          <a:chExt cx="0" cy="0"/>
        </a:xfrm>
      </p:grpSpPr>
      <p:sp>
        <p:nvSpPr>
          <p:cNvPr id="2" name="Text 0"/>
          <p:cNvSpPr/>
          <p:nvPr/>
        </p:nvSpPr>
        <p:spPr>
          <a:xfrm>
            <a:off x="1143000" y="8763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504" kern="0" dirty="0">
                <a:solidFill>
                  <a:srgbClr val="D99B34"/>
                </a:solidFill>
                <a:latin typeface="Arial" pitchFamily="34" charset="0"/>
                <a:ea typeface="Arial" pitchFamily="34" charset="-122"/>
                <a:cs typeface="Arial" pitchFamily="34" charset="-120"/>
              </a:rPr>
              <a:t>BLOCK 2 · THE STUDIO</a:t>
            </a:r>
            <a:endParaRPr lang="en-US" sz="1800" dirty="0"/>
          </a:p>
        </p:txBody>
      </p:sp>
      <p:sp>
        <p:nvSpPr>
          <p:cNvPr id="3" name="Text 1"/>
          <p:cNvSpPr/>
          <p:nvPr/>
        </p:nvSpPr>
        <p:spPr>
          <a:xfrm>
            <a:off x="1143000" y="1352550"/>
            <a:ext cx="10171755" cy="1437084"/>
          </a:xfrm>
          <a:prstGeom prst="rect">
            <a:avLst/>
          </a:prstGeom>
          <a:noFill/>
          <a:ln/>
        </p:spPr>
        <p:txBody>
          <a:bodyPr wrap="square" lIns="25400" tIns="25400" rIns="25400" bIns="25400" rtlCol="0" anchor="t">
            <a:normAutofit/>
          </a:bodyPr>
          <a:lstStyle/>
          <a:p>
            <a:pPr algn="l" indent="0" marL="0">
              <a:lnSpc>
                <a:spcPct val="89561"/>
              </a:lnSpc>
              <a:buNone/>
            </a:pPr>
            <a:r>
              <a:rPr lang="en-US" sz="5400" spc="-108" kern="0" dirty="0">
                <a:solidFill>
                  <a:srgbClr val="F5EFE3"/>
                </a:solidFill>
                <a:latin typeface="Georgia" pitchFamily="34" charset="0"/>
                <a:ea typeface="Georgia" pitchFamily="34" charset="-122"/>
                <a:cs typeface="Georgia" pitchFamily="34" charset="-120"/>
              </a:rPr>
              <a:t>No drawing skill required. Boxes and stick figures win.</a:t>
            </a:r>
            <a:endParaRPr lang="en-US" sz="54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8462070"/>
            <a:ext cx="533400" cy="533400"/>
          </a:xfrm>
          <a:prstGeom prst="rect">
            <a:avLst/>
          </a:prstGeom>
        </p:spPr>
      </p:pic>
      <p:sp>
        <p:nvSpPr>
          <p:cNvPr id="5" name="Text 2"/>
          <p:cNvSpPr/>
          <p:nvPr/>
        </p:nvSpPr>
        <p:spPr>
          <a:xfrm>
            <a:off x="1143000" y="9166920"/>
            <a:ext cx="4196239" cy="358080"/>
          </a:xfrm>
          <a:prstGeom prst="rect">
            <a:avLst/>
          </a:prstGeom>
          <a:noFill/>
          <a:ln/>
        </p:spPr>
        <p:txBody>
          <a:bodyPr wrap="square" lIns="25400" tIns="25400" rIns="25400" bIns="25400" rtlCol="0" anchor="t">
            <a:normAutofit/>
          </a:bodyPr>
          <a:lstStyle/>
          <a:p>
            <a:pPr algn="l" indent="0" marL="0">
              <a:lnSpc>
                <a:spcPct val="103385"/>
              </a:lnSpc>
              <a:buNone/>
            </a:pPr>
            <a:r>
              <a:rPr lang="en-US" sz="2100" dirty="0">
                <a:solidFill>
                  <a:srgbClr val="E6D8C2"/>
                </a:solidFill>
                <a:latin typeface="Arial" pitchFamily="34" charset="0"/>
                <a:ea typeface="Arial" pitchFamily="34" charset="-122"/>
                <a:cs typeface="Arial" pitchFamily="34" charset="-120"/>
              </a:rPr>
              <a:t>No skill required</a:t>
            </a:r>
            <a:endParaRPr lang="en-US" sz="21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5413" y="8462070"/>
            <a:ext cx="533400" cy="533400"/>
          </a:xfrm>
          <a:prstGeom prst="rect">
            <a:avLst/>
          </a:prstGeom>
        </p:spPr>
      </p:pic>
      <p:sp>
        <p:nvSpPr>
          <p:cNvPr id="7" name="Text 3"/>
          <p:cNvSpPr/>
          <p:nvPr/>
        </p:nvSpPr>
        <p:spPr>
          <a:xfrm>
            <a:off x="5205413" y="9166920"/>
            <a:ext cx="4196239" cy="358080"/>
          </a:xfrm>
          <a:prstGeom prst="rect">
            <a:avLst/>
          </a:prstGeom>
          <a:noFill/>
          <a:ln/>
        </p:spPr>
        <p:txBody>
          <a:bodyPr wrap="square" lIns="25400" tIns="25400" rIns="25400" bIns="25400" rtlCol="0" anchor="t">
            <a:normAutofit/>
          </a:bodyPr>
          <a:lstStyle/>
          <a:p>
            <a:pPr algn="l" indent="0" marL="0">
              <a:lnSpc>
                <a:spcPct val="103385"/>
              </a:lnSpc>
              <a:buNone/>
            </a:pPr>
            <a:r>
              <a:rPr lang="en-US" sz="2100" dirty="0">
                <a:solidFill>
                  <a:srgbClr val="E6D8C2"/>
                </a:solidFill>
                <a:latin typeface="Arial" pitchFamily="34" charset="0"/>
                <a:ea typeface="Arial" pitchFamily="34" charset="-122"/>
                <a:cs typeface="Arial" pitchFamily="34" charset="-120"/>
              </a:rPr>
              <a:t>Fast beats good</a:t>
            </a:r>
            <a:endParaRPr lang="en-US" sz="21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67825" y="8462070"/>
            <a:ext cx="533400" cy="533400"/>
          </a:xfrm>
          <a:prstGeom prst="rect">
            <a:avLst/>
          </a:prstGeom>
        </p:spPr>
      </p:pic>
      <p:sp>
        <p:nvSpPr>
          <p:cNvPr id="9" name="Text 4"/>
          <p:cNvSpPr/>
          <p:nvPr/>
        </p:nvSpPr>
        <p:spPr>
          <a:xfrm>
            <a:off x="9267825" y="9166920"/>
            <a:ext cx="4196239" cy="358080"/>
          </a:xfrm>
          <a:prstGeom prst="rect">
            <a:avLst/>
          </a:prstGeom>
          <a:noFill/>
          <a:ln/>
        </p:spPr>
        <p:txBody>
          <a:bodyPr wrap="square" lIns="25400" tIns="25400" rIns="25400" bIns="25400" rtlCol="0" anchor="t">
            <a:normAutofit/>
          </a:bodyPr>
          <a:lstStyle/>
          <a:p>
            <a:pPr algn="l" indent="0" marL="0">
              <a:lnSpc>
                <a:spcPct val="103385"/>
              </a:lnSpc>
              <a:buNone/>
            </a:pPr>
            <a:r>
              <a:rPr lang="en-US" sz="2100" dirty="0">
                <a:solidFill>
                  <a:srgbClr val="E6D8C2"/>
                </a:solidFill>
                <a:latin typeface="Arial" pitchFamily="34" charset="0"/>
                <a:ea typeface="Arial" pitchFamily="34" charset="-122"/>
                <a:cs typeface="Arial" pitchFamily="34" charset="-120"/>
              </a:rPr>
              <a:t>Quantity first</a:t>
            </a:r>
            <a:endParaRPr lang="en-US" sz="2100" dirty="0"/>
          </a:p>
        </p:txBody>
      </p:sp>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330238" y="8462070"/>
            <a:ext cx="533400" cy="533400"/>
          </a:xfrm>
          <a:prstGeom prst="rect">
            <a:avLst/>
          </a:prstGeom>
        </p:spPr>
      </p:pic>
      <p:sp>
        <p:nvSpPr>
          <p:cNvPr id="11" name="Text 5"/>
          <p:cNvSpPr/>
          <p:nvPr/>
        </p:nvSpPr>
        <p:spPr>
          <a:xfrm>
            <a:off x="13330238" y="9166920"/>
            <a:ext cx="4196239" cy="358080"/>
          </a:xfrm>
          <a:prstGeom prst="rect">
            <a:avLst/>
          </a:prstGeom>
          <a:noFill/>
          <a:ln/>
        </p:spPr>
        <p:txBody>
          <a:bodyPr wrap="square" lIns="25400" tIns="25400" rIns="25400" bIns="25400" rtlCol="0" anchor="t">
            <a:normAutofit/>
          </a:bodyPr>
          <a:lstStyle/>
          <a:p>
            <a:pPr algn="l" indent="0" marL="0">
              <a:lnSpc>
                <a:spcPct val="103385"/>
              </a:lnSpc>
              <a:buNone/>
            </a:pPr>
            <a:r>
              <a:rPr lang="en-US" sz="2100" dirty="0">
                <a:solidFill>
                  <a:srgbClr val="E6D8C2"/>
                </a:solidFill>
                <a:latin typeface="Arial" pitchFamily="34" charset="0"/>
                <a:ea typeface="Arial" pitchFamily="34" charset="-122"/>
                <a:cs typeface="Arial" pitchFamily="34" charset="-120"/>
              </a:rPr>
              <a:t>No critique yet</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Shape 1"/>
          <p:cNvSpPr/>
          <p:nvPr/>
        </p:nvSpPr>
        <p:spPr>
          <a:xfrm>
            <a:off x="0" y="0"/>
            <a:ext cx="18288000" cy="10287000"/>
          </a:xfrm>
          <a:prstGeom prst="rect">
            <a:avLst/>
          </a:prstGeom>
          <a:gradFill rotWithShape="1">
            <a:gsLst>
              <a:gs pos="0">
                <a:srgbClr val="29211A">
                  <a:alpha val="5000"/>
                </a:srgbClr>
              </a:gs>
              <a:gs pos="100000">
                <a:srgbClr val="29211A">
                  <a:alpha val="0"/>
                </a:srgbClr>
              </a:gs>
            </a:gsLst>
            <a:path path="circle">
              <a:fillToRect l="50000" t="50000" r="50000" b="50000"/>
            </a:path>
          </a:gradFill>
          <a:ln/>
        </p:spPr>
      </p:sp>
      <p:sp>
        <p:nvSpPr>
          <p:cNvPr id="4" name="Shape 2"/>
          <p:cNvSpPr/>
          <p:nvPr/>
        </p:nvSpPr>
        <p:spPr>
          <a:xfrm>
            <a:off x="1143000" y="876300"/>
            <a:ext cx="2007171" cy="571500"/>
          </a:xfrm>
          <a:prstGeom prst="roundRect">
            <a:avLst>
              <a:gd name="adj" fmla="val 50000"/>
            </a:avLst>
          </a:prstGeom>
          <a:solidFill>
            <a:srgbClr val="29211A"/>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1028700"/>
            <a:ext cx="266700" cy="266700"/>
          </a:xfrm>
          <a:prstGeom prst="rect">
            <a:avLst/>
          </a:prstGeom>
        </p:spPr>
      </p:pic>
      <p:sp>
        <p:nvSpPr>
          <p:cNvPr id="6" name="Text 3"/>
          <p:cNvSpPr/>
          <p:nvPr/>
        </p:nvSpPr>
        <p:spPr>
          <a:xfrm>
            <a:off x="1809750" y="1023938"/>
            <a:ext cx="1149921" cy="314325"/>
          </a:xfrm>
          <a:prstGeom prst="rect">
            <a:avLst/>
          </a:prstGeom>
          <a:noFill/>
          <a:ln/>
        </p:spPr>
        <p:txBody>
          <a:bodyPr wrap="square" lIns="0" tIns="0" rIns="0" bIns="0" rtlCol="0" anchor="t">
            <a:normAutofit/>
          </a:bodyPr>
          <a:lstStyle/>
          <a:p>
            <a:pPr algn="l" indent="0" marL="0">
              <a:lnSpc>
                <a:spcPct val="86667"/>
              </a:lnSpc>
              <a:buNone/>
            </a:pPr>
            <a:r>
              <a:rPr lang="en-US" sz="1950" b="1" dirty="0">
                <a:solidFill>
                  <a:srgbClr val="F4EEE2"/>
                </a:solidFill>
                <a:latin typeface="Arial" pitchFamily="34" charset="0"/>
                <a:ea typeface="Arial" pitchFamily="34" charset="-122"/>
                <a:cs typeface="Arial" pitchFamily="34" charset="-120"/>
              </a:rPr>
              <a:t>4 minutes</a:t>
            </a:r>
            <a:endParaRPr lang="en-US" sz="1950" dirty="0"/>
          </a:p>
        </p:txBody>
      </p:sp>
      <p:sp>
        <p:nvSpPr>
          <p:cNvPr id="7" name="Text 4"/>
          <p:cNvSpPr/>
          <p:nvPr/>
        </p:nvSpPr>
        <p:spPr>
          <a:xfrm>
            <a:off x="13717265" y="1038225"/>
            <a:ext cx="377050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Deliverable → </a:t>
            </a:r>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8 boxes, 8 ideas</a:t>
            </a:r>
            <a:endParaRPr lang="en-US" sz="1950" dirty="0"/>
          </a:p>
        </p:txBody>
      </p:sp>
      <p:sp>
        <p:nvSpPr>
          <p:cNvPr id="8" name="Text 5"/>
          <p:cNvSpPr/>
          <p:nvPr/>
        </p:nvSpPr>
        <p:spPr>
          <a:xfrm>
            <a:off x="342900" y="4102894"/>
            <a:ext cx="17602200" cy="914400"/>
          </a:xfrm>
          <a:prstGeom prst="rect">
            <a:avLst/>
          </a:prstGeom>
          <a:noFill/>
          <a:ln/>
        </p:spPr>
        <p:txBody>
          <a:bodyPr wrap="square" lIns="25400" tIns="25400" rIns="25400" bIns="25400" rtlCol="0" anchor="t">
            <a:normAutofit/>
          </a:bodyPr>
          <a:lstStyle/>
          <a:p>
            <a:pPr algn="ctr" indent="0" marL="0">
              <a:lnSpc>
                <a:spcPct val="88038"/>
              </a:lnSpc>
              <a:buNone/>
            </a:pPr>
            <a:r>
              <a:rPr lang="en-US" sz="6900" spc="-138" kern="0" dirty="0">
                <a:solidFill>
                  <a:srgbClr val="29211A"/>
                </a:solidFill>
                <a:latin typeface="Georgia" pitchFamily="34" charset="0"/>
                <a:ea typeface="Georgia" pitchFamily="34" charset="-122"/>
                <a:cs typeface="Georgia" pitchFamily="34" charset="-120"/>
              </a:rPr>
              <a:t>8 boxes. 4 minutes. Go.</a:t>
            </a:r>
            <a:endParaRPr lang="en-US" sz="6900" dirty="0"/>
          </a:p>
        </p:txBody>
      </p:sp>
      <p:sp>
        <p:nvSpPr>
          <p:cNvPr id="9" name="Text 6"/>
          <p:cNvSpPr/>
          <p:nvPr/>
        </p:nvSpPr>
        <p:spPr>
          <a:xfrm>
            <a:off x="342900" y="5226844"/>
            <a:ext cx="17602200" cy="471488"/>
          </a:xfrm>
          <a:prstGeom prst="rect">
            <a:avLst/>
          </a:prstGeom>
          <a:noFill/>
          <a:ln/>
        </p:spPr>
        <p:txBody>
          <a:bodyPr wrap="square" lIns="25400" tIns="25400" rIns="25400" bIns="25400" rtlCol="0" anchor="t">
            <a:normAutofit/>
          </a:bodyPr>
          <a:lstStyle/>
          <a:p>
            <a:pPr algn="ctr" indent="0" marL="0">
              <a:buNone/>
            </a:pPr>
            <a:r>
              <a:rPr lang="en-US" sz="3000" i="1" dirty="0">
                <a:solidFill>
                  <a:srgbClr val="4A3F33"/>
                </a:solidFill>
                <a:latin typeface="Georgia" pitchFamily="34" charset="0"/>
                <a:ea typeface="Georgia" pitchFamily="34" charset="-122"/>
                <a:cs typeface="Georgia" pitchFamily="34" charset="-120"/>
              </a:rPr>
              <a:t>"A better way to wait in line."</a:t>
            </a:r>
            <a:endParaRPr lang="en-US" sz="3000" dirty="0"/>
          </a:p>
        </p:txBody>
      </p:sp>
      <p:sp>
        <p:nvSpPr>
          <p:cNvPr id="10" name="Shape 7"/>
          <p:cNvSpPr/>
          <p:nvPr/>
        </p:nvSpPr>
        <p:spPr>
          <a:xfrm>
            <a:off x="4857750" y="8124825"/>
            <a:ext cx="2043113" cy="1362075"/>
          </a:xfrm>
          <a:prstGeom prst="roundRect">
            <a:avLst>
              <a:gd name="adj" fmla="val 5594"/>
            </a:avLst>
          </a:prstGeom>
          <a:solidFill>
            <a:srgbClr val="F5EFE3"/>
          </a:solidFill>
          <a:ln w="9525">
            <a:solidFill>
              <a:srgbClr val="29211A">
                <a:alpha val="14000"/>
              </a:srgbClr>
            </a:solidFill>
            <a:prstDash val="solid"/>
          </a:ln>
        </p:spPr>
      </p:sp>
      <p:sp>
        <p:nvSpPr>
          <p:cNvPr id="11" name="Text 8"/>
          <p:cNvSpPr/>
          <p:nvPr/>
        </p:nvSpPr>
        <p:spPr>
          <a:xfrm>
            <a:off x="4981575" y="8210550"/>
            <a:ext cx="21394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8A7A64"/>
                </a:solidFill>
                <a:latin typeface="Arial" pitchFamily="34" charset="0"/>
                <a:ea typeface="Arial" pitchFamily="34" charset="-122"/>
                <a:cs typeface="Arial" pitchFamily="34" charset="-120"/>
              </a:rPr>
              <a:t>1</a:t>
            </a:r>
            <a:endParaRPr lang="en-US" sz="1950" dirty="0"/>
          </a:p>
        </p:txBody>
      </p:sp>
      <p:sp>
        <p:nvSpPr>
          <p:cNvPr id="12" name="Shape 9"/>
          <p:cNvSpPr/>
          <p:nvPr/>
        </p:nvSpPr>
        <p:spPr>
          <a:xfrm>
            <a:off x="7034213" y="8124825"/>
            <a:ext cx="2043113" cy="1362075"/>
          </a:xfrm>
          <a:prstGeom prst="roundRect">
            <a:avLst>
              <a:gd name="adj" fmla="val 5594"/>
            </a:avLst>
          </a:prstGeom>
          <a:solidFill>
            <a:srgbClr val="F5EFE3"/>
          </a:solidFill>
          <a:ln w="9525">
            <a:solidFill>
              <a:srgbClr val="29211A">
                <a:alpha val="14000"/>
              </a:srgbClr>
            </a:solidFill>
            <a:prstDash val="solid"/>
          </a:ln>
        </p:spPr>
      </p:sp>
      <p:sp>
        <p:nvSpPr>
          <p:cNvPr id="13" name="Text 10"/>
          <p:cNvSpPr/>
          <p:nvPr/>
        </p:nvSpPr>
        <p:spPr>
          <a:xfrm>
            <a:off x="7158038" y="8210550"/>
            <a:ext cx="21394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8A7A64"/>
                </a:solidFill>
                <a:latin typeface="Arial" pitchFamily="34" charset="0"/>
                <a:ea typeface="Arial" pitchFamily="34" charset="-122"/>
                <a:cs typeface="Arial" pitchFamily="34" charset="-120"/>
              </a:rPr>
              <a:t>2</a:t>
            </a:r>
            <a:endParaRPr lang="en-US" sz="1950" dirty="0"/>
          </a:p>
        </p:txBody>
      </p:sp>
      <p:sp>
        <p:nvSpPr>
          <p:cNvPr id="14" name="Shape 11"/>
          <p:cNvSpPr/>
          <p:nvPr/>
        </p:nvSpPr>
        <p:spPr>
          <a:xfrm>
            <a:off x="9210675" y="8124825"/>
            <a:ext cx="2043113" cy="1362075"/>
          </a:xfrm>
          <a:prstGeom prst="roundRect">
            <a:avLst>
              <a:gd name="adj" fmla="val 5594"/>
            </a:avLst>
          </a:prstGeom>
          <a:solidFill>
            <a:srgbClr val="F5EFE3"/>
          </a:solidFill>
          <a:ln w="9525">
            <a:solidFill>
              <a:srgbClr val="29211A">
                <a:alpha val="14000"/>
              </a:srgbClr>
            </a:solidFill>
            <a:prstDash val="solid"/>
          </a:ln>
        </p:spPr>
      </p:sp>
      <p:sp>
        <p:nvSpPr>
          <p:cNvPr id="15" name="Text 12"/>
          <p:cNvSpPr/>
          <p:nvPr/>
        </p:nvSpPr>
        <p:spPr>
          <a:xfrm>
            <a:off x="9334500" y="8210550"/>
            <a:ext cx="21394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8A7A64"/>
                </a:solidFill>
                <a:latin typeface="Arial" pitchFamily="34" charset="0"/>
                <a:ea typeface="Arial" pitchFamily="34" charset="-122"/>
                <a:cs typeface="Arial" pitchFamily="34" charset="-120"/>
              </a:rPr>
              <a:t>3</a:t>
            </a:r>
            <a:endParaRPr lang="en-US" sz="1950" dirty="0"/>
          </a:p>
        </p:txBody>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51219" y="8614470"/>
            <a:ext cx="1416844" cy="805755"/>
          </a:xfrm>
          <a:prstGeom prst="rect">
            <a:avLst/>
          </a:prstGeom>
        </p:spPr>
      </p:pic>
      <p:sp>
        <p:nvSpPr>
          <p:cNvPr id="17" name="Shape 13"/>
          <p:cNvSpPr/>
          <p:nvPr/>
        </p:nvSpPr>
        <p:spPr>
          <a:xfrm>
            <a:off x="11387138" y="8124825"/>
            <a:ext cx="2043113" cy="1362075"/>
          </a:xfrm>
          <a:prstGeom prst="roundRect">
            <a:avLst>
              <a:gd name="adj" fmla="val 5594"/>
            </a:avLst>
          </a:prstGeom>
          <a:solidFill>
            <a:srgbClr val="F5EFE3"/>
          </a:solidFill>
          <a:ln w="9525">
            <a:solidFill>
              <a:srgbClr val="29211A">
                <a:alpha val="14000"/>
              </a:srgbClr>
            </a:solidFill>
            <a:prstDash val="solid"/>
          </a:ln>
        </p:spPr>
      </p:sp>
      <p:sp>
        <p:nvSpPr>
          <p:cNvPr id="18" name="Text 14"/>
          <p:cNvSpPr/>
          <p:nvPr/>
        </p:nvSpPr>
        <p:spPr>
          <a:xfrm>
            <a:off x="11510963" y="8210550"/>
            <a:ext cx="21394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8A7A64"/>
                </a:solidFill>
                <a:latin typeface="Arial" pitchFamily="34" charset="0"/>
                <a:ea typeface="Arial" pitchFamily="34" charset="-122"/>
                <a:cs typeface="Arial" pitchFamily="34" charset="-120"/>
              </a:rPr>
              <a:t>4</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Shape 1"/>
          <p:cNvSpPr/>
          <p:nvPr/>
        </p:nvSpPr>
        <p:spPr>
          <a:xfrm>
            <a:off x="1143000" y="876300"/>
            <a:ext cx="2007171" cy="571500"/>
          </a:xfrm>
          <a:prstGeom prst="roundRect">
            <a:avLst>
              <a:gd name="adj" fmla="val 50000"/>
            </a:avLst>
          </a:prstGeom>
          <a:solidFill>
            <a:srgbClr val="29211A"/>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1028700"/>
            <a:ext cx="266700" cy="266700"/>
          </a:xfrm>
          <a:prstGeom prst="rect">
            <a:avLst/>
          </a:prstGeom>
        </p:spPr>
      </p:pic>
      <p:sp>
        <p:nvSpPr>
          <p:cNvPr id="5" name="Text 2"/>
          <p:cNvSpPr/>
          <p:nvPr/>
        </p:nvSpPr>
        <p:spPr>
          <a:xfrm>
            <a:off x="1809750" y="1023938"/>
            <a:ext cx="1149921" cy="314325"/>
          </a:xfrm>
          <a:prstGeom prst="rect">
            <a:avLst/>
          </a:prstGeom>
          <a:noFill/>
          <a:ln/>
        </p:spPr>
        <p:txBody>
          <a:bodyPr wrap="square" lIns="0" tIns="0" rIns="0" bIns="0" rtlCol="0" anchor="t">
            <a:normAutofit/>
          </a:bodyPr>
          <a:lstStyle/>
          <a:p>
            <a:pPr algn="l" indent="0" marL="0">
              <a:lnSpc>
                <a:spcPct val="86667"/>
              </a:lnSpc>
              <a:buNone/>
            </a:pPr>
            <a:r>
              <a:rPr lang="en-US" sz="1950" b="1" dirty="0">
                <a:solidFill>
                  <a:srgbClr val="F4EEE2"/>
                </a:solidFill>
                <a:latin typeface="Arial" pitchFamily="34" charset="0"/>
                <a:ea typeface="Arial" pitchFamily="34" charset="-122"/>
                <a:cs typeface="Arial" pitchFamily="34" charset="-120"/>
              </a:rPr>
              <a:t>4 minutes</a:t>
            </a:r>
            <a:endParaRPr lang="en-US" sz="1950" dirty="0"/>
          </a:p>
        </p:txBody>
      </p:sp>
      <p:sp>
        <p:nvSpPr>
          <p:cNvPr id="6" name="Text 3"/>
          <p:cNvSpPr/>
          <p:nvPr/>
        </p:nvSpPr>
        <p:spPr>
          <a:xfrm>
            <a:off x="12341126" y="1038225"/>
            <a:ext cx="5284262"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Deliverable → </a:t>
            </a:r>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everyone knows their prompt</a:t>
            </a:r>
            <a:endParaRPr lang="en-US" sz="1950" dirty="0"/>
          </a:p>
        </p:txBody>
      </p:sp>
      <p:sp>
        <p:nvSpPr>
          <p:cNvPr id="7" name="Text 4"/>
          <p:cNvSpPr/>
          <p:nvPr/>
        </p:nvSpPr>
        <p:spPr>
          <a:xfrm>
            <a:off x="342900" y="3943871"/>
            <a:ext cx="17602200" cy="876300"/>
          </a:xfrm>
          <a:prstGeom prst="rect">
            <a:avLst/>
          </a:prstGeom>
          <a:noFill/>
          <a:ln/>
        </p:spPr>
        <p:txBody>
          <a:bodyPr wrap="square" lIns="25400" tIns="25400" rIns="25400" bIns="25400" rtlCol="0" anchor="t">
            <a:normAutofit/>
          </a:bodyPr>
          <a:lstStyle/>
          <a:p>
            <a:pPr algn="ctr" indent="0" marL="0">
              <a:lnSpc>
                <a:spcPct val="88000"/>
              </a:lnSpc>
              <a:buNone/>
            </a:pPr>
            <a:r>
              <a:rPr lang="en-US" sz="6600" spc="-132" kern="0" dirty="0">
                <a:solidFill>
                  <a:srgbClr val="29211A"/>
                </a:solidFill>
                <a:latin typeface="Georgia" pitchFamily="34" charset="0"/>
                <a:ea typeface="Georgia" pitchFamily="34" charset="-122"/>
                <a:cs typeface="Georgia" pitchFamily="34" charset="-120"/>
              </a:rPr>
              <a:t>Your table. Your problem. Your turn.</a:t>
            </a:r>
            <a:endParaRPr lang="en-US" sz="6600" dirty="0"/>
          </a:p>
        </p:txBody>
      </p:sp>
      <p:sp>
        <p:nvSpPr>
          <p:cNvPr id="8" name="Shape 5"/>
          <p:cNvSpPr/>
          <p:nvPr/>
        </p:nvSpPr>
        <p:spPr>
          <a:xfrm>
            <a:off x="3905250" y="7125742"/>
            <a:ext cx="10477500" cy="2361158"/>
          </a:xfrm>
          <a:prstGeom prst="roundRect">
            <a:avLst>
              <a:gd name="adj" fmla="val 6454"/>
            </a:avLst>
          </a:prstGeom>
          <a:solidFill>
            <a:srgbClr val="F5EFE3"/>
          </a:solidFill>
          <a:ln/>
        </p:spPr>
      </p:sp>
      <p:sp>
        <p:nvSpPr>
          <p:cNvPr id="9" name="Shape 6"/>
          <p:cNvSpPr/>
          <p:nvPr/>
        </p:nvSpPr>
        <p:spPr>
          <a:xfrm>
            <a:off x="3905250" y="9477375"/>
            <a:ext cx="10477500" cy="9525"/>
          </a:xfrm>
          <a:prstGeom prst="rect">
            <a:avLst/>
          </a:prstGeom>
          <a:solidFill>
            <a:srgbClr val="29211A">
              <a:alpha val="14000"/>
            </a:srgbClr>
          </a:solidFill>
          <a:ln/>
        </p:spPr>
      </p:sp>
      <p:sp>
        <p:nvSpPr>
          <p:cNvPr id="10" name="Shape 7"/>
          <p:cNvSpPr/>
          <p:nvPr/>
        </p:nvSpPr>
        <p:spPr>
          <a:xfrm>
            <a:off x="3905250" y="7125742"/>
            <a:ext cx="10477500" cy="9525"/>
          </a:xfrm>
          <a:prstGeom prst="rect">
            <a:avLst/>
          </a:prstGeom>
          <a:solidFill>
            <a:srgbClr val="29211A">
              <a:alpha val="14000"/>
            </a:srgbClr>
          </a:solidFill>
          <a:ln/>
        </p:spPr>
      </p:sp>
      <p:sp>
        <p:nvSpPr>
          <p:cNvPr id="11" name="Shape 8"/>
          <p:cNvSpPr/>
          <p:nvPr/>
        </p:nvSpPr>
        <p:spPr>
          <a:xfrm>
            <a:off x="3905250" y="7125742"/>
            <a:ext cx="57150" cy="2361158"/>
          </a:xfrm>
          <a:prstGeom prst="rect">
            <a:avLst/>
          </a:prstGeom>
          <a:solidFill>
            <a:srgbClr val="CF4B2B"/>
          </a:solidFill>
          <a:ln/>
        </p:spPr>
      </p:sp>
      <p:sp>
        <p:nvSpPr>
          <p:cNvPr id="12" name="Shape 9"/>
          <p:cNvSpPr/>
          <p:nvPr/>
        </p:nvSpPr>
        <p:spPr>
          <a:xfrm>
            <a:off x="14373225" y="7125742"/>
            <a:ext cx="9525" cy="2361158"/>
          </a:xfrm>
          <a:prstGeom prst="rect">
            <a:avLst/>
          </a:prstGeom>
          <a:solidFill>
            <a:srgbClr val="29211A">
              <a:alpha val="14000"/>
            </a:srgbClr>
          </a:solidFill>
          <a:ln/>
        </p:spPr>
      </p:sp>
      <p:sp>
        <p:nvSpPr>
          <p:cNvPr id="13" name="Text 10"/>
          <p:cNvSpPr/>
          <p:nvPr/>
        </p:nvSpPr>
        <p:spPr>
          <a:xfrm>
            <a:off x="4343400" y="7459117"/>
            <a:ext cx="10613708"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YOUR HOW MIGHT WE</a:t>
            </a:r>
            <a:endParaRPr lang="en-US" sz="1800" dirty="0"/>
          </a:p>
        </p:txBody>
      </p:sp>
      <p:sp>
        <p:nvSpPr>
          <p:cNvPr id="14" name="Text 11"/>
          <p:cNvSpPr/>
          <p:nvPr/>
        </p:nvSpPr>
        <p:spPr>
          <a:xfrm>
            <a:off x="4343400" y="7821067"/>
            <a:ext cx="9938290" cy="870496"/>
          </a:xfrm>
          <a:prstGeom prst="rect">
            <a:avLst/>
          </a:prstGeom>
          <a:noFill/>
          <a:ln/>
        </p:spPr>
        <p:txBody>
          <a:bodyPr wrap="square" lIns="25400" tIns="25400" rIns="25400" bIns="25400" rtlCol="0" anchor="t">
            <a:normAutofit/>
          </a:bodyPr>
          <a:lstStyle/>
          <a:p>
            <a:pPr algn="l" indent="0" marL="0">
              <a:lnSpc>
                <a:spcPct val="100460"/>
              </a:lnSpc>
              <a:buNone/>
            </a:pPr>
            <a:r>
              <a:rPr lang="en-US" sz="2850" dirty="0">
                <a:solidFill>
                  <a:srgbClr val="29211A"/>
                </a:solidFill>
                <a:latin typeface="Georgia" pitchFamily="34" charset="0"/>
                <a:ea typeface="Georgia" pitchFamily="34" charset="-122"/>
                <a:cs typeface="Georgia" pitchFamily="34" charset="-120"/>
              </a:rPr>
              <a:t>How might we help someone trust a number without checking it three separate ways?</a:t>
            </a:r>
            <a:endParaRPr lang="en-US" sz="2850" dirty="0"/>
          </a:p>
        </p:txBody>
      </p:sp>
      <p:sp>
        <p:nvSpPr>
          <p:cNvPr id="15" name="Text 12"/>
          <p:cNvSpPr/>
          <p:nvPr/>
        </p:nvSpPr>
        <p:spPr>
          <a:xfrm>
            <a:off x="4343400" y="8824913"/>
            <a:ext cx="10613708" cy="366713"/>
          </a:xfrm>
          <a:prstGeom prst="rect">
            <a:avLst/>
          </a:prstGeom>
          <a:noFill/>
          <a:ln/>
        </p:spPr>
        <p:txBody>
          <a:bodyPr wrap="square" lIns="25400" tIns="25400" rIns="25400" bIns="25400" rtlCol="0" anchor="t">
            <a:normAutofit/>
          </a:bodyPr>
          <a:lstStyle/>
          <a:p>
            <a:pPr algn="l" indent="0" marL="0">
              <a:buNone/>
            </a:pPr>
            <a:r>
              <a:rPr lang="en-US" sz="2250" dirty="0">
                <a:solidFill>
                  <a:srgbClr val="CF4B2B"/>
                </a:solidFill>
                <a:latin typeface="Arial" pitchFamily="34" charset="0"/>
                <a:ea typeface="Arial" pitchFamily="34" charset="-122"/>
                <a:cs typeface="Arial" pitchFamily="34" charset="-120"/>
              </a:rPr>
              <a:t>Design for the person in the quote — not the whole organization.</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6201A"/>
        </a:solidFill>
      </p:bgPr>
    </p:bg>
    <p:spTree>
      <p:nvGrpSpPr>
        <p:cNvPr id="1" name=""/>
        <p:cNvGrpSpPr/>
        <p:nvPr/>
      </p:nvGrpSpPr>
      <p:grpSpPr>
        <a:xfrm>
          <a:off x="0" y="0"/>
          <a:ext cx="0" cy="0"/>
          <a:chOff x="0" y="0"/>
          <a:chExt cx="0" cy="0"/>
        </a:xfrm>
      </p:grpSpPr>
      <p:sp>
        <p:nvSpPr>
          <p:cNvPr id="2" name="Shape 0"/>
          <p:cNvSpPr/>
          <p:nvPr/>
        </p:nvSpPr>
        <p:spPr>
          <a:xfrm>
            <a:off x="1143000" y="876300"/>
            <a:ext cx="2144911" cy="571500"/>
          </a:xfrm>
          <a:prstGeom prst="roundRect">
            <a:avLst>
              <a:gd name="adj" fmla="val 50000"/>
            </a:avLst>
          </a:prstGeom>
          <a:solidFill>
            <a:srgbClr val="F4EEE2"/>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1028700"/>
            <a:ext cx="266700" cy="266700"/>
          </a:xfrm>
          <a:prstGeom prst="rect">
            <a:avLst/>
          </a:prstGeom>
        </p:spPr>
      </p:pic>
      <p:sp>
        <p:nvSpPr>
          <p:cNvPr id="4" name="Text 1"/>
          <p:cNvSpPr/>
          <p:nvPr/>
        </p:nvSpPr>
        <p:spPr>
          <a:xfrm>
            <a:off x="1809750" y="1023938"/>
            <a:ext cx="1287661" cy="314325"/>
          </a:xfrm>
          <a:prstGeom prst="rect">
            <a:avLst/>
          </a:prstGeom>
          <a:noFill/>
          <a:ln/>
        </p:spPr>
        <p:txBody>
          <a:bodyPr wrap="square" lIns="0" tIns="0" rIns="0" bIns="0" rtlCol="0" anchor="t">
            <a:normAutofit/>
          </a:bodyPr>
          <a:lstStyle/>
          <a:p>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12 minutes</a:t>
            </a:r>
            <a:endParaRPr lang="en-US" sz="1950" dirty="0"/>
          </a:p>
        </p:txBody>
      </p:sp>
      <p:sp>
        <p:nvSpPr>
          <p:cNvPr id="5" name="Text 2"/>
          <p:cNvSpPr/>
          <p:nvPr/>
        </p:nvSpPr>
        <p:spPr>
          <a:xfrm>
            <a:off x="12657460" y="1038225"/>
            <a:ext cx="4936294"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D99B34"/>
                </a:solidFill>
                <a:latin typeface="Arial" pitchFamily="34" charset="0"/>
                <a:ea typeface="Arial" pitchFamily="34" charset="-122"/>
                <a:cs typeface="Arial" pitchFamily="34" charset="-120"/>
              </a:rPr>
              <a:t>Deliverable → </a:t>
            </a:r>
            <a:pPr algn="l" indent="0" marL="0">
              <a:lnSpc>
                <a:spcPct val="86667"/>
              </a:lnSpc>
              <a:buNone/>
            </a:pPr>
            <a:r>
              <a:rPr lang="en-US" sz="1950" b="1" dirty="0">
                <a:solidFill>
                  <a:srgbClr val="F4EEE2"/>
                </a:solidFill>
                <a:latin typeface="Arial" pitchFamily="34" charset="0"/>
                <a:ea typeface="Arial" pitchFamily="34" charset="-122"/>
                <a:cs typeface="Arial" pitchFamily="34" charset="-120"/>
              </a:rPr>
              <a:t>as many ideas as you can</a:t>
            </a:r>
            <a:endParaRPr lang="en-US" sz="1950" dirty="0"/>
          </a:p>
        </p:txBody>
      </p:sp>
      <p:sp>
        <p:nvSpPr>
          <p:cNvPr id="6" name="Text 3"/>
          <p:cNvSpPr/>
          <p:nvPr/>
        </p:nvSpPr>
        <p:spPr>
          <a:xfrm>
            <a:off x="342900" y="5508650"/>
            <a:ext cx="17602200" cy="1323975"/>
          </a:xfrm>
          <a:prstGeom prst="rect">
            <a:avLst/>
          </a:prstGeom>
          <a:noFill/>
          <a:ln/>
        </p:spPr>
        <p:txBody>
          <a:bodyPr wrap="square" lIns="25400" tIns="25400" rIns="25400" bIns="25400" rtlCol="0" anchor="t">
            <a:normAutofit/>
          </a:bodyPr>
          <a:lstStyle/>
          <a:p>
            <a:pPr algn="ctr" indent="0" marL="0">
              <a:lnSpc>
                <a:spcPct val="78035"/>
              </a:lnSpc>
              <a:buNone/>
            </a:pPr>
            <a:r>
              <a:rPr lang="en-US" sz="11250" b="1" spc="1575" kern="0" dirty="0">
                <a:solidFill>
                  <a:srgbClr val="E07A52"/>
                </a:solidFill>
                <a:latin typeface="Arial" pitchFamily="34" charset="0"/>
                <a:ea typeface="Arial" pitchFamily="34" charset="-122"/>
                <a:cs typeface="Arial" pitchFamily="34" charset="-120"/>
              </a:rPr>
              <a:t>SILENT</a:t>
            </a:r>
            <a:endParaRPr lang="en-US" sz="11250" dirty="0"/>
          </a:p>
        </p:txBody>
      </p:sp>
      <p:sp>
        <p:nvSpPr>
          <p:cNvPr id="7" name="Text 4"/>
          <p:cNvSpPr/>
          <p:nvPr/>
        </p:nvSpPr>
        <p:spPr>
          <a:xfrm>
            <a:off x="342900" y="7023125"/>
            <a:ext cx="17602200" cy="471488"/>
          </a:xfrm>
          <a:prstGeom prst="rect">
            <a:avLst/>
          </a:prstGeom>
          <a:noFill/>
          <a:ln/>
        </p:spPr>
        <p:txBody>
          <a:bodyPr wrap="square" lIns="25400" tIns="25400" rIns="25400" bIns="25400" rtlCol="0" anchor="t">
            <a:normAutofit/>
          </a:bodyPr>
          <a:lstStyle/>
          <a:p>
            <a:pPr algn="ctr" indent="0" marL="0">
              <a:buNone/>
            </a:pPr>
            <a:r>
              <a:rPr lang="en-US" sz="3000" i="1" dirty="0">
                <a:solidFill>
                  <a:srgbClr val="D8C9B2"/>
                </a:solidFill>
                <a:latin typeface="Georgia" pitchFamily="34" charset="0"/>
                <a:ea typeface="Georgia" pitchFamily="34" charset="-122"/>
                <a:cs typeface="Georgia" pitchFamily="34" charset="-120"/>
              </a:rPr>
              <a:t>Individual. Words on your sketches are welcome. No talking — facilitators included.</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Shape 1"/>
          <p:cNvSpPr/>
          <p:nvPr/>
        </p:nvSpPr>
        <p:spPr>
          <a:xfrm>
            <a:off x="1143000" y="876300"/>
            <a:ext cx="2144911" cy="571500"/>
          </a:xfrm>
          <a:prstGeom prst="roundRect">
            <a:avLst>
              <a:gd name="adj" fmla="val 50000"/>
            </a:avLst>
          </a:prstGeom>
          <a:solidFill>
            <a:srgbClr val="29211A"/>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1028700"/>
            <a:ext cx="266700" cy="266700"/>
          </a:xfrm>
          <a:prstGeom prst="rect">
            <a:avLst/>
          </a:prstGeom>
        </p:spPr>
      </p:pic>
      <p:sp>
        <p:nvSpPr>
          <p:cNvPr id="5" name="Text 2"/>
          <p:cNvSpPr/>
          <p:nvPr/>
        </p:nvSpPr>
        <p:spPr>
          <a:xfrm>
            <a:off x="1809750" y="1023938"/>
            <a:ext cx="1287661" cy="314325"/>
          </a:xfrm>
          <a:prstGeom prst="rect">
            <a:avLst/>
          </a:prstGeom>
          <a:noFill/>
          <a:ln/>
        </p:spPr>
        <p:txBody>
          <a:bodyPr wrap="square" lIns="0" tIns="0" rIns="0" bIns="0" rtlCol="0" anchor="t">
            <a:normAutofit/>
          </a:bodyPr>
          <a:lstStyle/>
          <a:p>
            <a:pPr algn="l" indent="0" marL="0">
              <a:lnSpc>
                <a:spcPct val="86667"/>
              </a:lnSpc>
              <a:buNone/>
            </a:pPr>
            <a:r>
              <a:rPr lang="en-US" sz="1950" b="1" dirty="0">
                <a:solidFill>
                  <a:srgbClr val="F4EEE2"/>
                </a:solidFill>
                <a:latin typeface="Arial" pitchFamily="34" charset="0"/>
                <a:ea typeface="Arial" pitchFamily="34" charset="-122"/>
                <a:cs typeface="Arial" pitchFamily="34" charset="-120"/>
              </a:rPr>
              <a:t>15 minutes</a:t>
            </a:r>
            <a:endParaRPr lang="en-US" sz="1950" dirty="0"/>
          </a:p>
        </p:txBody>
      </p:sp>
      <p:sp>
        <p:nvSpPr>
          <p:cNvPr id="6" name="Text 3"/>
          <p:cNvSpPr/>
          <p:nvPr/>
        </p:nvSpPr>
        <p:spPr>
          <a:xfrm>
            <a:off x="12547104" y="1038225"/>
            <a:ext cx="5057686"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Deliverable → </a:t>
            </a:r>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dots on the strongest ideas</a:t>
            </a:r>
            <a:endParaRPr lang="en-US" sz="1950" dirty="0"/>
          </a:p>
        </p:txBody>
      </p:sp>
      <p:sp>
        <p:nvSpPr>
          <p:cNvPr id="7" name="Text 4"/>
          <p:cNvSpPr/>
          <p:nvPr/>
        </p:nvSpPr>
        <p:spPr>
          <a:xfrm>
            <a:off x="1143000" y="4410373"/>
            <a:ext cx="11674793" cy="1475929"/>
          </a:xfrm>
          <a:prstGeom prst="rect">
            <a:avLst/>
          </a:prstGeom>
          <a:noFill/>
          <a:ln/>
        </p:spPr>
        <p:txBody>
          <a:bodyPr wrap="square" lIns="25400" tIns="25400" rIns="25400" bIns="25400" rtlCol="0" anchor="t">
            <a:normAutofit/>
          </a:bodyPr>
          <a:lstStyle/>
          <a:p>
            <a:pPr algn="l" indent="0" marL="0">
              <a:lnSpc>
                <a:spcPct val="89857"/>
              </a:lnSpc>
              <a:buNone/>
            </a:pPr>
            <a:r>
              <a:rPr lang="en-US" sz="5550" spc="-111" kern="0" dirty="0">
                <a:solidFill>
                  <a:srgbClr val="29211A"/>
                </a:solidFill>
                <a:latin typeface="Georgia" pitchFamily="34" charset="0"/>
                <a:ea typeface="Georgia" pitchFamily="34" charset="-122"/>
                <a:cs typeface="Georgia" pitchFamily="34" charset="-120"/>
              </a:rPr>
              <a:t>60 seconds each. Then vote with dots.</a:t>
            </a:r>
            <a:endParaRPr lang="en-US" sz="5550" dirty="0"/>
          </a:p>
        </p:txBody>
      </p:sp>
      <p:sp>
        <p:nvSpPr>
          <p:cNvPr id="8" name="Text 5"/>
          <p:cNvSpPr/>
          <p:nvPr/>
        </p:nvSpPr>
        <p:spPr>
          <a:xfrm>
            <a:off x="1143000" y="6095851"/>
            <a:ext cx="12468225" cy="476250"/>
          </a:xfrm>
          <a:prstGeom prst="rect">
            <a:avLst/>
          </a:prstGeom>
          <a:noFill/>
          <a:ln/>
        </p:spPr>
        <p:txBody>
          <a:bodyPr wrap="square" lIns="25400" tIns="25400" rIns="25400" bIns="25400" rtlCol="0" anchor="t">
            <a:normAutofit/>
          </a:bodyPr>
          <a:lstStyle/>
          <a:p>
            <a:pPr algn="l" indent="0" marL="0">
              <a:buNone/>
            </a:pPr>
            <a:r>
              <a:rPr lang="en-US" sz="3000" dirty="0">
                <a:solidFill>
                  <a:srgbClr val="CF4B2B"/>
                </a:solidFill>
                <a:latin typeface="Arial" pitchFamily="34" charset="0"/>
                <a:ea typeface="Arial" pitchFamily="34" charset="-122"/>
                <a:cs typeface="Arial" pitchFamily="34" charset="-120"/>
              </a:rPr>
              <a:t>Stealing is encouraged.</a:t>
            </a:r>
            <a:endParaRPr lang="en-US" sz="3000" dirty="0"/>
          </a:p>
        </p:txBody>
      </p:sp>
      <p:sp>
        <p:nvSpPr>
          <p:cNvPr id="9" name="Text 6"/>
          <p:cNvSpPr/>
          <p:nvPr/>
        </p:nvSpPr>
        <p:spPr>
          <a:xfrm>
            <a:off x="1143000" y="6762601"/>
            <a:ext cx="5393843" cy="1281113"/>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4A3F33"/>
                </a:solidFill>
                <a:latin typeface="Arial" pitchFamily="34" charset="0"/>
                <a:ea typeface="Arial" pitchFamily="34" charset="-122"/>
                <a:cs typeface="Arial" pitchFamily="34" charset="-120"/>
              </a:rPr>
              <a:t>No defending, no apologizing. Clarifying questions only. Three dots each — your own ideas count.</a:t>
            </a:r>
            <a:endParaRPr lang="en-US" sz="2250" dirty="0"/>
          </a:p>
        </p:txBody>
      </p:sp>
      <p:sp>
        <p:nvSpPr>
          <p:cNvPr id="10" name="Shape 7"/>
          <p:cNvSpPr/>
          <p:nvPr/>
        </p:nvSpPr>
        <p:spPr>
          <a:xfrm>
            <a:off x="13144500" y="4588743"/>
            <a:ext cx="4000500" cy="3238500"/>
          </a:xfrm>
          <a:prstGeom prst="roundRect">
            <a:avLst>
              <a:gd name="adj" fmla="val 5294"/>
            </a:avLst>
          </a:prstGeom>
          <a:solidFill>
            <a:srgbClr val="F5EFE3"/>
          </a:solidFill>
          <a:ln w="9525">
            <a:solidFill>
              <a:srgbClr val="29211A">
                <a:alpha val="14000"/>
              </a:srgbClr>
            </a:solidFill>
            <a:prstDash val="solid"/>
          </a:ln>
        </p:spPr>
      </p:sp>
      <p:sp>
        <p:nvSpPr>
          <p:cNvPr id="11" name="Shape 8"/>
          <p:cNvSpPr/>
          <p:nvPr/>
        </p:nvSpPr>
        <p:spPr>
          <a:xfrm rot="-300000">
            <a:off x="13525500" y="4969743"/>
            <a:ext cx="1143000" cy="857250"/>
          </a:xfrm>
          <a:prstGeom prst="roundRect">
            <a:avLst>
              <a:gd name="adj" fmla="val 6667"/>
            </a:avLst>
          </a:prstGeom>
          <a:solidFill>
            <a:srgbClr val="FFFFFF"/>
          </a:solidFill>
          <a:ln w="9525">
            <a:solidFill>
              <a:srgbClr val="29211A">
                <a:alpha val="14000"/>
              </a:srgbClr>
            </a:solidFill>
            <a:prstDash val="solid"/>
          </a:ln>
        </p:spPr>
      </p:sp>
      <p:sp>
        <p:nvSpPr>
          <p:cNvPr id="12" name="Shape 9"/>
          <p:cNvSpPr/>
          <p:nvPr/>
        </p:nvSpPr>
        <p:spPr>
          <a:xfrm rot="240000">
            <a:off x="15525750" y="5160243"/>
            <a:ext cx="1143000" cy="857250"/>
          </a:xfrm>
          <a:prstGeom prst="roundRect">
            <a:avLst>
              <a:gd name="adj" fmla="val 6667"/>
            </a:avLst>
          </a:prstGeom>
          <a:solidFill>
            <a:srgbClr val="FFFFFF"/>
          </a:solidFill>
          <a:ln w="9525">
            <a:solidFill>
              <a:srgbClr val="29211A">
                <a:alpha val="14000"/>
              </a:srgbClr>
            </a:solidFill>
            <a:prstDash val="solid"/>
          </a:ln>
        </p:spPr>
      </p:sp>
      <p:sp>
        <p:nvSpPr>
          <p:cNvPr id="13" name="Shape 10"/>
          <p:cNvSpPr/>
          <p:nvPr/>
        </p:nvSpPr>
        <p:spPr>
          <a:xfrm rot="120000">
            <a:off x="14001750" y="6493743"/>
            <a:ext cx="1238250" cy="914400"/>
          </a:xfrm>
          <a:prstGeom prst="roundRect">
            <a:avLst>
              <a:gd name="adj" fmla="val 6250"/>
            </a:avLst>
          </a:prstGeom>
          <a:solidFill>
            <a:srgbClr val="FFFFFF"/>
          </a:solidFill>
          <a:ln w="9525">
            <a:solidFill>
              <a:srgbClr val="29211A">
                <a:alpha val="14000"/>
              </a:srgbClr>
            </a:solidFill>
            <a:prstDash val="solid"/>
          </a:ln>
        </p:spPr>
      </p:sp>
      <p:sp>
        <p:nvSpPr>
          <p:cNvPr id="14" name="Shape 11"/>
          <p:cNvSpPr/>
          <p:nvPr/>
        </p:nvSpPr>
        <p:spPr>
          <a:xfrm>
            <a:off x="13887450" y="5217393"/>
            <a:ext cx="209550" cy="209550"/>
          </a:xfrm>
          <a:prstGeom prst="ellipse">
            <a:avLst/>
          </a:prstGeom>
          <a:solidFill>
            <a:srgbClr val="CF4B2B"/>
          </a:solidFill>
          <a:ln/>
        </p:spPr>
      </p:sp>
      <p:sp>
        <p:nvSpPr>
          <p:cNvPr id="15" name="Shape 12"/>
          <p:cNvSpPr/>
          <p:nvPr/>
        </p:nvSpPr>
        <p:spPr>
          <a:xfrm>
            <a:off x="16097250" y="5503143"/>
            <a:ext cx="209550" cy="209550"/>
          </a:xfrm>
          <a:prstGeom prst="ellipse">
            <a:avLst/>
          </a:prstGeom>
          <a:solidFill>
            <a:srgbClr val="CF4B2B"/>
          </a:solidFill>
          <a:ln/>
        </p:spPr>
      </p:sp>
      <p:sp>
        <p:nvSpPr>
          <p:cNvPr id="16" name="Shape 13"/>
          <p:cNvSpPr/>
          <p:nvPr/>
        </p:nvSpPr>
        <p:spPr>
          <a:xfrm>
            <a:off x="14573250" y="6703293"/>
            <a:ext cx="209550" cy="209550"/>
          </a:xfrm>
          <a:prstGeom prst="ellipse">
            <a:avLst/>
          </a:prstGeom>
          <a:solidFill>
            <a:srgbClr val="CF4B2B"/>
          </a:solidFill>
          <a:ln/>
        </p:spPr>
      </p:sp>
      <p:sp>
        <p:nvSpPr>
          <p:cNvPr id="17" name="Shape 14"/>
          <p:cNvSpPr/>
          <p:nvPr/>
        </p:nvSpPr>
        <p:spPr>
          <a:xfrm>
            <a:off x="14287500" y="6950943"/>
            <a:ext cx="209550" cy="209550"/>
          </a:xfrm>
          <a:prstGeom prst="ellipse">
            <a:avLst/>
          </a:prstGeom>
          <a:solidFill>
            <a:srgbClr val="6D9A54"/>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Shape 1"/>
          <p:cNvSpPr/>
          <p:nvPr/>
        </p:nvSpPr>
        <p:spPr>
          <a:xfrm>
            <a:off x="1143000" y="876300"/>
            <a:ext cx="2144911" cy="571500"/>
          </a:xfrm>
          <a:prstGeom prst="roundRect">
            <a:avLst>
              <a:gd name="adj" fmla="val 50000"/>
            </a:avLst>
          </a:prstGeom>
          <a:solidFill>
            <a:srgbClr val="29211A"/>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1028700"/>
            <a:ext cx="266700" cy="266700"/>
          </a:xfrm>
          <a:prstGeom prst="rect">
            <a:avLst/>
          </a:prstGeom>
        </p:spPr>
      </p:pic>
      <p:sp>
        <p:nvSpPr>
          <p:cNvPr id="5" name="Text 2"/>
          <p:cNvSpPr/>
          <p:nvPr/>
        </p:nvSpPr>
        <p:spPr>
          <a:xfrm>
            <a:off x="1809750" y="1023938"/>
            <a:ext cx="1287661" cy="314325"/>
          </a:xfrm>
          <a:prstGeom prst="rect">
            <a:avLst/>
          </a:prstGeom>
          <a:noFill/>
          <a:ln/>
        </p:spPr>
        <p:txBody>
          <a:bodyPr wrap="square" lIns="0" tIns="0" rIns="0" bIns="0" rtlCol="0" anchor="t">
            <a:normAutofit/>
          </a:bodyPr>
          <a:lstStyle/>
          <a:p>
            <a:pPr algn="l" indent="0" marL="0">
              <a:lnSpc>
                <a:spcPct val="86667"/>
              </a:lnSpc>
              <a:buNone/>
            </a:pPr>
            <a:r>
              <a:rPr lang="en-US" sz="1950" b="1" dirty="0">
                <a:solidFill>
                  <a:srgbClr val="F4EEE2"/>
                </a:solidFill>
                <a:latin typeface="Arial" pitchFamily="34" charset="0"/>
                <a:ea typeface="Arial" pitchFamily="34" charset="-122"/>
                <a:cs typeface="Arial" pitchFamily="34" charset="-120"/>
              </a:rPr>
              <a:t>25 minutes</a:t>
            </a:r>
            <a:endParaRPr lang="en-US" sz="1950" dirty="0"/>
          </a:p>
        </p:txBody>
      </p:sp>
      <p:sp>
        <p:nvSpPr>
          <p:cNvPr id="6" name="Text 3"/>
          <p:cNvSpPr/>
          <p:nvPr/>
        </p:nvSpPr>
        <p:spPr>
          <a:xfrm>
            <a:off x="12836203" y="1038225"/>
            <a:ext cx="4739677"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Deliverable → </a:t>
            </a:r>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one filled concept poster</a:t>
            </a:r>
            <a:endParaRPr lang="en-US" sz="1950" dirty="0"/>
          </a:p>
        </p:txBody>
      </p:sp>
      <p:sp>
        <p:nvSpPr>
          <p:cNvPr id="7" name="Text 4"/>
          <p:cNvSpPr/>
          <p:nvPr/>
        </p:nvSpPr>
        <p:spPr>
          <a:xfrm>
            <a:off x="1143000" y="4221510"/>
            <a:ext cx="4120515" cy="1786756"/>
          </a:xfrm>
          <a:prstGeom prst="rect">
            <a:avLst/>
          </a:prstGeom>
          <a:noFill/>
          <a:ln/>
        </p:spPr>
        <p:txBody>
          <a:bodyPr wrap="square" lIns="25400" tIns="25400" rIns="25400" bIns="25400" rtlCol="0" anchor="t">
            <a:normAutofit/>
          </a:bodyPr>
          <a:lstStyle/>
          <a:p>
            <a:pPr algn="l" indent="0" marL="0">
              <a:lnSpc>
                <a:spcPct val="90000"/>
              </a:lnSpc>
              <a:buNone/>
            </a:pPr>
            <a:r>
              <a:rPr lang="en-US" sz="4500" spc="-90" kern="0" dirty="0">
                <a:solidFill>
                  <a:srgbClr val="29211A"/>
                </a:solidFill>
                <a:latin typeface="Georgia" pitchFamily="34" charset="0"/>
                <a:ea typeface="Georgia" pitchFamily="34" charset="-122"/>
                <a:cs typeface="Georgia" pitchFamily="34" charset="-120"/>
              </a:rPr>
              <a:t>One concept per table. Fill the poster.</a:t>
            </a:r>
            <a:endParaRPr lang="en-US" sz="4500" dirty="0"/>
          </a:p>
        </p:txBody>
      </p:sp>
      <p:sp>
        <p:nvSpPr>
          <p:cNvPr id="8" name="Text 5"/>
          <p:cNvSpPr/>
          <p:nvPr/>
        </p:nvSpPr>
        <p:spPr>
          <a:xfrm>
            <a:off x="1143000" y="6217816"/>
            <a:ext cx="4120515" cy="819150"/>
          </a:xfrm>
          <a:prstGeom prst="rect">
            <a:avLst/>
          </a:prstGeom>
          <a:noFill/>
          <a:ln/>
        </p:spPr>
        <p:txBody>
          <a:bodyPr wrap="square" lIns="25400" tIns="25400" rIns="25400" bIns="25400" rtlCol="0" anchor="t">
            <a:normAutofit/>
          </a:bodyPr>
          <a:lstStyle/>
          <a:p>
            <a:pPr algn="l" indent="0" marL="0">
              <a:buNone/>
            </a:pPr>
            <a:r>
              <a:rPr lang="en-US" sz="2700" dirty="0">
                <a:solidFill>
                  <a:srgbClr val="CF4B2B"/>
                </a:solidFill>
                <a:latin typeface="Arial" pitchFamily="34" charset="0"/>
                <a:ea typeface="Arial" pitchFamily="34" charset="-122"/>
                <a:cs typeface="Arial" pitchFamily="34" charset="-120"/>
              </a:rPr>
              <a:t>The name matters more than you think.</a:t>
            </a:r>
            <a:endParaRPr lang="en-US" sz="2700" dirty="0"/>
          </a:p>
        </p:txBody>
      </p:sp>
      <p:sp>
        <p:nvSpPr>
          <p:cNvPr id="9" name="Shape 6"/>
          <p:cNvSpPr/>
          <p:nvPr/>
        </p:nvSpPr>
        <p:spPr>
          <a:xfrm>
            <a:off x="5676900" y="3400425"/>
            <a:ext cx="11468100" cy="4419600"/>
          </a:xfrm>
          <a:prstGeom prst="roundRect">
            <a:avLst>
              <a:gd name="adj" fmla="val 3448"/>
            </a:avLst>
          </a:prstGeom>
          <a:solidFill>
            <a:srgbClr val="F5EFE3"/>
          </a:solidFill>
          <a:ln w="9525">
            <a:solidFill>
              <a:srgbClr val="29211A">
                <a:alpha val="14000"/>
              </a:srgbClr>
            </a:solidFill>
            <a:prstDash val="solid"/>
          </a:ln>
          <a:effectLst>
            <a:outerShdw sx="100000" sy="100000" kx="0" ky="0" algn="bl" rotWithShape="0" blurRad="476250" dist="190500" dir="5400000">
              <a:srgbClr val="29211A">
                <a:alpha val="10000"/>
              </a:srgbClr>
            </a:outerShdw>
          </a:effectLst>
        </p:spPr>
      </p:sp>
      <p:sp>
        <p:nvSpPr>
          <p:cNvPr id="10" name="Shape 7"/>
          <p:cNvSpPr/>
          <p:nvPr/>
        </p:nvSpPr>
        <p:spPr>
          <a:xfrm>
            <a:off x="6105525" y="4295775"/>
            <a:ext cx="10610850" cy="9525"/>
          </a:xfrm>
          <a:prstGeom prst="rect">
            <a:avLst/>
          </a:prstGeom>
          <a:solidFill>
            <a:srgbClr val="29211A">
              <a:alpha val="14000"/>
            </a:srgbClr>
          </a:solidFill>
          <a:ln/>
        </p:spPr>
      </p:sp>
      <p:sp>
        <p:nvSpPr>
          <p:cNvPr id="11" name="Text 8"/>
          <p:cNvSpPr/>
          <p:nvPr/>
        </p:nvSpPr>
        <p:spPr>
          <a:xfrm>
            <a:off x="6105525" y="3843338"/>
            <a:ext cx="240982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Name it</a:t>
            </a:r>
            <a:endParaRPr lang="en-US" sz="1950" dirty="0"/>
          </a:p>
        </p:txBody>
      </p:sp>
      <p:sp>
        <p:nvSpPr>
          <p:cNvPr id="12" name="Text 9"/>
          <p:cNvSpPr/>
          <p:nvPr/>
        </p:nvSpPr>
        <p:spPr>
          <a:xfrm>
            <a:off x="8467725" y="3771900"/>
            <a:ext cx="2925678" cy="390525"/>
          </a:xfrm>
          <a:prstGeom prst="rect">
            <a:avLst/>
          </a:prstGeom>
          <a:noFill/>
          <a:ln/>
        </p:spPr>
        <p:txBody>
          <a:bodyPr wrap="square" lIns="25400" tIns="25400" rIns="25400" bIns="25400" rtlCol="0" anchor="t">
            <a:normAutofit/>
          </a:bodyPr>
          <a:lstStyle/>
          <a:p>
            <a:pPr algn="l" indent="0" marL="0">
              <a:buNone/>
            </a:pPr>
            <a:r>
              <a:rPr lang="en-US" sz="2400" dirty="0">
                <a:solidFill>
                  <a:srgbClr val="4A3F33"/>
                </a:solidFill>
                <a:latin typeface="Arial" pitchFamily="34" charset="0"/>
                <a:ea typeface="Arial" pitchFamily="34" charset="-122"/>
                <a:cs typeface="Arial" pitchFamily="34" charset="-120"/>
              </a:rPr>
              <a:t>One-Look Numbers</a:t>
            </a:r>
            <a:endParaRPr lang="en-US" sz="2400" dirty="0"/>
          </a:p>
        </p:txBody>
      </p:sp>
      <p:sp>
        <p:nvSpPr>
          <p:cNvPr id="13" name="Shape 10"/>
          <p:cNvSpPr/>
          <p:nvPr/>
        </p:nvSpPr>
        <p:spPr>
          <a:xfrm>
            <a:off x="6105525" y="5019675"/>
            <a:ext cx="10610850" cy="9525"/>
          </a:xfrm>
          <a:prstGeom prst="rect">
            <a:avLst/>
          </a:prstGeom>
          <a:solidFill>
            <a:srgbClr val="29211A">
              <a:alpha val="14000"/>
            </a:srgbClr>
          </a:solidFill>
          <a:ln/>
        </p:spPr>
      </p:sp>
      <p:sp>
        <p:nvSpPr>
          <p:cNvPr id="14" name="Text 11"/>
          <p:cNvSpPr/>
          <p:nvPr/>
        </p:nvSpPr>
        <p:spPr>
          <a:xfrm>
            <a:off x="6105525" y="4567238"/>
            <a:ext cx="240982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Who it's for</a:t>
            </a:r>
            <a:endParaRPr lang="en-US" sz="1950" dirty="0"/>
          </a:p>
        </p:txBody>
      </p:sp>
      <p:sp>
        <p:nvSpPr>
          <p:cNvPr id="15" name="Text 12"/>
          <p:cNvSpPr/>
          <p:nvPr/>
        </p:nvSpPr>
        <p:spPr>
          <a:xfrm>
            <a:off x="8467725" y="4495800"/>
            <a:ext cx="38100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8A7A64"/>
                </a:solidFill>
                <a:latin typeface="Arial" pitchFamily="34" charset="0"/>
                <a:ea typeface="Arial" pitchFamily="34" charset="-122"/>
                <a:cs typeface="Arial" pitchFamily="34" charset="-120"/>
              </a:rPr>
              <a:t>…</a:t>
            </a:r>
            <a:endParaRPr lang="en-US" sz="2400" dirty="0"/>
          </a:p>
        </p:txBody>
      </p:sp>
      <p:sp>
        <p:nvSpPr>
          <p:cNvPr id="16" name="Shape 13"/>
          <p:cNvSpPr/>
          <p:nvPr/>
        </p:nvSpPr>
        <p:spPr>
          <a:xfrm>
            <a:off x="6105525" y="5743575"/>
            <a:ext cx="10610850" cy="9525"/>
          </a:xfrm>
          <a:prstGeom prst="rect">
            <a:avLst/>
          </a:prstGeom>
          <a:solidFill>
            <a:srgbClr val="29211A">
              <a:alpha val="14000"/>
            </a:srgbClr>
          </a:solidFill>
          <a:ln/>
        </p:spPr>
      </p:sp>
      <p:sp>
        <p:nvSpPr>
          <p:cNvPr id="17" name="Text 14"/>
          <p:cNvSpPr/>
          <p:nvPr/>
        </p:nvSpPr>
        <p:spPr>
          <a:xfrm>
            <a:off x="6105525" y="5291138"/>
            <a:ext cx="240982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The job it does</a:t>
            </a:r>
            <a:endParaRPr lang="en-US" sz="1950" dirty="0"/>
          </a:p>
        </p:txBody>
      </p:sp>
      <p:sp>
        <p:nvSpPr>
          <p:cNvPr id="18" name="Text 15"/>
          <p:cNvSpPr/>
          <p:nvPr/>
        </p:nvSpPr>
        <p:spPr>
          <a:xfrm>
            <a:off x="8467725" y="5219700"/>
            <a:ext cx="38100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8A7A64"/>
                </a:solidFill>
                <a:latin typeface="Arial" pitchFamily="34" charset="0"/>
                <a:ea typeface="Arial" pitchFamily="34" charset="-122"/>
                <a:cs typeface="Arial" pitchFamily="34" charset="-120"/>
              </a:rPr>
              <a:t>…</a:t>
            </a:r>
            <a:endParaRPr lang="en-US" sz="2400" dirty="0"/>
          </a:p>
        </p:txBody>
      </p:sp>
      <p:sp>
        <p:nvSpPr>
          <p:cNvPr id="19" name="Shape 16"/>
          <p:cNvSpPr/>
          <p:nvPr/>
        </p:nvSpPr>
        <p:spPr>
          <a:xfrm>
            <a:off x="6105525" y="6681788"/>
            <a:ext cx="10610850" cy="9525"/>
          </a:xfrm>
          <a:prstGeom prst="rect">
            <a:avLst/>
          </a:prstGeom>
          <a:solidFill>
            <a:srgbClr val="29211A">
              <a:alpha val="14000"/>
            </a:srgbClr>
          </a:solidFill>
          <a:ln/>
        </p:spPr>
      </p:sp>
      <p:sp>
        <p:nvSpPr>
          <p:cNvPr id="20" name="Text 17"/>
          <p:cNvSpPr/>
          <p:nvPr/>
        </p:nvSpPr>
        <p:spPr>
          <a:xfrm>
            <a:off x="6105525" y="6015038"/>
            <a:ext cx="2266950" cy="53340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How it works, in 3 steps</a:t>
            </a:r>
            <a:endParaRPr lang="en-US" sz="1950" dirty="0"/>
          </a:p>
        </p:txBody>
      </p:sp>
      <p:sp>
        <p:nvSpPr>
          <p:cNvPr id="21" name="Text 18"/>
          <p:cNvSpPr/>
          <p:nvPr/>
        </p:nvSpPr>
        <p:spPr>
          <a:xfrm>
            <a:off x="8467725" y="5943600"/>
            <a:ext cx="38100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8A7A64"/>
                </a:solidFill>
                <a:latin typeface="Arial" pitchFamily="34" charset="0"/>
                <a:ea typeface="Arial" pitchFamily="34" charset="-122"/>
                <a:cs typeface="Arial" pitchFamily="34" charset="-120"/>
              </a:rPr>
              <a:t>…</a:t>
            </a:r>
            <a:endParaRPr lang="en-US" sz="2400" dirty="0"/>
          </a:p>
        </p:txBody>
      </p:sp>
      <p:sp>
        <p:nvSpPr>
          <p:cNvPr id="22" name="Text 19"/>
          <p:cNvSpPr/>
          <p:nvPr/>
        </p:nvSpPr>
        <p:spPr>
          <a:xfrm>
            <a:off x="6105525" y="6953250"/>
            <a:ext cx="2266950" cy="53340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What changes for them</a:t>
            </a:r>
            <a:endParaRPr lang="en-US" sz="1950" dirty="0"/>
          </a:p>
        </p:txBody>
      </p:sp>
      <p:sp>
        <p:nvSpPr>
          <p:cNvPr id="23" name="Text 20"/>
          <p:cNvSpPr/>
          <p:nvPr/>
        </p:nvSpPr>
        <p:spPr>
          <a:xfrm>
            <a:off x="8467725" y="6881813"/>
            <a:ext cx="2590071" cy="390525"/>
          </a:xfrm>
          <a:prstGeom prst="rect">
            <a:avLst/>
          </a:prstGeom>
          <a:noFill/>
          <a:ln/>
        </p:spPr>
        <p:txBody>
          <a:bodyPr wrap="square" lIns="25400" tIns="25400" rIns="25400" bIns="25400" rtlCol="0" anchor="t">
            <a:normAutofit/>
          </a:bodyPr>
          <a:lstStyle/>
          <a:p>
            <a:pPr algn="l" indent="0" marL="0">
              <a:buNone/>
            </a:pPr>
            <a:r>
              <a:rPr lang="en-US" sz="2400" dirty="0">
                <a:solidFill>
                  <a:srgbClr val="CF4B2B"/>
                </a:solidFill>
                <a:latin typeface="Arial" pitchFamily="34" charset="0"/>
                <a:ea typeface="Arial" pitchFamily="34" charset="-122"/>
                <a:cs typeface="Arial" pitchFamily="34" charset="-120"/>
              </a:rPr>
              <a:t>← stress this one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Shape 1"/>
          <p:cNvSpPr/>
          <p:nvPr/>
        </p:nvSpPr>
        <p:spPr>
          <a:xfrm>
            <a:off x="1143000" y="876300"/>
            <a:ext cx="2750567" cy="571500"/>
          </a:xfrm>
          <a:prstGeom prst="roundRect">
            <a:avLst>
              <a:gd name="adj" fmla="val 50000"/>
            </a:avLst>
          </a:prstGeom>
          <a:solidFill>
            <a:srgbClr val="29211A"/>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1028700"/>
            <a:ext cx="266700" cy="266700"/>
          </a:xfrm>
          <a:prstGeom prst="rect">
            <a:avLst/>
          </a:prstGeom>
        </p:spPr>
      </p:pic>
      <p:sp>
        <p:nvSpPr>
          <p:cNvPr id="5" name="Text 2"/>
          <p:cNvSpPr/>
          <p:nvPr/>
        </p:nvSpPr>
        <p:spPr>
          <a:xfrm>
            <a:off x="1809750" y="1023938"/>
            <a:ext cx="1893317" cy="314325"/>
          </a:xfrm>
          <a:prstGeom prst="rect">
            <a:avLst/>
          </a:prstGeom>
          <a:noFill/>
          <a:ln/>
        </p:spPr>
        <p:txBody>
          <a:bodyPr wrap="square" lIns="0" tIns="0" rIns="0" bIns="0" rtlCol="0" anchor="t">
            <a:normAutofit/>
          </a:bodyPr>
          <a:lstStyle/>
          <a:p>
            <a:pPr algn="l" indent="0" marL="0">
              <a:lnSpc>
                <a:spcPct val="86667"/>
              </a:lnSpc>
              <a:buNone/>
            </a:pPr>
            <a:r>
              <a:rPr lang="en-US" sz="1950" b="1" dirty="0">
                <a:solidFill>
                  <a:srgbClr val="F4EEE2"/>
                </a:solidFill>
                <a:latin typeface="Arial" pitchFamily="34" charset="0"/>
                <a:ea typeface="Arial" pitchFamily="34" charset="-122"/>
                <a:cs typeface="Arial" pitchFamily="34" charset="-120"/>
              </a:rPr>
              <a:t>3 minutes / table</a:t>
            </a:r>
            <a:endParaRPr lang="en-US" sz="1950" dirty="0"/>
          </a:p>
        </p:txBody>
      </p:sp>
      <p:sp>
        <p:nvSpPr>
          <p:cNvPr id="6" name="Text 3"/>
          <p:cNvSpPr/>
          <p:nvPr/>
        </p:nvSpPr>
        <p:spPr>
          <a:xfrm>
            <a:off x="12726293" y="1038225"/>
            <a:ext cx="486057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CF4B2B"/>
                </a:solidFill>
                <a:latin typeface="Arial" pitchFamily="34" charset="0"/>
                <a:ea typeface="Arial" pitchFamily="34" charset="-122"/>
                <a:cs typeface="Arial" pitchFamily="34" charset="-120"/>
              </a:rPr>
              <a:t>Deliverable → </a:t>
            </a:r>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every concept on the wall</a:t>
            </a:r>
            <a:endParaRPr lang="en-US" sz="1950" dirty="0"/>
          </a:p>
        </p:txBody>
      </p:sp>
      <p:sp>
        <p:nvSpPr>
          <p:cNvPr id="7" name="Text 4"/>
          <p:cNvSpPr/>
          <p:nvPr/>
        </p:nvSpPr>
        <p:spPr>
          <a:xfrm>
            <a:off x="8058522" y="1447800"/>
            <a:ext cx="2170881" cy="6395145"/>
          </a:xfrm>
          <a:prstGeom prst="rect">
            <a:avLst/>
          </a:prstGeom>
          <a:noFill/>
          <a:ln/>
        </p:spPr>
        <p:txBody>
          <a:bodyPr wrap="square" lIns="25400" tIns="25400" rIns="25400" bIns="25400" rtlCol="0" anchor="t">
            <a:normAutofit/>
          </a:bodyPr>
          <a:lstStyle/>
          <a:p>
            <a:pPr algn="ctr" indent="0" marL="0">
              <a:lnSpc>
                <a:spcPct val="90439"/>
              </a:lnSpc>
              <a:buNone/>
            </a:pPr>
            <a:r>
              <a:rPr lang="en-US" sz="5400" spc="-108" kern="0" dirty="0">
                <a:solidFill>
                  <a:srgbClr val="29211A"/>
                </a:solidFill>
                <a:latin typeface="Georgia" pitchFamily="34" charset="0"/>
                <a:ea typeface="Georgia" pitchFamily="34" charset="-122"/>
                <a:cs typeface="Georgia" pitchFamily="34" charset="-120"/>
              </a:rPr>
              <a:t>3 minutes per table. Then we look for patterns.</a:t>
            </a:r>
            <a:endParaRPr lang="en-US" sz="5400" dirty="0"/>
          </a:p>
        </p:txBody>
      </p:sp>
      <p:sp>
        <p:nvSpPr>
          <p:cNvPr id="8" name="Text 5"/>
          <p:cNvSpPr/>
          <p:nvPr/>
        </p:nvSpPr>
        <p:spPr>
          <a:xfrm>
            <a:off x="8058522" y="8071545"/>
            <a:ext cx="2170881" cy="1924050"/>
          </a:xfrm>
          <a:prstGeom prst="rect">
            <a:avLst/>
          </a:prstGeom>
          <a:noFill/>
          <a:ln/>
        </p:spPr>
        <p:txBody>
          <a:bodyPr wrap="square" lIns="25400" tIns="25400" rIns="25400" bIns="25400" rtlCol="0" anchor="t">
            <a:normAutofit/>
          </a:bodyPr>
          <a:lstStyle/>
          <a:p>
            <a:pPr algn="ctr" indent="0" marL="0">
              <a:buNone/>
            </a:pPr>
            <a:r>
              <a:rPr lang="en-US" sz="2250" dirty="0">
                <a:solidFill>
                  <a:srgbClr val="4A3F33"/>
                </a:solidFill>
                <a:latin typeface="Arial" pitchFamily="34" charset="0"/>
                <a:ea typeface="Arial" pitchFamily="34" charset="-122"/>
                <a:cs typeface="Arial" pitchFamily="34" charset="-120"/>
              </a:rPr>
              <a:t>One question per concept. No critique yet. Watch for two tables landing in the same place.</a:t>
            </a:r>
            <a:endParaRPr lang="en-US" sz="2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6201A"/>
        </a:solidFill>
      </p:bgPr>
    </p:bg>
    <p:spTree>
      <p:nvGrpSpPr>
        <p:cNvPr id="1" name=""/>
        <p:cNvGrpSpPr/>
        <p:nvPr/>
      </p:nvGrpSpPr>
      <p:grpSpPr>
        <a:xfrm>
          <a:off x="0" y="0"/>
          <a:ext cx="0" cy="0"/>
          <a:chOff x="0" y="0"/>
          <a:chExt cx="0" cy="0"/>
        </a:xfrm>
      </p:grpSpPr>
      <p:sp>
        <p:nvSpPr>
          <p:cNvPr id="2" name="Text 0"/>
          <p:cNvSpPr/>
          <p:nvPr/>
        </p:nvSpPr>
        <p:spPr>
          <a:xfrm>
            <a:off x="1143000" y="3688779"/>
            <a:ext cx="1236345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504" kern="0" dirty="0">
                <a:solidFill>
                  <a:srgbClr val="D99B34"/>
                </a:solidFill>
                <a:latin typeface="Arial" pitchFamily="34" charset="0"/>
                <a:ea typeface="Arial" pitchFamily="34" charset="-122"/>
                <a:cs typeface="Arial" pitchFamily="34" charset="-120"/>
              </a:rPr>
              <a:t>BLOCK 3 · LUNCH BEHIND US</a:t>
            </a:r>
            <a:endParaRPr lang="en-US" sz="1800" dirty="0"/>
          </a:p>
        </p:txBody>
      </p:sp>
      <p:sp>
        <p:nvSpPr>
          <p:cNvPr id="3" name="Text 1"/>
          <p:cNvSpPr/>
          <p:nvPr/>
        </p:nvSpPr>
        <p:spPr>
          <a:xfrm>
            <a:off x="1143000" y="4203129"/>
            <a:ext cx="12363450" cy="842516"/>
          </a:xfrm>
          <a:prstGeom prst="rect">
            <a:avLst/>
          </a:prstGeom>
          <a:noFill/>
          <a:ln/>
        </p:spPr>
        <p:txBody>
          <a:bodyPr wrap="square" lIns="25400" tIns="25400" rIns="25400" bIns="25400" rtlCol="0" anchor="t">
            <a:normAutofit/>
          </a:bodyPr>
          <a:lstStyle/>
          <a:p>
            <a:pPr algn="l" indent="0" marL="0">
              <a:lnSpc>
                <a:spcPct val="90817"/>
              </a:lnSpc>
              <a:buNone/>
            </a:pPr>
            <a:r>
              <a:rPr lang="en-US" sz="6150" spc="-123" kern="0" dirty="0">
                <a:solidFill>
                  <a:srgbClr val="F5EFE3"/>
                </a:solidFill>
                <a:latin typeface="Georgia" pitchFamily="34" charset="0"/>
                <a:ea typeface="Georgia" pitchFamily="34" charset="-122"/>
                <a:cs typeface="Georgia" pitchFamily="34" charset="-120"/>
              </a:rPr>
              <a:t>From concept to reality check</a:t>
            </a:r>
            <a:endParaRPr lang="en-US" sz="6150" dirty="0"/>
          </a:p>
        </p:txBody>
      </p:sp>
      <p:sp>
        <p:nvSpPr>
          <p:cNvPr id="4" name="Text 2"/>
          <p:cNvSpPr/>
          <p:nvPr/>
        </p:nvSpPr>
        <p:spPr>
          <a:xfrm>
            <a:off x="1143000" y="5388546"/>
            <a:ext cx="5393843"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C8B9A2"/>
                </a:solidFill>
                <a:latin typeface="Arial" pitchFamily="34" charset="0"/>
                <a:ea typeface="Arial" pitchFamily="34" charset="-122"/>
                <a:cs typeface="Arial" pitchFamily="34" charset="-120"/>
              </a:rPr>
              <a:t>Nothing here is a verdict. You know the job. Engineering knows the terrain. Neither knows the whole map alone.</a:t>
            </a:r>
            <a:endParaRPr lang="en-US" sz="2250" dirty="0"/>
          </a:p>
        </p:txBody>
      </p:sp>
      <p:sp>
        <p:nvSpPr>
          <p:cNvPr id="5" name="Shape 3"/>
          <p:cNvSpPr/>
          <p:nvPr/>
        </p:nvSpPr>
        <p:spPr>
          <a:xfrm>
            <a:off x="13430250" y="4514850"/>
            <a:ext cx="1428750" cy="1809750"/>
          </a:xfrm>
          <a:custGeom>
            <a:avLst/>
            <a:gdLst/>
            <a:ahLst/>
            <a:cxnLst/>
            <a:rect l="l" t="t" r="r" b="b"/>
            <a:pathLst>
              <a:path w="1428750" h="1809750">
                <a:moveTo>
                  <a:pt x="114300" y="0"/>
                </a:moveTo>
                <a:lnTo>
                  <a:pt x="1314450" y="0"/>
                </a:lnTo>
                <a:arcTo hR="114300" wR="114300" stAng="16200000" swAng="5400000"/>
                <a:lnTo>
                  <a:pt x="1428750" y="1809750"/>
                </a:lnTo>
                <a:lnTo>
                  <a:pt x="0" y="1809750"/>
                </a:lnTo>
                <a:lnTo>
                  <a:pt x="0" y="114300"/>
                </a:lnTo>
                <a:arcTo hR="114300" wR="114300" stAng="10800000" swAng="5400000"/>
                <a:close/>
              </a:path>
            </a:pathLst>
          </a:custGeom>
          <a:solidFill>
            <a:srgbClr val="3A3128"/>
          </a:solidFill>
          <a:ln/>
        </p:spPr>
      </p:sp>
      <p:sp>
        <p:nvSpPr>
          <p:cNvPr id="6" name="Shape 4"/>
          <p:cNvSpPr/>
          <p:nvPr/>
        </p:nvSpPr>
        <p:spPr>
          <a:xfrm>
            <a:off x="15430500" y="4514850"/>
            <a:ext cx="1428750" cy="1809750"/>
          </a:xfrm>
          <a:custGeom>
            <a:avLst/>
            <a:gdLst/>
            <a:ahLst/>
            <a:cxnLst/>
            <a:rect l="l" t="t" r="r" b="b"/>
            <a:pathLst>
              <a:path w="1428750" h="1809750">
                <a:moveTo>
                  <a:pt x="114300" y="0"/>
                </a:moveTo>
                <a:lnTo>
                  <a:pt x="1314450" y="0"/>
                </a:lnTo>
                <a:arcTo hR="114300" wR="114300" stAng="16200000" swAng="5400000"/>
                <a:lnTo>
                  <a:pt x="1428750" y="1809750"/>
                </a:lnTo>
                <a:lnTo>
                  <a:pt x="0" y="1809750"/>
                </a:lnTo>
                <a:lnTo>
                  <a:pt x="0" y="114300"/>
                </a:lnTo>
                <a:arcTo hR="114300" wR="114300" stAng="10800000" swAng="5400000"/>
                <a:close/>
              </a:path>
            </a:pathLst>
          </a:custGeom>
          <a:solidFill>
            <a:srgbClr val="3A3128"/>
          </a:solidFill>
          <a:ln/>
        </p:spPr>
      </p:sp>
      <p:sp>
        <p:nvSpPr>
          <p:cNvPr id="7" name="Shape 5"/>
          <p:cNvSpPr/>
          <p:nvPr/>
        </p:nvSpPr>
        <p:spPr>
          <a:xfrm>
            <a:off x="14287500" y="3848100"/>
            <a:ext cx="1714500" cy="2190750"/>
          </a:xfrm>
          <a:prstGeom prst="roundRect">
            <a:avLst>
              <a:gd name="adj" fmla="val 4444"/>
            </a:avLst>
          </a:prstGeom>
          <a:solidFill>
            <a:srgbClr val="F4EEE2"/>
          </a:solidFill>
          <a:ln/>
          <a:effectLst>
            <a:outerShdw sx="100000" sy="100000" kx="0" ky="0" algn="bl" rotWithShape="0" blurRad="381000" dist="190500" dir="5400000">
              <a:srgbClr val="000000">
                <a:alpha val="4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192250" y="4800600"/>
            <a:ext cx="666750" cy="666750"/>
          </a:xfrm>
          <a:prstGeom prst="rect">
            <a:avLst/>
          </a:prstGeom>
        </p:spPr>
      </p:pic>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430500" y="4800600"/>
            <a:ext cx="666750" cy="6667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176022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WHAT ENGINEERING ANSWERS</a:t>
            </a:r>
            <a:endParaRPr lang="en-US" sz="1800" dirty="0"/>
          </a:p>
        </p:txBody>
      </p:sp>
      <p:sp>
        <p:nvSpPr>
          <p:cNvPr id="4" name="Shape 2"/>
          <p:cNvSpPr/>
          <p:nvPr/>
        </p:nvSpPr>
        <p:spPr>
          <a:xfrm>
            <a:off x="1143000" y="3884340"/>
            <a:ext cx="5168875" cy="2432596"/>
          </a:xfrm>
          <a:prstGeom prst="roundRect">
            <a:avLst>
              <a:gd name="adj" fmla="val 6265"/>
            </a:avLst>
          </a:prstGeom>
          <a:solidFill>
            <a:srgbClr val="F5EFE3"/>
          </a:solidFill>
          <a:ln w="9525">
            <a:solidFill>
              <a:srgbClr val="29211A">
                <a:alpha val="14000"/>
              </a:srgbClr>
            </a:solidFill>
            <a:prstDash val="solid"/>
          </a:ln>
        </p:spPr>
      </p:sp>
      <p:sp>
        <p:nvSpPr>
          <p:cNvPr id="5" name="Text 3"/>
          <p:cNvSpPr/>
          <p:nvPr/>
        </p:nvSpPr>
        <p:spPr>
          <a:xfrm>
            <a:off x="1495425" y="4274865"/>
            <a:ext cx="4910428"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dirty="0">
                <a:solidFill>
                  <a:srgbClr val="2F6F86"/>
                </a:solidFill>
                <a:latin typeface="Georgia" pitchFamily="34" charset="0"/>
                <a:ea typeface="Georgia" pitchFamily="34" charset="-122"/>
                <a:cs typeface="Georgia" pitchFamily="34" charset="-120"/>
              </a:rPr>
              <a:t>1</a:t>
            </a:r>
            <a:endParaRPr lang="en-US" sz="4950" dirty="0"/>
          </a:p>
        </p:txBody>
      </p:sp>
      <p:sp>
        <p:nvSpPr>
          <p:cNvPr id="6" name="Text 4"/>
          <p:cNvSpPr/>
          <p:nvPr/>
        </p:nvSpPr>
        <p:spPr>
          <a:xfrm>
            <a:off x="1495425" y="5094015"/>
            <a:ext cx="4910428"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dirty="0">
                <a:solidFill>
                  <a:srgbClr val="29211A"/>
                </a:solidFill>
                <a:latin typeface="Georgia" pitchFamily="34" charset="0"/>
                <a:ea typeface="Georgia" pitchFamily="34" charset="-122"/>
                <a:cs typeface="Georgia" pitchFamily="34" charset="-120"/>
              </a:rPr>
              <a:t>Could we build it?</a:t>
            </a:r>
            <a:endParaRPr lang="en-US" sz="2850" dirty="0"/>
          </a:p>
        </p:txBody>
      </p:sp>
      <p:sp>
        <p:nvSpPr>
          <p:cNvPr id="7" name="Shape 5"/>
          <p:cNvSpPr/>
          <p:nvPr/>
        </p:nvSpPr>
        <p:spPr>
          <a:xfrm>
            <a:off x="6559525" y="3884340"/>
            <a:ext cx="5168875" cy="2432596"/>
          </a:xfrm>
          <a:prstGeom prst="roundRect">
            <a:avLst>
              <a:gd name="adj" fmla="val 6265"/>
            </a:avLst>
          </a:prstGeom>
          <a:solidFill>
            <a:srgbClr val="F5EFE3"/>
          </a:solidFill>
          <a:ln w="9525">
            <a:solidFill>
              <a:srgbClr val="29211A">
                <a:alpha val="14000"/>
              </a:srgbClr>
            </a:solidFill>
            <a:prstDash val="solid"/>
          </a:ln>
        </p:spPr>
      </p:sp>
      <p:sp>
        <p:nvSpPr>
          <p:cNvPr id="8" name="Text 6"/>
          <p:cNvSpPr/>
          <p:nvPr/>
        </p:nvSpPr>
        <p:spPr>
          <a:xfrm>
            <a:off x="6911950" y="4274865"/>
            <a:ext cx="4910428"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dirty="0">
                <a:solidFill>
                  <a:srgbClr val="2F6F86"/>
                </a:solidFill>
                <a:latin typeface="Georgia" pitchFamily="34" charset="0"/>
                <a:ea typeface="Georgia" pitchFamily="34" charset="-122"/>
                <a:cs typeface="Georgia" pitchFamily="34" charset="-120"/>
              </a:rPr>
              <a:t>2</a:t>
            </a:r>
            <a:endParaRPr lang="en-US" sz="4950" dirty="0"/>
          </a:p>
        </p:txBody>
      </p:sp>
      <p:sp>
        <p:nvSpPr>
          <p:cNvPr id="9" name="Text 7"/>
          <p:cNvSpPr/>
          <p:nvPr/>
        </p:nvSpPr>
        <p:spPr>
          <a:xfrm>
            <a:off x="6911950" y="5094015"/>
            <a:ext cx="4910428"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dirty="0">
                <a:solidFill>
                  <a:srgbClr val="29211A"/>
                </a:solidFill>
                <a:latin typeface="Georgia" pitchFamily="34" charset="0"/>
                <a:ea typeface="Georgia" pitchFamily="34" charset="-122"/>
                <a:cs typeface="Georgia" pitchFamily="34" charset="-120"/>
              </a:rPr>
              <a:t>What would it take?</a:t>
            </a:r>
            <a:endParaRPr lang="en-US" sz="2850" dirty="0"/>
          </a:p>
        </p:txBody>
      </p:sp>
      <p:sp>
        <p:nvSpPr>
          <p:cNvPr id="10" name="Shape 8"/>
          <p:cNvSpPr/>
          <p:nvPr/>
        </p:nvSpPr>
        <p:spPr>
          <a:xfrm>
            <a:off x="11976050" y="3884340"/>
            <a:ext cx="5168950" cy="2432596"/>
          </a:xfrm>
          <a:prstGeom prst="roundRect">
            <a:avLst>
              <a:gd name="adj" fmla="val 6265"/>
            </a:avLst>
          </a:prstGeom>
          <a:solidFill>
            <a:srgbClr val="F5EFE3"/>
          </a:solidFill>
          <a:ln w="9525">
            <a:solidFill>
              <a:srgbClr val="29211A">
                <a:alpha val="14000"/>
              </a:srgbClr>
            </a:solidFill>
            <a:prstDash val="solid"/>
          </a:ln>
        </p:spPr>
      </p:sp>
      <p:sp>
        <p:nvSpPr>
          <p:cNvPr id="11" name="Text 9"/>
          <p:cNvSpPr/>
          <p:nvPr/>
        </p:nvSpPr>
        <p:spPr>
          <a:xfrm>
            <a:off x="12328475" y="4274865"/>
            <a:ext cx="4910510"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dirty="0">
                <a:solidFill>
                  <a:srgbClr val="2F6F86"/>
                </a:solidFill>
                <a:latin typeface="Georgia" pitchFamily="34" charset="0"/>
                <a:ea typeface="Georgia" pitchFamily="34" charset="-122"/>
                <a:cs typeface="Georgia" pitchFamily="34" charset="-120"/>
              </a:rPr>
              <a:t>3</a:t>
            </a:r>
            <a:endParaRPr lang="en-US" sz="4950" dirty="0"/>
          </a:p>
        </p:txBody>
      </p:sp>
      <p:sp>
        <p:nvSpPr>
          <p:cNvPr id="12" name="Text 10"/>
          <p:cNvSpPr/>
          <p:nvPr/>
        </p:nvSpPr>
        <p:spPr>
          <a:xfrm>
            <a:off x="12328475" y="5094015"/>
            <a:ext cx="4598023" cy="870496"/>
          </a:xfrm>
          <a:prstGeom prst="rect">
            <a:avLst/>
          </a:prstGeom>
          <a:noFill/>
          <a:ln/>
        </p:spPr>
        <p:txBody>
          <a:bodyPr wrap="square" lIns="25400" tIns="25400" rIns="25400" bIns="25400" rtlCol="0" anchor="t">
            <a:normAutofit/>
          </a:bodyPr>
          <a:lstStyle/>
          <a:p>
            <a:pPr algn="l" indent="0" marL="0">
              <a:lnSpc>
                <a:spcPct val="100460"/>
              </a:lnSpc>
              <a:buNone/>
            </a:pPr>
            <a:r>
              <a:rPr lang="en-US" sz="2850" dirty="0">
                <a:solidFill>
                  <a:srgbClr val="29211A"/>
                </a:solidFill>
                <a:latin typeface="Georgia" pitchFamily="34" charset="0"/>
                <a:ea typeface="Georgia" pitchFamily="34" charset="-122"/>
                <a:cs typeface="Georgia" pitchFamily="34" charset="-120"/>
              </a:rPr>
              <a:t>What would we need to figure out first?</a:t>
            </a:r>
            <a:endParaRPr lang="en-US" sz="2850" dirty="0"/>
          </a:p>
        </p:txBody>
      </p:sp>
      <p:sp>
        <p:nvSpPr>
          <p:cNvPr id="13" name="Text 11"/>
          <p:cNvSpPr/>
          <p:nvPr/>
        </p:nvSpPr>
        <p:spPr>
          <a:xfrm>
            <a:off x="1143000" y="9101138"/>
            <a:ext cx="3371299" cy="419100"/>
          </a:xfrm>
          <a:prstGeom prst="rect">
            <a:avLst/>
          </a:prstGeom>
          <a:noFill/>
          <a:ln/>
        </p:spPr>
        <p:txBody>
          <a:bodyPr wrap="square" lIns="25400" tIns="25400" rIns="25400" bIns="25400" rtlCol="0" anchor="t">
            <a:normAutofit/>
          </a:bodyPr>
          <a:lstStyle/>
          <a:p>
            <a:pPr algn="l" indent="0" marL="0">
              <a:buNone/>
            </a:pPr>
            <a:r>
              <a:rPr lang="en-US" sz="3000" strike="sngStrike" dirty="0">
                <a:solidFill>
                  <a:srgbClr val="8A7A64"/>
                </a:solidFill>
                <a:latin typeface="Georgia" pitchFamily="34" charset="0"/>
                <a:ea typeface="Georgia" pitchFamily="34" charset="-122"/>
                <a:cs typeface="Georgia" pitchFamily="34" charset="-120"/>
              </a:rPr>
              <a:t>Should we build it?</a:t>
            </a:r>
            <a:endParaRPr lang="en-US" sz="3000" dirty="0"/>
          </a:p>
        </p:txBody>
      </p:sp>
      <p:sp>
        <p:nvSpPr>
          <p:cNvPr id="14" name="Text 12"/>
          <p:cNvSpPr/>
          <p:nvPr/>
        </p:nvSpPr>
        <p:spPr>
          <a:xfrm>
            <a:off x="4417368" y="9096375"/>
            <a:ext cx="6748574" cy="428625"/>
          </a:xfrm>
          <a:prstGeom prst="rect">
            <a:avLst/>
          </a:prstGeom>
          <a:noFill/>
          <a:ln/>
        </p:spPr>
        <p:txBody>
          <a:bodyPr wrap="square" lIns="25400" tIns="25400" rIns="25400" bIns="25400" rtlCol="0" anchor="t">
            <a:normAutofit/>
          </a:bodyPr>
          <a:lstStyle/>
          <a:p>
            <a:pPr algn="l" indent="0" marL="0">
              <a:buNone/>
            </a:pPr>
            <a:r>
              <a:rPr lang="en-US" sz="2700" dirty="0">
                <a:solidFill>
                  <a:srgbClr val="CF4B2B"/>
                </a:solidFill>
                <a:latin typeface="Arial" pitchFamily="34" charset="0"/>
                <a:ea typeface="Arial" pitchFamily="34" charset="-122"/>
                <a:cs typeface="Arial" pitchFamily="34" charset="-120"/>
              </a:rPr>
              <a:t>— that one's yours. You'll answer it next.</a:t>
            </a:r>
            <a:endParaRPr lang="en-US" sz="2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7073014" cy="1136898"/>
          </a:xfrm>
          <a:prstGeom prst="rect">
            <a:avLst/>
          </a:prstGeom>
          <a:noFill/>
          <a:ln/>
        </p:spPr>
        <p:txBody>
          <a:bodyPr wrap="square" lIns="25400" tIns="25400" rIns="25400" bIns="25400" rtlCol="0" anchor="t">
            <a:normAutofit/>
          </a:bodyPr>
          <a:lstStyle/>
          <a:p>
            <a:pPr algn="l" indent="0" marL="0">
              <a:lnSpc>
                <a:spcPct val="90125"/>
              </a:lnSpc>
              <a:buNone/>
            </a:pPr>
            <a:r>
              <a:rPr lang="en-US" sz="4200" spc="-63" kern="0" dirty="0">
                <a:solidFill>
                  <a:srgbClr val="29211A"/>
                </a:solidFill>
                <a:latin typeface="Georgia" pitchFamily="34" charset="0"/>
                <a:ea typeface="Georgia" pitchFamily="34" charset="-122"/>
                <a:cs typeface="Georgia" pitchFamily="34" charset="-120"/>
              </a:rPr>
              <a:t>"Hard" usually means "uncertain," not "impossible."</a:t>
            </a:r>
            <a:endParaRPr lang="en-US" sz="4200" dirty="0"/>
          </a:p>
        </p:txBody>
      </p:sp>
      <p:sp>
        <p:nvSpPr>
          <p:cNvPr id="4" name="Text 2"/>
          <p:cNvSpPr/>
          <p:nvPr/>
        </p:nvSpPr>
        <p:spPr>
          <a:xfrm>
            <a:off x="14784288" y="990600"/>
            <a:ext cx="2360712" cy="390525"/>
          </a:xfrm>
          <a:prstGeom prst="rect">
            <a:avLst/>
          </a:prstGeom>
          <a:noFill/>
          <a:ln/>
        </p:spPr>
        <p:txBody>
          <a:bodyPr wrap="none" lIns="25400" tIns="25400" rIns="25400" bIns="25400" rtlCol="0" anchor="t">
            <a:normAutofit/>
          </a:bodyPr>
          <a:lstStyle/>
          <a:p>
            <a:pPr algn="r" indent="0" marL="0">
              <a:buNone/>
            </a:pPr>
            <a:r>
              <a:rPr lang="en-US" sz="2400" dirty="0">
                <a:solidFill>
                  <a:srgbClr val="CF4B2B"/>
                </a:solidFill>
                <a:latin typeface="Arial" pitchFamily="34" charset="0"/>
                <a:ea typeface="Arial" pitchFamily="34" charset="-122"/>
                <a:cs typeface="Arial" pitchFamily="34" charset="-120"/>
              </a:rPr>
              <a:t>not a traffic light</a:t>
            </a:r>
            <a:endParaRPr lang="en-US" sz="2400" dirty="0"/>
          </a:p>
        </p:txBody>
      </p:sp>
      <p:sp>
        <p:nvSpPr>
          <p:cNvPr id="5" name="Shape 3"/>
          <p:cNvSpPr/>
          <p:nvPr/>
        </p:nvSpPr>
        <p:spPr>
          <a:xfrm>
            <a:off x="1143000" y="2413248"/>
            <a:ext cx="5168875" cy="7073652"/>
          </a:xfrm>
          <a:prstGeom prst="roundRect">
            <a:avLst>
              <a:gd name="adj" fmla="val 2948"/>
            </a:avLst>
          </a:prstGeom>
          <a:solidFill>
            <a:srgbClr val="F5EFE3"/>
          </a:solidFill>
          <a:ln w="9525">
            <a:solidFill>
              <a:srgbClr val="29211A">
                <a:alpha val="14000"/>
              </a:srgbClr>
            </a:solidFill>
            <a:prstDash val="solid"/>
          </a:ln>
        </p:spPr>
      </p:sp>
      <p:sp>
        <p:nvSpPr>
          <p:cNvPr id="6" name="Shape 4"/>
          <p:cNvSpPr/>
          <p:nvPr/>
        </p:nvSpPr>
        <p:spPr>
          <a:xfrm>
            <a:off x="1476375" y="2765673"/>
            <a:ext cx="4502125" cy="133350"/>
          </a:xfrm>
          <a:prstGeom prst="roundRect">
            <a:avLst>
              <a:gd name="adj" fmla="val 50000"/>
            </a:avLst>
          </a:prstGeom>
          <a:solidFill>
            <a:srgbClr val="6D9A54"/>
          </a:solidFill>
          <a:ln/>
        </p:spPr>
      </p:sp>
      <p:sp>
        <p:nvSpPr>
          <p:cNvPr id="7" name="Text 5"/>
          <p:cNvSpPr/>
          <p:nvPr/>
        </p:nvSpPr>
        <p:spPr>
          <a:xfrm>
            <a:off x="1476375" y="3089523"/>
            <a:ext cx="4952338" cy="373335"/>
          </a:xfrm>
          <a:prstGeom prst="rect">
            <a:avLst/>
          </a:prstGeom>
          <a:noFill/>
          <a:ln/>
        </p:spPr>
        <p:txBody>
          <a:bodyPr wrap="square" lIns="25400" tIns="25400" rIns="25400" bIns="25400" rtlCol="0" anchor="t">
            <a:normAutofit/>
          </a:bodyPr>
          <a:lstStyle/>
          <a:p>
            <a:pPr algn="l" indent="0" marL="0">
              <a:lnSpc>
                <a:spcPct val="96438"/>
              </a:lnSpc>
              <a:buNone/>
            </a:pPr>
            <a:r>
              <a:rPr lang="en-US" sz="2400" b="1" dirty="0">
                <a:solidFill>
                  <a:srgbClr val="29211A"/>
                </a:solidFill>
                <a:latin typeface="Georgia" pitchFamily="34" charset="0"/>
                <a:ea typeface="Georgia" pitchFamily="34" charset="-122"/>
                <a:cs typeface="Georgia" pitchFamily="34" charset="-120"/>
              </a:rPr>
              <a:t>Well-trodden path</a:t>
            </a:r>
            <a:endParaRPr lang="en-US" sz="2400" dirty="0"/>
          </a:p>
        </p:txBody>
      </p:sp>
      <p:sp>
        <p:nvSpPr>
          <p:cNvPr id="8" name="Text 6"/>
          <p:cNvSpPr/>
          <p:nvPr/>
        </p:nvSpPr>
        <p:spPr>
          <a:xfrm>
            <a:off x="1476375" y="3615258"/>
            <a:ext cx="4637189" cy="73149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4A3F33"/>
                </a:solidFill>
                <a:latin typeface="Arial" pitchFamily="34" charset="0"/>
                <a:ea typeface="Arial" pitchFamily="34" charset="-122"/>
                <a:cs typeface="Arial" pitchFamily="34" charset="-120"/>
              </a:rPr>
              <a:t>Done this shape of thing before. We can estimate it with confidence.</a:t>
            </a:r>
            <a:endParaRPr lang="en-US" sz="1950" dirty="0"/>
          </a:p>
        </p:txBody>
      </p:sp>
      <p:sp>
        <p:nvSpPr>
          <p:cNvPr id="9" name="Shape 7"/>
          <p:cNvSpPr/>
          <p:nvPr/>
        </p:nvSpPr>
        <p:spPr>
          <a:xfrm>
            <a:off x="6559525" y="2413248"/>
            <a:ext cx="5168875" cy="7073652"/>
          </a:xfrm>
          <a:prstGeom prst="roundRect">
            <a:avLst>
              <a:gd name="adj" fmla="val 2948"/>
            </a:avLst>
          </a:prstGeom>
          <a:solidFill>
            <a:srgbClr val="F5EFE3"/>
          </a:solidFill>
          <a:ln w="9525">
            <a:solidFill>
              <a:srgbClr val="29211A">
                <a:alpha val="14000"/>
              </a:srgbClr>
            </a:solidFill>
            <a:prstDash val="solid"/>
          </a:ln>
        </p:spPr>
      </p:sp>
      <p:sp>
        <p:nvSpPr>
          <p:cNvPr id="10" name="Shape 8"/>
          <p:cNvSpPr/>
          <p:nvPr/>
        </p:nvSpPr>
        <p:spPr>
          <a:xfrm>
            <a:off x="6892900" y="2765673"/>
            <a:ext cx="4502125" cy="133350"/>
          </a:xfrm>
          <a:prstGeom prst="roundRect">
            <a:avLst>
              <a:gd name="adj" fmla="val 50000"/>
            </a:avLst>
          </a:prstGeom>
          <a:solidFill>
            <a:srgbClr val="D99B34"/>
          </a:solidFill>
          <a:ln/>
        </p:spPr>
      </p:sp>
      <p:sp>
        <p:nvSpPr>
          <p:cNvPr id="11" name="Text 9"/>
          <p:cNvSpPr/>
          <p:nvPr/>
        </p:nvSpPr>
        <p:spPr>
          <a:xfrm>
            <a:off x="6892900" y="3089523"/>
            <a:ext cx="4952338" cy="373335"/>
          </a:xfrm>
          <a:prstGeom prst="rect">
            <a:avLst/>
          </a:prstGeom>
          <a:noFill/>
          <a:ln/>
        </p:spPr>
        <p:txBody>
          <a:bodyPr wrap="square" lIns="25400" tIns="25400" rIns="25400" bIns="25400" rtlCol="0" anchor="t">
            <a:normAutofit/>
          </a:bodyPr>
          <a:lstStyle/>
          <a:p>
            <a:pPr algn="l" indent="0" marL="0">
              <a:lnSpc>
                <a:spcPct val="96438"/>
              </a:lnSpc>
              <a:buNone/>
            </a:pPr>
            <a:r>
              <a:rPr lang="en-US" sz="2400" b="1" dirty="0">
                <a:solidFill>
                  <a:srgbClr val="29211A"/>
                </a:solidFill>
                <a:latin typeface="Georgia" pitchFamily="34" charset="0"/>
                <a:ea typeface="Georgia" pitchFamily="34" charset="-122"/>
                <a:cs typeface="Georgia" pitchFamily="34" charset="-120"/>
              </a:rPr>
              <a:t>Some unknowns</a:t>
            </a:r>
            <a:endParaRPr lang="en-US" sz="2400" dirty="0"/>
          </a:p>
        </p:txBody>
      </p:sp>
      <p:sp>
        <p:nvSpPr>
          <p:cNvPr id="12" name="Text 10"/>
          <p:cNvSpPr/>
          <p:nvPr/>
        </p:nvSpPr>
        <p:spPr>
          <a:xfrm>
            <a:off x="6892900" y="3615258"/>
            <a:ext cx="4637189" cy="73149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4A3F33"/>
                </a:solidFill>
                <a:latin typeface="Arial" pitchFamily="34" charset="0"/>
                <a:ea typeface="Arial" pitchFamily="34" charset="-122"/>
                <a:cs typeface="Arial" pitchFamily="34" charset="-120"/>
              </a:rPr>
              <a:t>Buildable, but open questions change the size. The estimate is a range.</a:t>
            </a:r>
            <a:endParaRPr lang="en-US" sz="1950" dirty="0"/>
          </a:p>
        </p:txBody>
      </p:sp>
      <p:sp>
        <p:nvSpPr>
          <p:cNvPr id="13" name="Shape 11"/>
          <p:cNvSpPr/>
          <p:nvPr/>
        </p:nvSpPr>
        <p:spPr>
          <a:xfrm>
            <a:off x="11976050" y="2413248"/>
            <a:ext cx="5168950" cy="7073652"/>
          </a:xfrm>
          <a:prstGeom prst="roundRect">
            <a:avLst>
              <a:gd name="adj" fmla="val 2948"/>
            </a:avLst>
          </a:prstGeom>
          <a:solidFill>
            <a:srgbClr val="F5EFE3"/>
          </a:solidFill>
          <a:ln w="9525">
            <a:solidFill>
              <a:srgbClr val="29211A">
                <a:alpha val="14000"/>
              </a:srgbClr>
            </a:solidFill>
            <a:prstDash val="solid"/>
          </a:ln>
        </p:spPr>
      </p:sp>
      <p:sp>
        <p:nvSpPr>
          <p:cNvPr id="14" name="Shape 12"/>
          <p:cNvSpPr/>
          <p:nvPr/>
        </p:nvSpPr>
        <p:spPr>
          <a:xfrm>
            <a:off x="12309425" y="2765673"/>
            <a:ext cx="4502200" cy="133350"/>
          </a:xfrm>
          <a:prstGeom prst="roundRect">
            <a:avLst>
              <a:gd name="adj" fmla="val 50000"/>
            </a:avLst>
          </a:prstGeom>
          <a:solidFill>
            <a:srgbClr val="CF4B2B"/>
          </a:solidFill>
          <a:ln/>
        </p:spPr>
      </p:sp>
      <p:sp>
        <p:nvSpPr>
          <p:cNvPr id="15" name="Text 13"/>
          <p:cNvSpPr/>
          <p:nvPr/>
        </p:nvSpPr>
        <p:spPr>
          <a:xfrm>
            <a:off x="12309425" y="3089523"/>
            <a:ext cx="4952420" cy="373335"/>
          </a:xfrm>
          <a:prstGeom prst="rect">
            <a:avLst/>
          </a:prstGeom>
          <a:noFill/>
          <a:ln/>
        </p:spPr>
        <p:txBody>
          <a:bodyPr wrap="square" lIns="25400" tIns="25400" rIns="25400" bIns="25400" rtlCol="0" anchor="t">
            <a:normAutofit/>
          </a:bodyPr>
          <a:lstStyle/>
          <a:p>
            <a:pPr algn="l" indent="0" marL="0">
              <a:lnSpc>
                <a:spcPct val="96438"/>
              </a:lnSpc>
              <a:buNone/>
            </a:pPr>
            <a:r>
              <a:rPr lang="en-US" sz="2400" b="1" dirty="0">
                <a:solidFill>
                  <a:srgbClr val="29211A"/>
                </a:solidFill>
                <a:latin typeface="Georgia" pitchFamily="34" charset="0"/>
                <a:ea typeface="Georgia" pitchFamily="34" charset="-122"/>
                <a:cs typeface="Georgia" pitchFamily="34" charset="-120"/>
              </a:rPr>
              <a:t>Genuine unknowns</a:t>
            </a:r>
            <a:endParaRPr lang="en-US" sz="2400" dirty="0"/>
          </a:p>
        </p:txBody>
      </p:sp>
      <p:sp>
        <p:nvSpPr>
          <p:cNvPr id="16" name="Text 14"/>
          <p:cNvSpPr/>
          <p:nvPr/>
        </p:nvSpPr>
        <p:spPr>
          <a:xfrm>
            <a:off x="12309425" y="3615258"/>
            <a:ext cx="4637266" cy="731490"/>
          </a:xfrm>
          <a:prstGeom prst="rect">
            <a:avLst/>
          </a:prstGeom>
          <a:noFill/>
          <a:ln/>
        </p:spPr>
        <p:txBody>
          <a:bodyPr wrap="square" lIns="25400" tIns="25400" rIns="25400" bIns="25400" rtlCol="0" anchor="t">
            <a:normAutofit/>
          </a:bodyPr>
          <a:lstStyle/>
          <a:p>
            <a:pPr algn="l" indent="0" marL="0">
              <a:lnSpc>
                <a:spcPct val="121333"/>
              </a:lnSpc>
              <a:buNone/>
            </a:pPr>
            <a:r>
              <a:rPr lang="en-US" sz="1950" dirty="0">
                <a:solidFill>
                  <a:srgbClr val="4A3F33"/>
                </a:solidFill>
                <a:latin typeface="Arial" pitchFamily="34" charset="0"/>
                <a:ea typeface="Arial" pitchFamily="34" charset="-122"/>
                <a:cs typeface="Arial" pitchFamily="34" charset="-120"/>
              </a:rPr>
              <a:t>Real investigation needed before anyone can honestly estimate.</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6201A"/>
        </a:solidFill>
      </p:bgPr>
    </p:bg>
    <p:spTree>
      <p:nvGrpSpPr>
        <p:cNvPr id="1" name=""/>
        <p:cNvGrpSpPr/>
        <p:nvPr/>
      </p:nvGrpSpPr>
      <p:grpSpPr>
        <a:xfrm>
          <a:off x="0" y="0"/>
          <a:ext cx="0" cy="0"/>
          <a:chOff x="0" y="0"/>
          <a:chExt cx="0" cy="0"/>
        </a:xfrm>
      </p:grpSpPr>
      <p:sp>
        <p:nvSpPr>
          <p:cNvPr id="2" name="Shape 0"/>
          <p:cNvSpPr/>
          <p:nvPr/>
        </p:nvSpPr>
        <p:spPr>
          <a:xfrm>
            <a:off x="1143000" y="876300"/>
            <a:ext cx="3032968" cy="571500"/>
          </a:xfrm>
          <a:prstGeom prst="roundRect">
            <a:avLst>
              <a:gd name="adj" fmla="val 50000"/>
            </a:avLst>
          </a:prstGeom>
          <a:solidFill>
            <a:srgbClr val="F4EEE2"/>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1028700"/>
            <a:ext cx="266700" cy="266700"/>
          </a:xfrm>
          <a:prstGeom prst="rect">
            <a:avLst/>
          </a:prstGeom>
        </p:spPr>
      </p:pic>
      <p:sp>
        <p:nvSpPr>
          <p:cNvPr id="4" name="Text 1"/>
          <p:cNvSpPr/>
          <p:nvPr/>
        </p:nvSpPr>
        <p:spPr>
          <a:xfrm>
            <a:off x="1809750" y="1023938"/>
            <a:ext cx="2175718" cy="314325"/>
          </a:xfrm>
          <a:prstGeom prst="rect">
            <a:avLst/>
          </a:prstGeom>
          <a:noFill/>
          <a:ln/>
        </p:spPr>
        <p:txBody>
          <a:bodyPr wrap="square" lIns="0" tIns="0" rIns="0" bIns="0" rtlCol="0" anchor="t">
            <a:normAutofit/>
          </a:bodyPr>
          <a:lstStyle/>
          <a:p>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~6–7 min / concept</a:t>
            </a:r>
            <a:endParaRPr lang="en-US" sz="1950" dirty="0"/>
          </a:p>
        </p:txBody>
      </p:sp>
      <p:sp>
        <p:nvSpPr>
          <p:cNvPr id="5" name="Text 2"/>
          <p:cNvSpPr/>
          <p:nvPr/>
        </p:nvSpPr>
        <p:spPr>
          <a:xfrm>
            <a:off x="10449074" y="1047750"/>
            <a:ext cx="1397928"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C8B9A2"/>
                </a:solidFill>
                <a:latin typeface="Arial" pitchFamily="34" charset="0"/>
                <a:ea typeface="Arial" pitchFamily="34" charset="-122"/>
                <a:cs typeface="Arial" pitchFamily="34" charset="-120"/>
              </a:rPr>
              <a:t>1 Could we?</a:t>
            </a:r>
            <a:endParaRPr lang="en-US" sz="1800" dirty="0"/>
          </a:p>
        </p:txBody>
      </p:sp>
      <p:sp>
        <p:nvSpPr>
          <p:cNvPr id="6" name="Text 3"/>
          <p:cNvSpPr/>
          <p:nvPr/>
        </p:nvSpPr>
        <p:spPr>
          <a:xfrm>
            <a:off x="11853267" y="1047750"/>
            <a:ext cx="152326"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C8B9A2"/>
                </a:solidFill>
                <a:latin typeface="Arial" pitchFamily="34" charset="0"/>
                <a:ea typeface="Arial" pitchFamily="34" charset="-122"/>
                <a:cs typeface="Arial" pitchFamily="34" charset="-120"/>
              </a:rPr>
              <a:t>·</a:t>
            </a:r>
            <a:endParaRPr lang="en-US" sz="1800" dirty="0"/>
          </a:p>
        </p:txBody>
      </p:sp>
      <p:sp>
        <p:nvSpPr>
          <p:cNvPr id="7" name="Text 4"/>
          <p:cNvSpPr/>
          <p:nvPr/>
        </p:nvSpPr>
        <p:spPr>
          <a:xfrm>
            <a:off x="12062743" y="1047750"/>
            <a:ext cx="2404095"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C8B9A2"/>
                </a:solidFill>
                <a:latin typeface="Arial" pitchFamily="34" charset="0"/>
                <a:ea typeface="Arial" pitchFamily="34" charset="-122"/>
                <a:cs typeface="Arial" pitchFamily="34" charset="-120"/>
              </a:rPr>
              <a:t>2 What would it take?</a:t>
            </a:r>
            <a:endParaRPr lang="en-US" sz="1800" dirty="0"/>
          </a:p>
        </p:txBody>
      </p:sp>
      <p:sp>
        <p:nvSpPr>
          <p:cNvPr id="8" name="Text 5"/>
          <p:cNvSpPr/>
          <p:nvPr/>
        </p:nvSpPr>
        <p:spPr>
          <a:xfrm>
            <a:off x="14381634" y="1047750"/>
            <a:ext cx="152326"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C8B9A2"/>
                </a:solidFill>
                <a:latin typeface="Arial" pitchFamily="34" charset="0"/>
                <a:ea typeface="Arial" pitchFamily="34" charset="-122"/>
                <a:cs typeface="Arial" pitchFamily="34" charset="-120"/>
              </a:rPr>
              <a:t>·</a:t>
            </a:r>
            <a:endParaRPr lang="en-US" sz="1800" dirty="0"/>
          </a:p>
        </p:txBody>
      </p:sp>
      <p:sp>
        <p:nvSpPr>
          <p:cNvPr id="9" name="Text 6"/>
          <p:cNvSpPr/>
          <p:nvPr/>
        </p:nvSpPr>
        <p:spPr>
          <a:xfrm>
            <a:off x="14591109" y="1047750"/>
            <a:ext cx="280928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C8B9A2"/>
                </a:solidFill>
                <a:latin typeface="Arial" pitchFamily="34" charset="0"/>
                <a:ea typeface="Arial" pitchFamily="34" charset="-122"/>
                <a:cs typeface="Arial" pitchFamily="34" charset="-120"/>
              </a:rPr>
              <a:t>3 What to figure out first?</a:t>
            </a:r>
            <a:endParaRPr lang="en-US" sz="1800" dirty="0"/>
          </a:p>
        </p:txBody>
      </p:sp>
      <p:sp>
        <p:nvSpPr>
          <p:cNvPr id="10" name="Text 7"/>
          <p:cNvSpPr/>
          <p:nvPr/>
        </p:nvSpPr>
        <p:spPr>
          <a:xfrm>
            <a:off x="342900" y="5441975"/>
            <a:ext cx="17602200"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360" kern="0" dirty="0">
                <a:solidFill>
                  <a:srgbClr val="D99B34"/>
                </a:solidFill>
                <a:latin typeface="Arial" pitchFamily="34" charset="0"/>
                <a:ea typeface="Arial" pitchFamily="34" charset="-122"/>
                <a:cs typeface="Arial" pitchFamily="34" charset="-120"/>
              </a:rPr>
              <a:t>CONCEPT ON THE FLOOR</a:t>
            </a:r>
            <a:endParaRPr lang="en-US" sz="1800" dirty="0"/>
          </a:p>
        </p:txBody>
      </p:sp>
      <p:sp>
        <p:nvSpPr>
          <p:cNvPr id="11" name="Text 8"/>
          <p:cNvSpPr/>
          <p:nvPr/>
        </p:nvSpPr>
        <p:spPr>
          <a:xfrm>
            <a:off x="342900" y="5899175"/>
            <a:ext cx="17602200" cy="952500"/>
          </a:xfrm>
          <a:prstGeom prst="rect">
            <a:avLst/>
          </a:prstGeom>
          <a:noFill/>
          <a:ln/>
        </p:spPr>
        <p:txBody>
          <a:bodyPr wrap="square" lIns="25400" tIns="25400" rIns="25400" bIns="25400" rtlCol="0" anchor="t">
            <a:normAutofit/>
          </a:bodyPr>
          <a:lstStyle/>
          <a:p>
            <a:pPr algn="ctr" indent="0" marL="0">
              <a:lnSpc>
                <a:spcPct val="88073"/>
              </a:lnSpc>
              <a:buNone/>
            </a:pPr>
            <a:r>
              <a:rPr lang="en-US" sz="7200" i="1" spc="-144" kern="0" dirty="0">
                <a:solidFill>
                  <a:srgbClr val="F4EEE2"/>
                </a:solidFill>
                <a:latin typeface="Georgia" pitchFamily="34" charset="0"/>
                <a:ea typeface="Georgia" pitchFamily="34" charset="-122"/>
                <a:cs typeface="Georgia" pitchFamily="34" charset="-120"/>
              </a:rPr>
              <a:t>[ Concept name ]</a:t>
            </a:r>
            <a:endParaRPr lang="en-US" sz="7200" dirty="0"/>
          </a:p>
        </p:txBody>
      </p:sp>
      <p:sp>
        <p:nvSpPr>
          <p:cNvPr id="12" name="Text 9"/>
          <p:cNvSpPr/>
          <p:nvPr/>
        </p:nvSpPr>
        <p:spPr>
          <a:xfrm>
            <a:off x="342900" y="7099325"/>
            <a:ext cx="17602200" cy="428625"/>
          </a:xfrm>
          <a:prstGeom prst="rect">
            <a:avLst/>
          </a:prstGeom>
          <a:noFill/>
          <a:ln/>
        </p:spPr>
        <p:txBody>
          <a:bodyPr wrap="square" lIns="25400" tIns="25400" rIns="25400" bIns="25400" rtlCol="0" anchor="t">
            <a:normAutofit/>
          </a:bodyPr>
          <a:lstStyle/>
          <a:p>
            <a:pPr algn="ctr" indent="0" marL="0">
              <a:buNone/>
            </a:pPr>
            <a:r>
              <a:rPr lang="en-US" sz="2700" dirty="0">
                <a:solidFill>
                  <a:srgbClr val="E07A52"/>
                </a:solidFill>
                <a:latin typeface="Arial" pitchFamily="34" charset="0"/>
                <a:ea typeface="Arial" pitchFamily="34" charset="-122"/>
                <a:cs typeface="Arial" pitchFamily="34" charset="-120"/>
              </a:rPr>
              <a:t>Say what's easy first. Then name which force makes the rest hard.</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12259412"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spc="-99" kern="0" dirty="0">
                <a:solidFill>
                  <a:srgbClr val="29211A"/>
                </a:solidFill>
                <a:latin typeface="Georgia" pitchFamily="34" charset="0"/>
                <a:ea typeface="Georgia" pitchFamily="34" charset="-122"/>
                <a:cs typeface="Georgia" pitchFamily="34" charset="-120"/>
              </a:rPr>
              <a:t>Nothing was killed. Everything got clearer.</a:t>
            </a:r>
            <a:endParaRPr lang="en-US" sz="4950" dirty="0"/>
          </a:p>
        </p:txBody>
      </p:sp>
      <p:sp>
        <p:nvSpPr>
          <p:cNvPr id="4" name="Text 2"/>
          <p:cNvSpPr/>
          <p:nvPr/>
        </p:nvSpPr>
        <p:spPr>
          <a:xfrm>
            <a:off x="14176788" y="1038225"/>
            <a:ext cx="2968212" cy="781050"/>
          </a:xfrm>
          <a:prstGeom prst="rect">
            <a:avLst/>
          </a:prstGeom>
          <a:noFill/>
          <a:ln/>
        </p:spPr>
        <p:txBody>
          <a:bodyPr wrap="square" lIns="25400" tIns="25400" rIns="25400" bIns="25400" rtlCol="0" anchor="t">
            <a:normAutofit/>
          </a:bodyPr>
          <a:lstStyle/>
          <a:p>
            <a:pPr algn="r" indent="0" marL="0">
              <a:buNone/>
            </a:pPr>
            <a:r>
              <a:rPr lang="en-US" sz="2550" dirty="0">
                <a:solidFill>
                  <a:srgbClr val="CF4B2B"/>
                </a:solidFill>
                <a:latin typeface="Arial" pitchFamily="34" charset="0"/>
                <a:ea typeface="Arial" pitchFamily="34" charset="-122"/>
                <a:cs typeface="Arial" pitchFamily="34" charset="-120"/>
              </a:rPr>
              <a:t>so — which ones are worth it?</a:t>
            </a:r>
            <a:endParaRPr lang="en-US" sz="2550" dirty="0"/>
          </a:p>
        </p:txBody>
      </p:sp>
      <p:sp>
        <p:nvSpPr>
          <p:cNvPr id="5" name="Shape 3"/>
          <p:cNvSpPr/>
          <p:nvPr/>
        </p:nvSpPr>
        <p:spPr>
          <a:xfrm>
            <a:off x="1143000" y="3774281"/>
            <a:ext cx="11430000" cy="781050"/>
          </a:xfrm>
          <a:prstGeom prst="roundRect">
            <a:avLst>
              <a:gd name="adj" fmla="val 17073"/>
            </a:avLst>
          </a:prstGeom>
          <a:solidFill>
            <a:srgbClr val="F5EFE3"/>
          </a:solidFill>
          <a:ln w="9525">
            <a:solidFill>
              <a:srgbClr val="29211A">
                <a:alpha val="14000"/>
              </a:srgbClr>
            </a:solidFill>
            <a:prstDash val="solid"/>
          </a:ln>
        </p:spPr>
      </p:sp>
      <p:sp>
        <p:nvSpPr>
          <p:cNvPr id="6" name="Text 4"/>
          <p:cNvSpPr/>
          <p:nvPr/>
        </p:nvSpPr>
        <p:spPr>
          <a:xfrm>
            <a:off x="1457325" y="4012406"/>
            <a:ext cx="8801100" cy="342900"/>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Georgia" pitchFamily="34" charset="0"/>
                <a:ea typeface="Georgia" pitchFamily="34" charset="-122"/>
                <a:cs typeface="Georgia" pitchFamily="34" charset="-120"/>
              </a:rPr>
              <a:t>One-Look Numbers</a:t>
            </a:r>
            <a:endParaRPr lang="en-US" sz="2400" dirty="0"/>
          </a:p>
        </p:txBody>
      </p:sp>
      <p:sp>
        <p:nvSpPr>
          <p:cNvPr id="7" name="Shape 5"/>
          <p:cNvSpPr/>
          <p:nvPr/>
        </p:nvSpPr>
        <p:spPr>
          <a:xfrm>
            <a:off x="9686925" y="4088606"/>
            <a:ext cx="152400" cy="152400"/>
          </a:xfrm>
          <a:prstGeom prst="ellipse">
            <a:avLst/>
          </a:prstGeom>
          <a:solidFill>
            <a:srgbClr val="6D9A54"/>
          </a:solidFill>
          <a:ln/>
        </p:spPr>
      </p:sp>
      <p:sp>
        <p:nvSpPr>
          <p:cNvPr id="8" name="Text 6"/>
          <p:cNvSpPr/>
          <p:nvPr/>
        </p:nvSpPr>
        <p:spPr>
          <a:xfrm>
            <a:off x="10067925" y="4040981"/>
            <a:ext cx="240982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8A7A64"/>
                </a:solidFill>
                <a:latin typeface="Arial" pitchFamily="34" charset="0"/>
                <a:ea typeface="Arial" pitchFamily="34" charset="-122"/>
                <a:cs typeface="Arial" pitchFamily="34" charset="-120"/>
              </a:rPr>
              <a:t>Well-trodden path</a:t>
            </a:r>
            <a:endParaRPr lang="en-US" sz="1950" dirty="0"/>
          </a:p>
        </p:txBody>
      </p:sp>
      <p:sp>
        <p:nvSpPr>
          <p:cNvPr id="9" name="Shape 7"/>
          <p:cNvSpPr/>
          <p:nvPr/>
        </p:nvSpPr>
        <p:spPr>
          <a:xfrm>
            <a:off x="1143000" y="4707731"/>
            <a:ext cx="11430000" cy="781050"/>
          </a:xfrm>
          <a:prstGeom prst="roundRect">
            <a:avLst>
              <a:gd name="adj" fmla="val 17073"/>
            </a:avLst>
          </a:prstGeom>
          <a:solidFill>
            <a:srgbClr val="F5EFE3"/>
          </a:solidFill>
          <a:ln w="9525">
            <a:solidFill>
              <a:srgbClr val="29211A">
                <a:alpha val="14000"/>
              </a:srgbClr>
            </a:solidFill>
            <a:prstDash val="solid"/>
          </a:ln>
        </p:spPr>
      </p:sp>
      <p:sp>
        <p:nvSpPr>
          <p:cNvPr id="10" name="Text 8"/>
          <p:cNvSpPr/>
          <p:nvPr/>
        </p:nvSpPr>
        <p:spPr>
          <a:xfrm>
            <a:off x="1457325" y="4945856"/>
            <a:ext cx="8801100" cy="342900"/>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Georgia" pitchFamily="34" charset="0"/>
                <a:ea typeface="Georgia" pitchFamily="34" charset="-122"/>
                <a:cs typeface="Georgia" pitchFamily="34" charset="-120"/>
              </a:rPr>
              <a:t>Find-It-Once search</a:t>
            </a:r>
            <a:endParaRPr lang="en-US" sz="2400" dirty="0"/>
          </a:p>
        </p:txBody>
      </p:sp>
      <p:sp>
        <p:nvSpPr>
          <p:cNvPr id="11" name="Shape 9"/>
          <p:cNvSpPr/>
          <p:nvPr/>
        </p:nvSpPr>
        <p:spPr>
          <a:xfrm>
            <a:off x="9686925" y="5022056"/>
            <a:ext cx="152400" cy="152400"/>
          </a:xfrm>
          <a:prstGeom prst="ellipse">
            <a:avLst/>
          </a:prstGeom>
          <a:solidFill>
            <a:srgbClr val="D99B34"/>
          </a:solidFill>
          <a:ln/>
        </p:spPr>
      </p:sp>
      <p:sp>
        <p:nvSpPr>
          <p:cNvPr id="12" name="Text 10"/>
          <p:cNvSpPr/>
          <p:nvPr/>
        </p:nvSpPr>
        <p:spPr>
          <a:xfrm>
            <a:off x="10067925" y="4974431"/>
            <a:ext cx="240982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8A7A64"/>
                </a:solidFill>
                <a:latin typeface="Arial" pitchFamily="34" charset="0"/>
                <a:ea typeface="Arial" pitchFamily="34" charset="-122"/>
                <a:cs typeface="Arial" pitchFamily="34" charset="-120"/>
              </a:rPr>
              <a:t>Some unknowns</a:t>
            </a:r>
            <a:endParaRPr lang="en-US" sz="1950" dirty="0"/>
          </a:p>
        </p:txBody>
      </p:sp>
      <p:sp>
        <p:nvSpPr>
          <p:cNvPr id="13" name="Shape 11"/>
          <p:cNvSpPr/>
          <p:nvPr/>
        </p:nvSpPr>
        <p:spPr>
          <a:xfrm>
            <a:off x="1143000" y="5641181"/>
            <a:ext cx="11430000" cy="781050"/>
          </a:xfrm>
          <a:prstGeom prst="roundRect">
            <a:avLst>
              <a:gd name="adj" fmla="val 17073"/>
            </a:avLst>
          </a:prstGeom>
          <a:solidFill>
            <a:srgbClr val="F5EFE3"/>
          </a:solidFill>
          <a:ln w="9525">
            <a:solidFill>
              <a:srgbClr val="29211A">
                <a:alpha val="14000"/>
              </a:srgbClr>
            </a:solidFill>
            <a:prstDash val="solid"/>
          </a:ln>
        </p:spPr>
      </p:sp>
      <p:sp>
        <p:nvSpPr>
          <p:cNvPr id="14" name="Text 12"/>
          <p:cNvSpPr/>
          <p:nvPr/>
        </p:nvSpPr>
        <p:spPr>
          <a:xfrm>
            <a:off x="1457325" y="5879306"/>
            <a:ext cx="8801100" cy="342900"/>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Georgia" pitchFamily="34" charset="0"/>
                <a:ea typeface="Georgia" pitchFamily="34" charset="-122"/>
                <a:cs typeface="Georgia" pitchFamily="34" charset="-120"/>
              </a:rPr>
              <a:t>One-Minute Request</a:t>
            </a:r>
            <a:endParaRPr lang="en-US" sz="2400" dirty="0"/>
          </a:p>
        </p:txBody>
      </p:sp>
      <p:sp>
        <p:nvSpPr>
          <p:cNvPr id="15" name="Shape 13"/>
          <p:cNvSpPr/>
          <p:nvPr/>
        </p:nvSpPr>
        <p:spPr>
          <a:xfrm>
            <a:off x="9686925" y="5955506"/>
            <a:ext cx="152400" cy="152400"/>
          </a:xfrm>
          <a:prstGeom prst="ellipse">
            <a:avLst/>
          </a:prstGeom>
          <a:solidFill>
            <a:srgbClr val="D99B34"/>
          </a:solidFill>
          <a:ln/>
        </p:spPr>
      </p:sp>
      <p:sp>
        <p:nvSpPr>
          <p:cNvPr id="16" name="Text 14"/>
          <p:cNvSpPr/>
          <p:nvPr/>
        </p:nvSpPr>
        <p:spPr>
          <a:xfrm>
            <a:off x="10067925" y="5907881"/>
            <a:ext cx="240982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8A7A64"/>
                </a:solidFill>
                <a:latin typeface="Arial" pitchFamily="34" charset="0"/>
                <a:ea typeface="Arial" pitchFamily="34" charset="-122"/>
                <a:cs typeface="Arial" pitchFamily="34" charset="-120"/>
              </a:rPr>
              <a:t>Some unknowns</a:t>
            </a:r>
            <a:endParaRPr lang="en-US" sz="1950" dirty="0"/>
          </a:p>
        </p:txBody>
      </p:sp>
      <p:sp>
        <p:nvSpPr>
          <p:cNvPr id="17" name="Shape 15"/>
          <p:cNvSpPr/>
          <p:nvPr/>
        </p:nvSpPr>
        <p:spPr>
          <a:xfrm>
            <a:off x="1143000" y="6574631"/>
            <a:ext cx="11430000" cy="781050"/>
          </a:xfrm>
          <a:prstGeom prst="roundRect">
            <a:avLst>
              <a:gd name="adj" fmla="val 17073"/>
            </a:avLst>
          </a:prstGeom>
          <a:solidFill>
            <a:srgbClr val="F5EFE3"/>
          </a:solidFill>
          <a:ln w="9525">
            <a:solidFill>
              <a:srgbClr val="29211A">
                <a:alpha val="14000"/>
              </a:srgbClr>
            </a:solidFill>
            <a:prstDash val="solid"/>
          </a:ln>
        </p:spPr>
      </p:sp>
      <p:sp>
        <p:nvSpPr>
          <p:cNvPr id="18" name="Text 16"/>
          <p:cNvSpPr/>
          <p:nvPr/>
        </p:nvSpPr>
        <p:spPr>
          <a:xfrm>
            <a:off x="1457325" y="6812756"/>
            <a:ext cx="8801100" cy="342900"/>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Georgia" pitchFamily="34" charset="0"/>
                <a:ea typeface="Georgia" pitchFamily="34" charset="-122"/>
                <a:cs typeface="Georgia" pitchFamily="34" charset="-120"/>
              </a:rPr>
              <a:t>Tell-Me-What-Changed alerts</a:t>
            </a:r>
            <a:endParaRPr lang="en-US" sz="2400" dirty="0"/>
          </a:p>
        </p:txBody>
      </p:sp>
      <p:sp>
        <p:nvSpPr>
          <p:cNvPr id="19" name="Shape 17"/>
          <p:cNvSpPr/>
          <p:nvPr/>
        </p:nvSpPr>
        <p:spPr>
          <a:xfrm>
            <a:off x="9686925" y="6888956"/>
            <a:ext cx="152400" cy="152400"/>
          </a:xfrm>
          <a:prstGeom prst="ellipse">
            <a:avLst/>
          </a:prstGeom>
          <a:solidFill>
            <a:srgbClr val="CF4B2B"/>
          </a:solidFill>
          <a:ln/>
        </p:spPr>
      </p:sp>
      <p:sp>
        <p:nvSpPr>
          <p:cNvPr id="20" name="Text 18"/>
          <p:cNvSpPr/>
          <p:nvPr/>
        </p:nvSpPr>
        <p:spPr>
          <a:xfrm>
            <a:off x="10067925" y="6841331"/>
            <a:ext cx="240982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8A7A64"/>
                </a:solidFill>
                <a:latin typeface="Arial" pitchFamily="34" charset="0"/>
                <a:ea typeface="Arial" pitchFamily="34" charset="-122"/>
                <a:cs typeface="Arial" pitchFamily="34" charset="-120"/>
              </a:rPr>
              <a:t>Genuine unknowns</a:t>
            </a:r>
            <a:endParaRPr lang="en-US" sz="1950" dirty="0"/>
          </a:p>
        </p:txBody>
      </p:sp>
      <p:sp>
        <p:nvSpPr>
          <p:cNvPr id="21" name="Text 19"/>
          <p:cNvSpPr/>
          <p:nvPr/>
        </p:nvSpPr>
        <p:spPr>
          <a:xfrm>
            <a:off x="1143000" y="9215438"/>
            <a:ext cx="17602200" cy="309563"/>
          </a:xfrm>
          <a:prstGeom prst="rect">
            <a:avLst/>
          </a:prstGeom>
          <a:noFill/>
          <a:ln/>
        </p:spPr>
        <p:txBody>
          <a:bodyPr wrap="square" lIns="25400" tIns="25400" rIns="25400" bIns="25400" rtlCol="0" anchor="t">
            <a:normAutofit/>
          </a:bodyPr>
          <a:lstStyle/>
          <a:p>
            <a:pPr algn="l" indent="0" marL="0">
              <a:buNone/>
            </a:pPr>
            <a:r>
              <a:rPr lang="en-US" sz="1950" dirty="0">
                <a:solidFill>
                  <a:srgbClr val="4A3F33"/>
                </a:solidFill>
                <a:latin typeface="Arial" pitchFamily="34" charset="0"/>
                <a:ea typeface="Arial" pitchFamily="34" charset="-122"/>
                <a:cs typeface="Arial" pitchFamily="34" charset="-120"/>
              </a:rPr>
              <a:t>The hardest parts clustered around data quality and permissions — not the visible feature.</a:t>
            </a:r>
            <a:endParaRPr lang="en-US" sz="1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6201A"/>
        </a:solidFill>
      </p:bgPr>
    </p:bg>
    <p:spTree>
      <p:nvGrpSpPr>
        <p:cNvPr id="1" name=""/>
        <p:cNvGrpSpPr/>
        <p:nvPr/>
      </p:nvGrpSpPr>
      <p:grpSpPr>
        <a:xfrm>
          <a:off x="0" y="0"/>
          <a:ext cx="0" cy="0"/>
          <a:chOff x="0" y="0"/>
          <a:chExt cx="0" cy="0"/>
        </a:xfrm>
      </p:grpSpPr>
      <p:sp>
        <p:nvSpPr>
          <p:cNvPr id="2" name="Text 0"/>
          <p:cNvSpPr/>
          <p:nvPr/>
        </p:nvSpPr>
        <p:spPr>
          <a:xfrm>
            <a:off x="1143000" y="3708350"/>
            <a:ext cx="1236345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504" kern="0" dirty="0">
                <a:solidFill>
                  <a:srgbClr val="D99B34"/>
                </a:solidFill>
                <a:latin typeface="Arial" pitchFamily="34" charset="0"/>
                <a:ea typeface="Arial" pitchFamily="34" charset="-122"/>
                <a:cs typeface="Arial" pitchFamily="34" charset="-120"/>
              </a:rPr>
              <a:t>BLOCK 4</a:t>
            </a:r>
            <a:endParaRPr lang="en-US" sz="1800" dirty="0"/>
          </a:p>
        </p:txBody>
      </p:sp>
      <p:sp>
        <p:nvSpPr>
          <p:cNvPr id="3" name="Text 1"/>
          <p:cNvSpPr/>
          <p:nvPr/>
        </p:nvSpPr>
        <p:spPr>
          <a:xfrm>
            <a:off x="1143000" y="4222700"/>
            <a:ext cx="12363450" cy="803300"/>
          </a:xfrm>
          <a:prstGeom prst="rect">
            <a:avLst/>
          </a:prstGeom>
          <a:noFill/>
          <a:ln/>
        </p:spPr>
        <p:txBody>
          <a:bodyPr wrap="square" lIns="25400" tIns="25400" rIns="25400" bIns="25400" rtlCol="0" anchor="t">
            <a:normAutofit/>
          </a:bodyPr>
          <a:lstStyle/>
          <a:p>
            <a:pPr algn="l" indent="0" marL="0">
              <a:lnSpc>
                <a:spcPct val="90780"/>
              </a:lnSpc>
              <a:buNone/>
            </a:pPr>
            <a:r>
              <a:rPr lang="en-US" sz="5850" spc="-117" kern="0" dirty="0">
                <a:solidFill>
                  <a:srgbClr val="F5EFE3"/>
                </a:solidFill>
                <a:latin typeface="Georgia" pitchFamily="34" charset="0"/>
                <a:ea typeface="Georgia" pitchFamily="34" charset="-122"/>
                <a:cs typeface="Georgia" pitchFamily="34" charset="-120"/>
              </a:rPr>
              <a:t>What gets built first, and why</a:t>
            </a:r>
            <a:endParaRPr lang="en-US" sz="5850" dirty="0"/>
          </a:p>
        </p:txBody>
      </p:sp>
      <p:sp>
        <p:nvSpPr>
          <p:cNvPr id="4" name="Text 2"/>
          <p:cNvSpPr/>
          <p:nvPr/>
        </p:nvSpPr>
        <p:spPr>
          <a:xfrm>
            <a:off x="1143000" y="5368900"/>
            <a:ext cx="5056752"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C8B9A2"/>
                </a:solidFill>
                <a:latin typeface="Arial" pitchFamily="34" charset="0"/>
                <a:ea typeface="Arial" pitchFamily="34" charset="-122"/>
                <a:cs typeface="Arial" pitchFamily="34" charset="-120"/>
              </a:rPr>
              <a:t>Everything on the wall could be built. Not all at once. Sequence is the real decision — and it's yours.</a:t>
            </a:r>
            <a:endParaRPr lang="en-US" sz="2250" dirty="0"/>
          </a:p>
        </p:txBody>
      </p:sp>
      <p:sp>
        <p:nvSpPr>
          <p:cNvPr id="5" name="Shape 3"/>
          <p:cNvSpPr/>
          <p:nvPr/>
        </p:nvSpPr>
        <p:spPr>
          <a:xfrm rot="-359998">
            <a:off x="13335000" y="3752850"/>
            <a:ext cx="1143000" cy="857250"/>
          </a:xfrm>
          <a:prstGeom prst="roundRect">
            <a:avLst>
              <a:gd name="adj" fmla="val 6667"/>
            </a:avLst>
          </a:prstGeom>
          <a:solidFill>
            <a:srgbClr val="F4EEE2"/>
          </a:solidFill>
          <a:ln/>
          <a:effectLst>
            <a:outerShdw sx="100000" sy="100000" kx="0" ky="0" algn="bl" rotWithShape="0" blurRad="228600" dist="95250" dir="5400000">
              <a:srgbClr val="000000">
                <a:alpha val="35000"/>
              </a:srgbClr>
            </a:outerShdw>
          </a:effectLst>
        </p:spPr>
      </p:sp>
      <p:sp>
        <p:nvSpPr>
          <p:cNvPr id="6" name="Shape 4"/>
          <p:cNvSpPr/>
          <p:nvPr/>
        </p:nvSpPr>
        <p:spPr>
          <a:xfrm rot="180000">
            <a:off x="14573250" y="3943350"/>
            <a:ext cx="1143001" cy="857250"/>
          </a:xfrm>
          <a:prstGeom prst="roundRect">
            <a:avLst>
              <a:gd name="adj" fmla="val 6667"/>
            </a:avLst>
          </a:prstGeom>
          <a:solidFill>
            <a:srgbClr val="F4EEE2"/>
          </a:solidFill>
          <a:ln/>
          <a:effectLst>
            <a:outerShdw sx="100000" sy="100000" kx="0" ky="0" algn="bl" rotWithShape="0" blurRad="228600" dist="95250" dir="5400000">
              <a:srgbClr val="000000">
                <a:alpha val="35000"/>
              </a:srgbClr>
            </a:outerShdw>
          </a:effectLst>
        </p:spPr>
      </p:sp>
      <p:sp>
        <p:nvSpPr>
          <p:cNvPr id="7" name="Shape 5"/>
          <p:cNvSpPr/>
          <p:nvPr/>
        </p:nvSpPr>
        <p:spPr>
          <a:xfrm rot="-120000">
            <a:off x="13811250" y="4991100"/>
            <a:ext cx="1143000" cy="857250"/>
          </a:xfrm>
          <a:prstGeom prst="roundRect">
            <a:avLst>
              <a:gd name="adj" fmla="val 6667"/>
            </a:avLst>
          </a:prstGeom>
          <a:solidFill>
            <a:srgbClr val="F4EEE2"/>
          </a:solidFill>
          <a:ln/>
          <a:effectLst>
            <a:outerShdw sx="100000" sy="100000" kx="0" ky="0" algn="bl" rotWithShape="0" blurRad="228600" dist="95250" dir="5400000">
              <a:srgbClr val="000000">
                <a:alpha val="35000"/>
              </a:srgbClr>
            </a:outerShdw>
          </a:effectLst>
        </p:spPr>
      </p:sp>
      <p:sp>
        <p:nvSpPr>
          <p:cNvPr id="8" name="Shape 6"/>
          <p:cNvSpPr/>
          <p:nvPr/>
        </p:nvSpPr>
        <p:spPr>
          <a:xfrm rot="300000">
            <a:off x="15144750" y="5181600"/>
            <a:ext cx="1143000" cy="857250"/>
          </a:xfrm>
          <a:prstGeom prst="roundRect">
            <a:avLst>
              <a:gd name="adj" fmla="val 6667"/>
            </a:avLst>
          </a:prstGeom>
          <a:solidFill>
            <a:srgbClr val="F4EEE2"/>
          </a:solidFill>
          <a:ln/>
          <a:effectLst>
            <a:outerShdw sx="100000" sy="100000" kx="0" ky="0" algn="bl" rotWithShape="0" blurRad="228600" dist="95250" dir="5400000">
              <a:srgbClr val="000000">
                <a:alpha val="35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906750" y="5886450"/>
            <a:ext cx="1143000" cy="8572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3138636"/>
            <a:ext cx="46101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HOW WE'LL DECIDE</a:t>
            </a:r>
            <a:endParaRPr lang="en-US" sz="1800" dirty="0"/>
          </a:p>
        </p:txBody>
      </p:sp>
      <p:sp>
        <p:nvSpPr>
          <p:cNvPr id="4" name="Text 2"/>
          <p:cNvSpPr/>
          <p:nvPr/>
        </p:nvSpPr>
        <p:spPr>
          <a:xfrm>
            <a:off x="1143000" y="3595836"/>
            <a:ext cx="4316730" cy="2138065"/>
          </a:xfrm>
          <a:prstGeom prst="rect">
            <a:avLst/>
          </a:prstGeom>
          <a:noFill/>
          <a:ln/>
        </p:spPr>
        <p:txBody>
          <a:bodyPr wrap="square" lIns="25400" tIns="25400" rIns="25400" bIns="25400" rtlCol="0" anchor="t">
            <a:normAutofit/>
          </a:bodyPr>
          <a:lstStyle/>
          <a:p>
            <a:pPr algn="l" indent="0" marL="0">
              <a:lnSpc>
                <a:spcPct val="93424"/>
              </a:lnSpc>
              <a:buNone/>
            </a:pPr>
            <a:r>
              <a:rPr lang="en-US" sz="3900" spc="-58" kern="0" dirty="0">
                <a:solidFill>
                  <a:srgbClr val="29211A"/>
                </a:solidFill>
                <a:latin typeface="Georgia" pitchFamily="34" charset="0"/>
                <a:ea typeface="Georgia" pitchFamily="34" charset="-122"/>
                <a:cs typeface="Georgia" pitchFamily="34" charset="-120"/>
              </a:rPr>
              <a:t>You own the vertical. Engineering owns the horizontal.</a:t>
            </a:r>
            <a:endParaRPr lang="en-US" sz="3900" dirty="0"/>
          </a:p>
        </p:txBody>
      </p:sp>
      <p:sp>
        <p:nvSpPr>
          <p:cNvPr id="5" name="Text 3"/>
          <p:cNvSpPr/>
          <p:nvPr/>
        </p:nvSpPr>
        <p:spPr>
          <a:xfrm>
            <a:off x="1143000" y="5981551"/>
            <a:ext cx="4316730" cy="1281113"/>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4A3F33"/>
                </a:solidFill>
                <a:latin typeface="Arial" pitchFamily="34" charset="0"/>
                <a:ea typeface="Arial" pitchFamily="34" charset="-122"/>
                <a:cs typeface="Arial" pitchFamily="34" charset="-120"/>
              </a:rPr>
              <a:t>Neither side can fill in the other's axis. That's why you're both in the room.</a:t>
            </a:r>
            <a:endParaRPr lang="en-US" sz="2250" dirty="0"/>
          </a:p>
        </p:txBody>
      </p:sp>
      <p:sp>
        <p:nvSpPr>
          <p:cNvPr id="6" name="Shape 4"/>
          <p:cNvSpPr/>
          <p:nvPr/>
        </p:nvSpPr>
        <p:spPr>
          <a:xfrm>
            <a:off x="6515100" y="2647950"/>
            <a:ext cx="2609850" cy="2686050"/>
          </a:xfrm>
          <a:prstGeom prst="roundRect">
            <a:avLst>
              <a:gd name="adj" fmla="val 4380"/>
            </a:avLst>
          </a:prstGeom>
          <a:solidFill>
            <a:srgbClr val="D99B34">
              <a:alpha val="16000"/>
            </a:srgbClr>
          </a:solidFill>
          <a:ln w="9525">
            <a:solidFill>
              <a:srgbClr val="29211A">
                <a:alpha val="14000"/>
              </a:srgbClr>
            </a:solidFill>
            <a:prstDash val="solid"/>
          </a:ln>
        </p:spPr>
      </p:sp>
      <p:sp>
        <p:nvSpPr>
          <p:cNvPr id="7" name="Text 5"/>
          <p:cNvSpPr/>
          <p:nvPr/>
        </p:nvSpPr>
        <p:spPr>
          <a:xfrm>
            <a:off x="6803629" y="3829050"/>
            <a:ext cx="2032717" cy="361950"/>
          </a:xfrm>
          <a:prstGeom prst="rect">
            <a:avLst/>
          </a:prstGeom>
          <a:noFill/>
          <a:ln/>
        </p:spPr>
        <p:txBody>
          <a:bodyPr wrap="square" lIns="25400" tIns="25400" rIns="25400" bIns="25400" rtlCol="0" anchor="t">
            <a:normAutofit/>
          </a:bodyPr>
          <a:lstStyle/>
          <a:p>
            <a:pPr algn="ctr" indent="0" marL="0">
              <a:buNone/>
            </a:pPr>
            <a:r>
              <a:rPr lang="en-US" sz="2550" dirty="0">
                <a:solidFill>
                  <a:srgbClr val="29211A"/>
                </a:solidFill>
                <a:latin typeface="Georgia" pitchFamily="34" charset="0"/>
                <a:ea typeface="Georgia" pitchFamily="34" charset="-122"/>
                <a:cs typeface="Georgia" pitchFamily="34" charset="-120"/>
              </a:rPr>
              <a:t>Plan carefully</a:t>
            </a:r>
            <a:endParaRPr lang="en-US" sz="2550" dirty="0"/>
          </a:p>
        </p:txBody>
      </p:sp>
      <p:sp>
        <p:nvSpPr>
          <p:cNvPr id="8" name="Shape 6"/>
          <p:cNvSpPr/>
          <p:nvPr/>
        </p:nvSpPr>
        <p:spPr>
          <a:xfrm>
            <a:off x="9239250" y="2647950"/>
            <a:ext cx="2609850" cy="2686050"/>
          </a:xfrm>
          <a:prstGeom prst="roundRect">
            <a:avLst>
              <a:gd name="adj" fmla="val 4380"/>
            </a:avLst>
          </a:prstGeom>
          <a:solidFill>
            <a:srgbClr val="6D9A54">
              <a:alpha val="18000"/>
            </a:srgbClr>
          </a:solidFill>
          <a:ln w="9525">
            <a:solidFill>
              <a:srgbClr val="29211A">
                <a:alpha val="14000"/>
              </a:srgbClr>
            </a:solidFill>
            <a:prstDash val="solid"/>
          </a:ln>
        </p:spPr>
      </p:sp>
      <p:sp>
        <p:nvSpPr>
          <p:cNvPr id="9" name="Text 7"/>
          <p:cNvSpPr/>
          <p:nvPr/>
        </p:nvSpPr>
        <p:spPr>
          <a:xfrm>
            <a:off x="9971112" y="3829050"/>
            <a:ext cx="1146125" cy="361950"/>
          </a:xfrm>
          <a:prstGeom prst="rect">
            <a:avLst/>
          </a:prstGeom>
          <a:noFill/>
          <a:ln/>
        </p:spPr>
        <p:txBody>
          <a:bodyPr wrap="square" lIns="25400" tIns="25400" rIns="25400" bIns="25400" rtlCol="0" anchor="t">
            <a:normAutofit/>
          </a:bodyPr>
          <a:lstStyle/>
          <a:p>
            <a:pPr algn="ctr" indent="0" marL="0">
              <a:buNone/>
            </a:pPr>
            <a:r>
              <a:rPr lang="en-US" sz="2550" dirty="0">
                <a:solidFill>
                  <a:srgbClr val="6D9A54"/>
                </a:solidFill>
                <a:latin typeface="Georgia" pitchFamily="34" charset="0"/>
                <a:ea typeface="Georgia" pitchFamily="34" charset="-122"/>
                <a:cs typeface="Georgia" pitchFamily="34" charset="-120"/>
              </a:rPr>
              <a:t>Do now</a:t>
            </a:r>
            <a:endParaRPr lang="en-US" sz="2550" dirty="0"/>
          </a:p>
        </p:txBody>
      </p:sp>
      <p:sp>
        <p:nvSpPr>
          <p:cNvPr id="10" name="Shape 8"/>
          <p:cNvSpPr/>
          <p:nvPr/>
        </p:nvSpPr>
        <p:spPr>
          <a:xfrm>
            <a:off x="6515100" y="5448300"/>
            <a:ext cx="2609850" cy="2686050"/>
          </a:xfrm>
          <a:prstGeom prst="roundRect">
            <a:avLst>
              <a:gd name="adj" fmla="val 4380"/>
            </a:avLst>
          </a:prstGeom>
          <a:solidFill>
            <a:srgbClr val="8A7A64">
              <a:alpha val="12000"/>
            </a:srgbClr>
          </a:solidFill>
          <a:ln w="9525">
            <a:solidFill>
              <a:srgbClr val="29211A">
                <a:alpha val="14000"/>
              </a:srgbClr>
            </a:solidFill>
            <a:prstDash val="solid"/>
          </a:ln>
        </p:spPr>
      </p:sp>
      <p:sp>
        <p:nvSpPr>
          <p:cNvPr id="11" name="Text 9"/>
          <p:cNvSpPr/>
          <p:nvPr/>
        </p:nvSpPr>
        <p:spPr>
          <a:xfrm>
            <a:off x="7195245" y="6629400"/>
            <a:ext cx="1249487" cy="361950"/>
          </a:xfrm>
          <a:prstGeom prst="rect">
            <a:avLst/>
          </a:prstGeom>
          <a:noFill/>
          <a:ln/>
        </p:spPr>
        <p:txBody>
          <a:bodyPr wrap="square" lIns="25400" tIns="25400" rIns="25400" bIns="25400" rtlCol="0" anchor="t">
            <a:normAutofit/>
          </a:bodyPr>
          <a:lstStyle/>
          <a:p>
            <a:pPr algn="ctr" indent="0" marL="0">
              <a:buNone/>
            </a:pPr>
            <a:r>
              <a:rPr lang="en-US" sz="2550" dirty="0">
                <a:solidFill>
                  <a:srgbClr val="8A7A64"/>
                </a:solidFill>
                <a:latin typeface="Georgia" pitchFamily="34" charset="0"/>
                <a:ea typeface="Georgia" pitchFamily="34" charset="-122"/>
                <a:cs typeface="Georgia" pitchFamily="34" charset="-120"/>
              </a:rPr>
              <a:t>Not now</a:t>
            </a:r>
            <a:endParaRPr lang="en-US" sz="2550" dirty="0"/>
          </a:p>
        </p:txBody>
      </p:sp>
      <p:sp>
        <p:nvSpPr>
          <p:cNvPr id="12" name="Shape 10"/>
          <p:cNvSpPr/>
          <p:nvPr/>
        </p:nvSpPr>
        <p:spPr>
          <a:xfrm>
            <a:off x="9239250" y="5448300"/>
            <a:ext cx="2609850" cy="2686050"/>
          </a:xfrm>
          <a:prstGeom prst="roundRect">
            <a:avLst>
              <a:gd name="adj" fmla="val 4380"/>
            </a:avLst>
          </a:prstGeom>
          <a:solidFill>
            <a:srgbClr val="2F6F86">
              <a:alpha val="14000"/>
            </a:srgbClr>
          </a:solidFill>
          <a:ln w="9525">
            <a:solidFill>
              <a:srgbClr val="29211A">
                <a:alpha val="14000"/>
              </a:srgbClr>
            </a:solidFill>
            <a:prstDash val="solid"/>
          </a:ln>
        </p:spPr>
      </p:sp>
      <p:sp>
        <p:nvSpPr>
          <p:cNvPr id="13" name="Text 11"/>
          <p:cNvSpPr/>
          <p:nvPr/>
        </p:nvSpPr>
        <p:spPr>
          <a:xfrm>
            <a:off x="9816398" y="6629400"/>
            <a:ext cx="1455554" cy="361950"/>
          </a:xfrm>
          <a:prstGeom prst="rect">
            <a:avLst/>
          </a:prstGeom>
          <a:noFill/>
          <a:ln/>
        </p:spPr>
        <p:txBody>
          <a:bodyPr wrap="square" lIns="25400" tIns="25400" rIns="25400" bIns="25400" rtlCol="0" anchor="t">
            <a:normAutofit/>
          </a:bodyPr>
          <a:lstStyle/>
          <a:p>
            <a:pPr algn="ctr" indent="0" marL="0">
              <a:buNone/>
            </a:pPr>
            <a:r>
              <a:rPr lang="en-US" sz="2550" dirty="0">
                <a:solidFill>
                  <a:srgbClr val="29211A"/>
                </a:solidFill>
                <a:latin typeface="Georgia" pitchFamily="34" charset="0"/>
                <a:ea typeface="Georgia" pitchFamily="34" charset="-122"/>
                <a:cs typeface="Georgia" pitchFamily="34" charset="-120"/>
              </a:rPr>
              <a:t>Easy wins</a:t>
            </a:r>
            <a:endParaRPr lang="en-US" sz="2550" dirty="0"/>
          </a:p>
        </p:txBody>
      </p:sp>
      <p:sp>
        <p:nvSpPr>
          <p:cNvPr id="14" name="Text 12"/>
          <p:cNvSpPr/>
          <p:nvPr/>
        </p:nvSpPr>
        <p:spPr>
          <a:xfrm rot="-5400000">
            <a:off x="4967288" y="4833938"/>
            <a:ext cx="2600325" cy="314325"/>
          </a:xfrm>
          <a:prstGeom prst="rect">
            <a:avLst/>
          </a:prstGeom>
          <a:noFill/>
          <a:ln/>
        </p:spPr>
        <p:txBody>
          <a:bodyPr wrap="none" lIns="25400" tIns="25400" rIns="25400" bIns="25400" rtlCol="0" anchor="t">
            <a:normAutofit/>
          </a:bodyPr>
          <a:lstStyle/>
          <a:p>
            <a:pPr algn="l" indent="0" marL="0">
              <a:lnSpc>
                <a:spcPct val="104727"/>
              </a:lnSpc>
              <a:buNone/>
            </a:pPr>
            <a:r>
              <a:rPr lang="en-US" sz="1800" b="1" spc="108" kern="0" dirty="0">
                <a:solidFill>
                  <a:srgbClr val="8A7A64"/>
                </a:solidFill>
                <a:latin typeface="Arial" pitchFamily="34" charset="0"/>
                <a:ea typeface="Arial" pitchFamily="34" charset="-122"/>
                <a:cs typeface="Arial" pitchFamily="34" charset="-120"/>
              </a:rPr>
              <a:t>Changes your work →</a:t>
            </a:r>
            <a:endParaRPr lang="en-US" sz="1800" dirty="0"/>
          </a:p>
        </p:txBody>
      </p:sp>
      <p:sp>
        <p:nvSpPr>
          <p:cNvPr id="15" name="Text 13"/>
          <p:cNvSpPr/>
          <p:nvPr/>
        </p:nvSpPr>
        <p:spPr>
          <a:xfrm>
            <a:off x="7964984" y="7810500"/>
            <a:ext cx="2677656"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108" kern="0" dirty="0">
                <a:solidFill>
                  <a:srgbClr val="8A7A64"/>
                </a:solidFill>
                <a:latin typeface="Arial" pitchFamily="34" charset="0"/>
                <a:ea typeface="Arial" pitchFamily="34" charset="-122"/>
                <a:cs typeface="Arial" pitchFamily="34" charset="-120"/>
              </a:rPr>
              <a:t>What it would take →</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966788"/>
            <a:ext cx="8897771"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WHEN THE GRID ISN'T ENOUGH</a:t>
            </a:r>
            <a:endParaRPr lang="en-US" sz="1800" dirty="0"/>
          </a:p>
        </p:txBody>
      </p:sp>
      <p:sp>
        <p:nvSpPr>
          <p:cNvPr id="4" name="Text 2"/>
          <p:cNvSpPr/>
          <p:nvPr/>
        </p:nvSpPr>
        <p:spPr>
          <a:xfrm>
            <a:off x="1143000" y="1404938"/>
            <a:ext cx="8897771" cy="601563"/>
          </a:xfrm>
          <a:prstGeom prst="rect">
            <a:avLst/>
          </a:prstGeom>
          <a:noFill/>
          <a:ln/>
        </p:spPr>
        <p:txBody>
          <a:bodyPr wrap="square" lIns="25400" tIns="25400" rIns="25400" bIns="25400" rtlCol="0" anchor="t">
            <a:normAutofit/>
          </a:bodyPr>
          <a:lstStyle/>
          <a:p>
            <a:pPr algn="l" indent="0" marL="0">
              <a:lnSpc>
                <a:spcPct val="90321"/>
              </a:lnSpc>
              <a:buNone/>
            </a:pPr>
            <a:r>
              <a:rPr lang="en-US" sz="4350" spc="-87" kern="0" dirty="0">
                <a:solidFill>
                  <a:srgbClr val="29211A"/>
                </a:solidFill>
                <a:latin typeface="Georgia" pitchFamily="34" charset="0"/>
                <a:ea typeface="Georgia" pitchFamily="34" charset="-122"/>
                <a:cs typeface="Georgia" pitchFamily="34" charset="-120"/>
              </a:rPr>
              <a:t>Put a number on "worth it": BRICE.</a:t>
            </a:r>
            <a:endParaRPr lang="en-US" sz="4350" dirty="0"/>
          </a:p>
        </p:txBody>
      </p:sp>
      <p:sp>
        <p:nvSpPr>
          <p:cNvPr id="5" name="Text 3"/>
          <p:cNvSpPr/>
          <p:nvPr/>
        </p:nvSpPr>
        <p:spPr>
          <a:xfrm>
            <a:off x="14002188" y="876300"/>
            <a:ext cx="3142812" cy="742950"/>
          </a:xfrm>
          <a:prstGeom prst="rect">
            <a:avLst/>
          </a:prstGeom>
          <a:noFill/>
          <a:ln/>
        </p:spPr>
        <p:txBody>
          <a:bodyPr wrap="square" lIns="25400" tIns="25400" rIns="25400" bIns="25400" rtlCol="0" anchor="t">
            <a:normAutofit/>
          </a:bodyPr>
          <a:lstStyle/>
          <a:p>
            <a:pPr algn="r" indent="0" marL="0">
              <a:buNone/>
            </a:pPr>
            <a:r>
              <a:rPr lang="en-US" sz="2400" dirty="0">
                <a:solidFill>
                  <a:srgbClr val="CF4B2B"/>
                </a:solidFill>
                <a:latin typeface="Arial" pitchFamily="34" charset="0"/>
                <a:ea typeface="Arial" pitchFamily="34" charset="-122"/>
                <a:cs typeface="Arial" pitchFamily="34" charset="-120"/>
              </a:rPr>
              <a:t>a tiebreaker, not a verdict</a:t>
            </a:r>
            <a:endParaRPr lang="en-US" sz="2400" dirty="0"/>
          </a:p>
        </p:txBody>
      </p:sp>
      <p:sp>
        <p:nvSpPr>
          <p:cNvPr id="6" name="Shape 4"/>
          <p:cNvSpPr/>
          <p:nvPr/>
        </p:nvSpPr>
        <p:spPr>
          <a:xfrm>
            <a:off x="1143000" y="2406551"/>
            <a:ext cx="3063180" cy="4936406"/>
          </a:xfrm>
          <a:prstGeom prst="roundRect">
            <a:avLst>
              <a:gd name="adj" fmla="val 4353"/>
            </a:avLst>
          </a:prstGeom>
          <a:solidFill>
            <a:srgbClr val="F5EFE3"/>
          </a:solidFill>
          <a:ln/>
        </p:spPr>
      </p:sp>
      <p:sp>
        <p:nvSpPr>
          <p:cNvPr id="7" name="Shape 5"/>
          <p:cNvSpPr/>
          <p:nvPr/>
        </p:nvSpPr>
        <p:spPr>
          <a:xfrm>
            <a:off x="1143000" y="7333431"/>
            <a:ext cx="3063180" cy="9525"/>
          </a:xfrm>
          <a:prstGeom prst="rect">
            <a:avLst/>
          </a:prstGeom>
          <a:solidFill>
            <a:srgbClr val="29211A">
              <a:alpha val="14000"/>
            </a:srgbClr>
          </a:solidFill>
          <a:ln/>
        </p:spPr>
      </p:sp>
      <p:sp>
        <p:nvSpPr>
          <p:cNvPr id="8" name="Shape 6"/>
          <p:cNvSpPr/>
          <p:nvPr/>
        </p:nvSpPr>
        <p:spPr>
          <a:xfrm>
            <a:off x="1143000" y="2406551"/>
            <a:ext cx="3063180" cy="57150"/>
          </a:xfrm>
          <a:prstGeom prst="rect">
            <a:avLst/>
          </a:prstGeom>
          <a:solidFill>
            <a:srgbClr val="CF4B2B"/>
          </a:solidFill>
          <a:ln/>
        </p:spPr>
      </p:sp>
      <p:sp>
        <p:nvSpPr>
          <p:cNvPr id="9" name="Shape 7"/>
          <p:cNvSpPr/>
          <p:nvPr/>
        </p:nvSpPr>
        <p:spPr>
          <a:xfrm>
            <a:off x="1143000" y="2406551"/>
            <a:ext cx="9525" cy="4936406"/>
          </a:xfrm>
          <a:prstGeom prst="rect">
            <a:avLst/>
          </a:prstGeom>
          <a:solidFill>
            <a:srgbClr val="29211A">
              <a:alpha val="14000"/>
            </a:srgbClr>
          </a:solidFill>
          <a:ln/>
        </p:spPr>
      </p:sp>
      <p:sp>
        <p:nvSpPr>
          <p:cNvPr id="10" name="Shape 8"/>
          <p:cNvSpPr/>
          <p:nvPr/>
        </p:nvSpPr>
        <p:spPr>
          <a:xfrm>
            <a:off x="4196655" y="2406551"/>
            <a:ext cx="9525" cy="4936406"/>
          </a:xfrm>
          <a:prstGeom prst="rect">
            <a:avLst/>
          </a:prstGeom>
          <a:solidFill>
            <a:srgbClr val="29211A">
              <a:alpha val="14000"/>
            </a:srgbClr>
          </a:solidFill>
          <a:ln/>
        </p:spPr>
      </p:sp>
      <p:sp>
        <p:nvSpPr>
          <p:cNvPr id="11" name="Text 9"/>
          <p:cNvSpPr/>
          <p:nvPr/>
        </p:nvSpPr>
        <p:spPr>
          <a:xfrm>
            <a:off x="1381125" y="2730401"/>
            <a:ext cx="2845624"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dirty="0">
                <a:solidFill>
                  <a:srgbClr val="CF4B2B"/>
                </a:solidFill>
                <a:latin typeface="Georgia" pitchFamily="34" charset="0"/>
                <a:ea typeface="Georgia" pitchFamily="34" charset="-122"/>
                <a:cs typeface="Georgia" pitchFamily="34" charset="-120"/>
              </a:rPr>
              <a:t>B</a:t>
            </a:r>
            <a:endParaRPr lang="en-US" sz="4200" dirty="0"/>
          </a:p>
        </p:txBody>
      </p:sp>
      <p:sp>
        <p:nvSpPr>
          <p:cNvPr id="12" name="Text 10"/>
          <p:cNvSpPr/>
          <p:nvPr/>
        </p:nvSpPr>
        <p:spPr>
          <a:xfrm>
            <a:off x="1381125" y="3378101"/>
            <a:ext cx="2845624" cy="320948"/>
          </a:xfrm>
          <a:prstGeom prst="rect">
            <a:avLst/>
          </a:prstGeom>
          <a:noFill/>
          <a:ln/>
        </p:spPr>
        <p:txBody>
          <a:bodyPr wrap="square" lIns="25400" tIns="25400" rIns="25400" bIns="25400" rtlCol="0" anchor="t">
            <a:normAutofit/>
          </a:bodyPr>
          <a:lstStyle/>
          <a:p>
            <a:pPr algn="l" indent="0" marL="0">
              <a:lnSpc>
                <a:spcPct val="95806"/>
              </a:lnSpc>
              <a:buNone/>
            </a:pPr>
            <a:r>
              <a:rPr lang="en-US" sz="2025" b="1" dirty="0">
                <a:solidFill>
                  <a:srgbClr val="29211A"/>
                </a:solidFill>
                <a:latin typeface="Arial" pitchFamily="34" charset="0"/>
                <a:ea typeface="Arial" pitchFamily="34" charset="-122"/>
                <a:cs typeface="Arial" pitchFamily="34" charset="-120"/>
              </a:rPr>
              <a:t>Business importance</a:t>
            </a:r>
            <a:endParaRPr lang="en-US" sz="2025" dirty="0"/>
          </a:p>
        </p:txBody>
      </p:sp>
      <p:sp>
        <p:nvSpPr>
          <p:cNvPr id="13" name="Text 11"/>
          <p:cNvSpPr/>
          <p:nvPr/>
        </p:nvSpPr>
        <p:spPr>
          <a:xfrm>
            <a:off x="1381125" y="6472461"/>
            <a:ext cx="2664538"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4A3F33"/>
                </a:solidFill>
                <a:latin typeface="Arial" pitchFamily="34" charset="0"/>
                <a:ea typeface="Arial" pitchFamily="34" charset="-122"/>
                <a:cs typeface="Arial" pitchFamily="34" charset="-120"/>
              </a:rPr>
              <a:t>Does it serve the mission? </a:t>
            </a:r>
            <a:pPr algn="l" indent="0" marL="0">
              <a:lnSpc>
                <a:spcPct val="113455"/>
              </a:lnSpc>
              <a:buNone/>
            </a:pPr>
            <a:r>
              <a:rPr lang="en-US" sz="1800" b="1" dirty="0">
                <a:solidFill>
                  <a:srgbClr val="4A3F33"/>
                </a:solidFill>
                <a:latin typeface="Arial" pitchFamily="34" charset="0"/>
                <a:ea typeface="Arial" pitchFamily="34" charset="-122"/>
                <a:cs typeface="Arial" pitchFamily="34" charset="-120"/>
              </a:rPr>
              <a:t>1–3</a:t>
            </a:r>
            <a:endParaRPr lang="en-US" sz="1800" dirty="0"/>
          </a:p>
        </p:txBody>
      </p:sp>
      <p:sp>
        <p:nvSpPr>
          <p:cNvPr id="14" name="Shape 12"/>
          <p:cNvSpPr/>
          <p:nvPr/>
        </p:nvSpPr>
        <p:spPr>
          <a:xfrm>
            <a:off x="4377630" y="2406551"/>
            <a:ext cx="3063255" cy="4936406"/>
          </a:xfrm>
          <a:prstGeom prst="roundRect">
            <a:avLst>
              <a:gd name="adj" fmla="val 4353"/>
            </a:avLst>
          </a:prstGeom>
          <a:solidFill>
            <a:srgbClr val="F5EFE3"/>
          </a:solidFill>
          <a:ln/>
        </p:spPr>
      </p:sp>
      <p:sp>
        <p:nvSpPr>
          <p:cNvPr id="15" name="Shape 13"/>
          <p:cNvSpPr/>
          <p:nvPr/>
        </p:nvSpPr>
        <p:spPr>
          <a:xfrm>
            <a:off x="4377630" y="7333431"/>
            <a:ext cx="3063255" cy="9525"/>
          </a:xfrm>
          <a:prstGeom prst="rect">
            <a:avLst/>
          </a:prstGeom>
          <a:solidFill>
            <a:srgbClr val="29211A">
              <a:alpha val="14000"/>
            </a:srgbClr>
          </a:solidFill>
          <a:ln/>
        </p:spPr>
      </p:sp>
      <p:sp>
        <p:nvSpPr>
          <p:cNvPr id="16" name="Shape 14"/>
          <p:cNvSpPr/>
          <p:nvPr/>
        </p:nvSpPr>
        <p:spPr>
          <a:xfrm>
            <a:off x="4377630" y="2406551"/>
            <a:ext cx="3063255" cy="57150"/>
          </a:xfrm>
          <a:prstGeom prst="rect">
            <a:avLst/>
          </a:prstGeom>
          <a:solidFill>
            <a:srgbClr val="2F6F86"/>
          </a:solidFill>
          <a:ln/>
        </p:spPr>
      </p:sp>
      <p:sp>
        <p:nvSpPr>
          <p:cNvPr id="17" name="Shape 15"/>
          <p:cNvSpPr/>
          <p:nvPr/>
        </p:nvSpPr>
        <p:spPr>
          <a:xfrm>
            <a:off x="4377630" y="2406551"/>
            <a:ext cx="9525" cy="4936406"/>
          </a:xfrm>
          <a:prstGeom prst="rect">
            <a:avLst/>
          </a:prstGeom>
          <a:solidFill>
            <a:srgbClr val="29211A">
              <a:alpha val="14000"/>
            </a:srgbClr>
          </a:solidFill>
          <a:ln/>
        </p:spPr>
      </p:sp>
      <p:sp>
        <p:nvSpPr>
          <p:cNvPr id="18" name="Shape 16"/>
          <p:cNvSpPr/>
          <p:nvPr/>
        </p:nvSpPr>
        <p:spPr>
          <a:xfrm>
            <a:off x="7431360" y="2406551"/>
            <a:ext cx="9525" cy="4936406"/>
          </a:xfrm>
          <a:prstGeom prst="rect">
            <a:avLst/>
          </a:prstGeom>
          <a:solidFill>
            <a:srgbClr val="29211A">
              <a:alpha val="14000"/>
            </a:srgbClr>
          </a:solidFill>
          <a:ln/>
        </p:spPr>
      </p:sp>
      <p:sp>
        <p:nvSpPr>
          <p:cNvPr id="19" name="Text 17"/>
          <p:cNvSpPr/>
          <p:nvPr/>
        </p:nvSpPr>
        <p:spPr>
          <a:xfrm>
            <a:off x="4615755" y="2730401"/>
            <a:ext cx="2845705"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dirty="0">
                <a:solidFill>
                  <a:srgbClr val="2F6F86"/>
                </a:solidFill>
                <a:latin typeface="Georgia" pitchFamily="34" charset="0"/>
                <a:ea typeface="Georgia" pitchFamily="34" charset="-122"/>
                <a:cs typeface="Georgia" pitchFamily="34" charset="-120"/>
              </a:rPr>
              <a:t>R</a:t>
            </a:r>
            <a:endParaRPr lang="en-US" sz="4200" dirty="0"/>
          </a:p>
        </p:txBody>
      </p:sp>
      <p:sp>
        <p:nvSpPr>
          <p:cNvPr id="20" name="Text 18"/>
          <p:cNvSpPr/>
          <p:nvPr/>
        </p:nvSpPr>
        <p:spPr>
          <a:xfrm>
            <a:off x="4615755" y="3378101"/>
            <a:ext cx="2845705" cy="320948"/>
          </a:xfrm>
          <a:prstGeom prst="rect">
            <a:avLst/>
          </a:prstGeom>
          <a:noFill/>
          <a:ln/>
        </p:spPr>
        <p:txBody>
          <a:bodyPr wrap="square" lIns="25400" tIns="25400" rIns="25400" bIns="25400" rtlCol="0" anchor="t">
            <a:normAutofit/>
          </a:bodyPr>
          <a:lstStyle/>
          <a:p>
            <a:pPr algn="l" indent="0" marL="0">
              <a:lnSpc>
                <a:spcPct val="95806"/>
              </a:lnSpc>
              <a:buNone/>
            </a:pPr>
            <a:r>
              <a:rPr lang="en-US" sz="2025" b="1" dirty="0">
                <a:solidFill>
                  <a:srgbClr val="29211A"/>
                </a:solidFill>
                <a:latin typeface="Arial" pitchFamily="34" charset="0"/>
                <a:ea typeface="Arial" pitchFamily="34" charset="-122"/>
                <a:cs typeface="Arial" pitchFamily="34" charset="-120"/>
              </a:rPr>
              <a:t>Reach</a:t>
            </a:r>
            <a:endParaRPr lang="en-US" sz="2025" dirty="0"/>
          </a:p>
        </p:txBody>
      </p:sp>
      <p:sp>
        <p:nvSpPr>
          <p:cNvPr id="21" name="Text 19"/>
          <p:cNvSpPr/>
          <p:nvPr/>
        </p:nvSpPr>
        <p:spPr>
          <a:xfrm>
            <a:off x="4615755" y="6472461"/>
            <a:ext cx="2664615"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4A3F33"/>
                </a:solidFill>
                <a:latin typeface="Arial" pitchFamily="34" charset="0"/>
                <a:ea typeface="Arial" pitchFamily="34" charset="-122"/>
                <a:cs typeface="Arial" pitchFamily="34" charset="-120"/>
              </a:rPr>
              <a:t>How many people it touches. </a:t>
            </a:r>
            <a:pPr algn="l" indent="0" marL="0">
              <a:lnSpc>
                <a:spcPct val="113455"/>
              </a:lnSpc>
              <a:buNone/>
            </a:pPr>
            <a:r>
              <a:rPr lang="en-US" sz="1800" b="1" dirty="0">
                <a:solidFill>
                  <a:srgbClr val="4A3F33"/>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7612335" y="2406551"/>
            <a:ext cx="3063255" cy="4936406"/>
          </a:xfrm>
          <a:prstGeom prst="roundRect">
            <a:avLst>
              <a:gd name="adj" fmla="val 4353"/>
            </a:avLst>
          </a:prstGeom>
          <a:solidFill>
            <a:srgbClr val="F5EFE3"/>
          </a:solidFill>
          <a:ln/>
        </p:spPr>
      </p:sp>
      <p:sp>
        <p:nvSpPr>
          <p:cNvPr id="23" name="Shape 21"/>
          <p:cNvSpPr/>
          <p:nvPr/>
        </p:nvSpPr>
        <p:spPr>
          <a:xfrm>
            <a:off x="7612335" y="7333431"/>
            <a:ext cx="3063255" cy="9525"/>
          </a:xfrm>
          <a:prstGeom prst="rect">
            <a:avLst/>
          </a:prstGeom>
          <a:solidFill>
            <a:srgbClr val="29211A">
              <a:alpha val="14000"/>
            </a:srgbClr>
          </a:solidFill>
          <a:ln/>
        </p:spPr>
      </p:sp>
      <p:sp>
        <p:nvSpPr>
          <p:cNvPr id="24" name="Shape 22"/>
          <p:cNvSpPr/>
          <p:nvPr/>
        </p:nvSpPr>
        <p:spPr>
          <a:xfrm>
            <a:off x="7612335" y="2406551"/>
            <a:ext cx="3063255" cy="57150"/>
          </a:xfrm>
          <a:prstGeom prst="rect">
            <a:avLst/>
          </a:prstGeom>
          <a:solidFill>
            <a:srgbClr val="2F6F86"/>
          </a:solidFill>
          <a:ln/>
        </p:spPr>
      </p:sp>
      <p:sp>
        <p:nvSpPr>
          <p:cNvPr id="25" name="Shape 23"/>
          <p:cNvSpPr/>
          <p:nvPr/>
        </p:nvSpPr>
        <p:spPr>
          <a:xfrm>
            <a:off x="7612335" y="2406551"/>
            <a:ext cx="9525" cy="4936406"/>
          </a:xfrm>
          <a:prstGeom prst="rect">
            <a:avLst/>
          </a:prstGeom>
          <a:solidFill>
            <a:srgbClr val="29211A">
              <a:alpha val="14000"/>
            </a:srgbClr>
          </a:solidFill>
          <a:ln/>
        </p:spPr>
      </p:sp>
      <p:sp>
        <p:nvSpPr>
          <p:cNvPr id="26" name="Shape 24"/>
          <p:cNvSpPr/>
          <p:nvPr/>
        </p:nvSpPr>
        <p:spPr>
          <a:xfrm>
            <a:off x="10666065" y="2406551"/>
            <a:ext cx="9525" cy="4936406"/>
          </a:xfrm>
          <a:prstGeom prst="rect">
            <a:avLst/>
          </a:prstGeom>
          <a:solidFill>
            <a:srgbClr val="29211A">
              <a:alpha val="14000"/>
            </a:srgbClr>
          </a:solidFill>
          <a:ln/>
        </p:spPr>
      </p:sp>
      <p:sp>
        <p:nvSpPr>
          <p:cNvPr id="27" name="Text 25"/>
          <p:cNvSpPr/>
          <p:nvPr/>
        </p:nvSpPr>
        <p:spPr>
          <a:xfrm>
            <a:off x="7850460" y="2730401"/>
            <a:ext cx="2845705"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dirty="0">
                <a:solidFill>
                  <a:srgbClr val="2F6F86"/>
                </a:solidFill>
                <a:latin typeface="Georgia" pitchFamily="34" charset="0"/>
                <a:ea typeface="Georgia" pitchFamily="34" charset="-122"/>
                <a:cs typeface="Georgia" pitchFamily="34" charset="-120"/>
              </a:rPr>
              <a:t>I</a:t>
            </a:r>
            <a:endParaRPr lang="en-US" sz="4200" dirty="0"/>
          </a:p>
        </p:txBody>
      </p:sp>
      <p:sp>
        <p:nvSpPr>
          <p:cNvPr id="28" name="Text 26"/>
          <p:cNvSpPr/>
          <p:nvPr/>
        </p:nvSpPr>
        <p:spPr>
          <a:xfrm>
            <a:off x="7850460" y="3378101"/>
            <a:ext cx="2845705" cy="320948"/>
          </a:xfrm>
          <a:prstGeom prst="rect">
            <a:avLst/>
          </a:prstGeom>
          <a:noFill/>
          <a:ln/>
        </p:spPr>
        <p:txBody>
          <a:bodyPr wrap="square" lIns="25400" tIns="25400" rIns="25400" bIns="25400" rtlCol="0" anchor="t">
            <a:normAutofit/>
          </a:bodyPr>
          <a:lstStyle/>
          <a:p>
            <a:pPr algn="l" indent="0" marL="0">
              <a:lnSpc>
                <a:spcPct val="95806"/>
              </a:lnSpc>
              <a:buNone/>
            </a:pPr>
            <a:r>
              <a:rPr lang="en-US" sz="2025" b="1" dirty="0">
                <a:solidFill>
                  <a:srgbClr val="29211A"/>
                </a:solidFill>
                <a:latin typeface="Arial" pitchFamily="34" charset="0"/>
                <a:ea typeface="Arial" pitchFamily="34" charset="-122"/>
                <a:cs typeface="Arial" pitchFamily="34" charset="-120"/>
              </a:rPr>
              <a:t>Impact</a:t>
            </a:r>
            <a:endParaRPr lang="en-US" sz="2025" dirty="0"/>
          </a:p>
        </p:txBody>
      </p:sp>
      <p:sp>
        <p:nvSpPr>
          <p:cNvPr id="29" name="Text 27"/>
          <p:cNvSpPr/>
          <p:nvPr/>
        </p:nvSpPr>
        <p:spPr>
          <a:xfrm>
            <a:off x="7850460" y="6472461"/>
            <a:ext cx="2664615"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4A3F33"/>
                </a:solidFill>
                <a:latin typeface="Arial" pitchFamily="34" charset="0"/>
                <a:ea typeface="Arial" pitchFamily="34" charset="-122"/>
                <a:cs typeface="Arial" pitchFamily="34" charset="-120"/>
              </a:rPr>
              <a:t>How much it changes the work. </a:t>
            </a:r>
            <a:pPr algn="l" indent="0" marL="0">
              <a:lnSpc>
                <a:spcPct val="113455"/>
              </a:lnSpc>
              <a:buNone/>
            </a:pPr>
            <a:r>
              <a:rPr lang="en-US" sz="1800" b="1" dirty="0">
                <a:solidFill>
                  <a:srgbClr val="4A3F33"/>
                </a:solidFill>
                <a:latin typeface="Arial" pitchFamily="34" charset="0"/>
                <a:ea typeface="Arial" pitchFamily="34" charset="-122"/>
                <a:cs typeface="Arial" pitchFamily="34" charset="-120"/>
              </a:rPr>
              <a:t>.25–3</a:t>
            </a:r>
            <a:endParaRPr lang="en-US" sz="1800" dirty="0"/>
          </a:p>
        </p:txBody>
      </p:sp>
      <p:sp>
        <p:nvSpPr>
          <p:cNvPr id="30" name="Shape 28"/>
          <p:cNvSpPr/>
          <p:nvPr/>
        </p:nvSpPr>
        <p:spPr>
          <a:xfrm>
            <a:off x="10847040" y="2406551"/>
            <a:ext cx="3063255" cy="4936406"/>
          </a:xfrm>
          <a:prstGeom prst="roundRect">
            <a:avLst>
              <a:gd name="adj" fmla="val 4353"/>
            </a:avLst>
          </a:prstGeom>
          <a:solidFill>
            <a:srgbClr val="F5EFE3"/>
          </a:solidFill>
          <a:ln/>
        </p:spPr>
      </p:sp>
      <p:sp>
        <p:nvSpPr>
          <p:cNvPr id="31" name="Shape 29"/>
          <p:cNvSpPr/>
          <p:nvPr/>
        </p:nvSpPr>
        <p:spPr>
          <a:xfrm>
            <a:off x="10847040" y="7333431"/>
            <a:ext cx="3063255" cy="9525"/>
          </a:xfrm>
          <a:prstGeom prst="rect">
            <a:avLst/>
          </a:prstGeom>
          <a:solidFill>
            <a:srgbClr val="29211A">
              <a:alpha val="14000"/>
            </a:srgbClr>
          </a:solidFill>
          <a:ln/>
        </p:spPr>
      </p:sp>
      <p:sp>
        <p:nvSpPr>
          <p:cNvPr id="32" name="Shape 30"/>
          <p:cNvSpPr/>
          <p:nvPr/>
        </p:nvSpPr>
        <p:spPr>
          <a:xfrm>
            <a:off x="10847040" y="2406551"/>
            <a:ext cx="3063255" cy="57150"/>
          </a:xfrm>
          <a:prstGeom prst="rect">
            <a:avLst/>
          </a:prstGeom>
          <a:solidFill>
            <a:srgbClr val="D99B34"/>
          </a:solidFill>
          <a:ln/>
        </p:spPr>
      </p:sp>
      <p:sp>
        <p:nvSpPr>
          <p:cNvPr id="33" name="Shape 31"/>
          <p:cNvSpPr/>
          <p:nvPr/>
        </p:nvSpPr>
        <p:spPr>
          <a:xfrm>
            <a:off x="10847040" y="2406551"/>
            <a:ext cx="9525" cy="4936406"/>
          </a:xfrm>
          <a:prstGeom prst="rect">
            <a:avLst/>
          </a:prstGeom>
          <a:solidFill>
            <a:srgbClr val="29211A">
              <a:alpha val="14000"/>
            </a:srgbClr>
          </a:solidFill>
          <a:ln/>
        </p:spPr>
      </p:sp>
      <p:sp>
        <p:nvSpPr>
          <p:cNvPr id="34" name="Shape 32"/>
          <p:cNvSpPr/>
          <p:nvPr/>
        </p:nvSpPr>
        <p:spPr>
          <a:xfrm>
            <a:off x="13900770" y="2406551"/>
            <a:ext cx="9525" cy="4936406"/>
          </a:xfrm>
          <a:prstGeom prst="rect">
            <a:avLst/>
          </a:prstGeom>
          <a:solidFill>
            <a:srgbClr val="29211A">
              <a:alpha val="14000"/>
            </a:srgbClr>
          </a:solidFill>
          <a:ln/>
        </p:spPr>
      </p:sp>
      <p:sp>
        <p:nvSpPr>
          <p:cNvPr id="35" name="Text 33"/>
          <p:cNvSpPr/>
          <p:nvPr/>
        </p:nvSpPr>
        <p:spPr>
          <a:xfrm>
            <a:off x="11085165" y="2730401"/>
            <a:ext cx="2845705"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dirty="0">
                <a:solidFill>
                  <a:srgbClr val="D99B34"/>
                </a:solidFill>
                <a:latin typeface="Georgia" pitchFamily="34" charset="0"/>
                <a:ea typeface="Georgia" pitchFamily="34" charset="-122"/>
                <a:cs typeface="Georgia" pitchFamily="34" charset="-120"/>
              </a:rPr>
              <a:t>C</a:t>
            </a:r>
            <a:endParaRPr lang="en-US" sz="4200" dirty="0"/>
          </a:p>
        </p:txBody>
      </p:sp>
      <p:sp>
        <p:nvSpPr>
          <p:cNvPr id="36" name="Text 34"/>
          <p:cNvSpPr/>
          <p:nvPr/>
        </p:nvSpPr>
        <p:spPr>
          <a:xfrm>
            <a:off x="11085165" y="3378101"/>
            <a:ext cx="2845705" cy="320948"/>
          </a:xfrm>
          <a:prstGeom prst="rect">
            <a:avLst/>
          </a:prstGeom>
          <a:noFill/>
          <a:ln/>
        </p:spPr>
        <p:txBody>
          <a:bodyPr wrap="square" lIns="25400" tIns="25400" rIns="25400" bIns="25400" rtlCol="0" anchor="t">
            <a:normAutofit/>
          </a:bodyPr>
          <a:lstStyle/>
          <a:p>
            <a:pPr algn="l" indent="0" marL="0">
              <a:lnSpc>
                <a:spcPct val="95806"/>
              </a:lnSpc>
              <a:buNone/>
            </a:pPr>
            <a:r>
              <a:rPr lang="en-US" sz="2025" b="1" dirty="0">
                <a:solidFill>
                  <a:srgbClr val="29211A"/>
                </a:solidFill>
                <a:latin typeface="Arial" pitchFamily="34" charset="0"/>
                <a:ea typeface="Arial" pitchFamily="34" charset="-122"/>
                <a:cs typeface="Arial" pitchFamily="34" charset="-120"/>
              </a:rPr>
              <a:t>Confidence</a:t>
            </a:r>
            <a:endParaRPr lang="en-US" sz="2025" dirty="0"/>
          </a:p>
        </p:txBody>
      </p:sp>
      <p:sp>
        <p:nvSpPr>
          <p:cNvPr id="37" name="Text 35"/>
          <p:cNvSpPr/>
          <p:nvPr/>
        </p:nvSpPr>
        <p:spPr>
          <a:xfrm>
            <a:off x="11085165" y="6769596"/>
            <a:ext cx="2845705" cy="335235"/>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4A3F33"/>
                </a:solidFill>
                <a:latin typeface="Arial" pitchFamily="34" charset="0"/>
                <a:ea typeface="Arial" pitchFamily="34" charset="-122"/>
                <a:cs typeface="Arial" pitchFamily="34" charset="-120"/>
              </a:rPr>
              <a:t>How sure are we? </a:t>
            </a:r>
            <a:pPr algn="l" indent="0" marL="0">
              <a:lnSpc>
                <a:spcPct val="113455"/>
              </a:lnSpc>
              <a:buNone/>
            </a:pPr>
            <a:r>
              <a:rPr lang="en-US" sz="1800" b="1" dirty="0">
                <a:solidFill>
                  <a:srgbClr val="4A3F33"/>
                </a:solidFill>
                <a:latin typeface="Arial" pitchFamily="34" charset="0"/>
                <a:ea typeface="Arial" pitchFamily="34" charset="-122"/>
                <a:cs typeface="Arial" pitchFamily="34" charset="-120"/>
              </a:rPr>
              <a:t>%</a:t>
            </a:r>
            <a:endParaRPr lang="en-US" sz="1800" dirty="0"/>
          </a:p>
        </p:txBody>
      </p:sp>
      <p:sp>
        <p:nvSpPr>
          <p:cNvPr id="38" name="Shape 36"/>
          <p:cNvSpPr/>
          <p:nvPr/>
        </p:nvSpPr>
        <p:spPr>
          <a:xfrm>
            <a:off x="14081745" y="2406551"/>
            <a:ext cx="3063255" cy="4936406"/>
          </a:xfrm>
          <a:prstGeom prst="roundRect">
            <a:avLst>
              <a:gd name="adj" fmla="val 4353"/>
            </a:avLst>
          </a:prstGeom>
          <a:solidFill>
            <a:srgbClr val="F5EFE3"/>
          </a:solidFill>
          <a:ln/>
        </p:spPr>
      </p:sp>
      <p:sp>
        <p:nvSpPr>
          <p:cNvPr id="39" name="Shape 37"/>
          <p:cNvSpPr/>
          <p:nvPr/>
        </p:nvSpPr>
        <p:spPr>
          <a:xfrm>
            <a:off x="14081745" y="7333431"/>
            <a:ext cx="3063255" cy="9525"/>
          </a:xfrm>
          <a:prstGeom prst="rect">
            <a:avLst/>
          </a:prstGeom>
          <a:solidFill>
            <a:srgbClr val="29211A">
              <a:alpha val="14000"/>
            </a:srgbClr>
          </a:solidFill>
          <a:ln/>
        </p:spPr>
      </p:sp>
      <p:sp>
        <p:nvSpPr>
          <p:cNvPr id="40" name="Shape 38"/>
          <p:cNvSpPr/>
          <p:nvPr/>
        </p:nvSpPr>
        <p:spPr>
          <a:xfrm>
            <a:off x="14081745" y="2406551"/>
            <a:ext cx="3063255" cy="57150"/>
          </a:xfrm>
          <a:prstGeom prst="rect">
            <a:avLst/>
          </a:prstGeom>
          <a:solidFill>
            <a:srgbClr val="6D9A54"/>
          </a:solidFill>
          <a:ln/>
        </p:spPr>
      </p:sp>
      <p:sp>
        <p:nvSpPr>
          <p:cNvPr id="41" name="Shape 39"/>
          <p:cNvSpPr/>
          <p:nvPr/>
        </p:nvSpPr>
        <p:spPr>
          <a:xfrm>
            <a:off x="14081745" y="2406551"/>
            <a:ext cx="9525" cy="4936406"/>
          </a:xfrm>
          <a:prstGeom prst="rect">
            <a:avLst/>
          </a:prstGeom>
          <a:solidFill>
            <a:srgbClr val="29211A">
              <a:alpha val="14000"/>
            </a:srgbClr>
          </a:solidFill>
          <a:ln/>
        </p:spPr>
      </p:sp>
      <p:sp>
        <p:nvSpPr>
          <p:cNvPr id="42" name="Shape 40"/>
          <p:cNvSpPr/>
          <p:nvPr/>
        </p:nvSpPr>
        <p:spPr>
          <a:xfrm>
            <a:off x="17135475" y="2406551"/>
            <a:ext cx="9525" cy="4936406"/>
          </a:xfrm>
          <a:prstGeom prst="rect">
            <a:avLst/>
          </a:prstGeom>
          <a:solidFill>
            <a:srgbClr val="29211A">
              <a:alpha val="14000"/>
            </a:srgbClr>
          </a:solidFill>
          <a:ln/>
        </p:spPr>
      </p:sp>
      <p:sp>
        <p:nvSpPr>
          <p:cNvPr id="43" name="Text 41"/>
          <p:cNvSpPr/>
          <p:nvPr/>
        </p:nvSpPr>
        <p:spPr>
          <a:xfrm>
            <a:off x="14319870" y="2730401"/>
            <a:ext cx="2845705"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dirty="0">
                <a:solidFill>
                  <a:srgbClr val="6D9A54"/>
                </a:solidFill>
                <a:latin typeface="Georgia" pitchFamily="34" charset="0"/>
                <a:ea typeface="Georgia" pitchFamily="34" charset="-122"/>
                <a:cs typeface="Georgia" pitchFamily="34" charset="-120"/>
              </a:rPr>
              <a:t>E</a:t>
            </a:r>
            <a:endParaRPr lang="en-US" sz="4200" dirty="0"/>
          </a:p>
        </p:txBody>
      </p:sp>
      <p:sp>
        <p:nvSpPr>
          <p:cNvPr id="44" name="Text 42"/>
          <p:cNvSpPr/>
          <p:nvPr/>
        </p:nvSpPr>
        <p:spPr>
          <a:xfrm>
            <a:off x="14319870" y="3378101"/>
            <a:ext cx="2845705" cy="320948"/>
          </a:xfrm>
          <a:prstGeom prst="rect">
            <a:avLst/>
          </a:prstGeom>
          <a:noFill/>
          <a:ln/>
        </p:spPr>
        <p:txBody>
          <a:bodyPr wrap="square" lIns="25400" tIns="25400" rIns="25400" bIns="25400" rtlCol="0" anchor="t">
            <a:normAutofit/>
          </a:bodyPr>
          <a:lstStyle/>
          <a:p>
            <a:pPr algn="l" indent="0" marL="0">
              <a:lnSpc>
                <a:spcPct val="95806"/>
              </a:lnSpc>
              <a:buNone/>
            </a:pPr>
            <a:r>
              <a:rPr lang="en-US" sz="2025" b="1" dirty="0">
                <a:solidFill>
                  <a:srgbClr val="29211A"/>
                </a:solidFill>
                <a:latin typeface="Arial" pitchFamily="34" charset="0"/>
                <a:ea typeface="Arial" pitchFamily="34" charset="-122"/>
                <a:cs typeface="Arial" pitchFamily="34" charset="-120"/>
              </a:rPr>
              <a:t>Effort</a:t>
            </a:r>
            <a:endParaRPr lang="en-US" sz="2025" dirty="0"/>
          </a:p>
        </p:txBody>
      </p:sp>
      <p:sp>
        <p:nvSpPr>
          <p:cNvPr id="45" name="Text 43"/>
          <p:cNvSpPr/>
          <p:nvPr/>
        </p:nvSpPr>
        <p:spPr>
          <a:xfrm>
            <a:off x="14319870" y="6472461"/>
            <a:ext cx="2664615" cy="632371"/>
          </a:xfrm>
          <a:prstGeom prst="rect">
            <a:avLst/>
          </a:prstGeom>
          <a:noFill/>
          <a:ln/>
        </p:spPr>
        <p:txBody>
          <a:bodyPr wrap="square" lIns="25400" tIns="25400" rIns="25400" bIns="25400" rtlCol="0" anchor="t">
            <a:normAutofit/>
          </a:bodyPr>
          <a:lstStyle/>
          <a:p>
            <a:pPr algn="l" indent="0" marL="0">
              <a:lnSpc>
                <a:spcPct val="113455"/>
              </a:lnSpc>
              <a:buNone/>
            </a:pPr>
            <a:r>
              <a:rPr lang="en-US" sz="1800" dirty="0">
                <a:solidFill>
                  <a:srgbClr val="4A3F33"/>
                </a:solidFill>
                <a:latin typeface="Arial" pitchFamily="34" charset="0"/>
                <a:ea typeface="Arial" pitchFamily="34" charset="-122"/>
                <a:cs typeface="Arial" pitchFamily="34" charset="-120"/>
              </a:rPr>
              <a:t>The cost from the reality check.</a:t>
            </a:r>
            <a:endParaRPr lang="en-US" sz="1800" dirty="0"/>
          </a:p>
        </p:txBody>
      </p:sp>
      <p:sp>
        <p:nvSpPr>
          <p:cNvPr id="46" name="Shape 44"/>
          <p:cNvSpPr/>
          <p:nvPr/>
        </p:nvSpPr>
        <p:spPr>
          <a:xfrm>
            <a:off x="1143000" y="7666806"/>
            <a:ext cx="16002000" cy="1386706"/>
          </a:xfrm>
          <a:prstGeom prst="roundRect">
            <a:avLst>
              <a:gd name="adj" fmla="val 10990"/>
            </a:avLst>
          </a:prstGeom>
          <a:solidFill>
            <a:srgbClr val="29211A"/>
          </a:solidFill>
          <a:ln/>
        </p:spPr>
      </p:sp>
      <p:sp>
        <p:nvSpPr>
          <p:cNvPr id="47" name="Text 45"/>
          <p:cNvSpPr/>
          <p:nvPr/>
        </p:nvSpPr>
        <p:spPr>
          <a:xfrm>
            <a:off x="1524000" y="8169622"/>
            <a:ext cx="5284098" cy="419100"/>
          </a:xfrm>
          <a:prstGeom prst="rect">
            <a:avLst/>
          </a:prstGeom>
          <a:noFill/>
          <a:ln/>
        </p:spPr>
        <p:txBody>
          <a:bodyPr wrap="square" lIns="25400" tIns="25400" rIns="25400" bIns="25400" rtlCol="0" anchor="t">
            <a:normAutofit/>
          </a:bodyPr>
          <a:lstStyle/>
          <a:p>
            <a:pPr algn="l" indent="0" marL="0">
              <a:buNone/>
            </a:pPr>
            <a:r>
              <a:rPr lang="en-US" sz="3000" dirty="0">
                <a:solidFill>
                  <a:srgbClr val="E07A52"/>
                </a:solidFill>
                <a:latin typeface="Georgia" pitchFamily="34" charset="0"/>
                <a:ea typeface="Georgia" pitchFamily="34" charset="-122"/>
                <a:cs typeface="Georgia" pitchFamily="34" charset="-120"/>
              </a:rPr>
              <a:t>Score </a:t>
            </a:r>
            <a:pPr algn="l" indent="0" marL="0">
              <a:buNone/>
            </a:pPr>
            <a:r>
              <a:rPr lang="en-US" sz="3000" dirty="0">
                <a:solidFill>
                  <a:srgbClr val="F4EEE2"/>
                </a:solidFill>
                <a:latin typeface="Georgia" pitchFamily="34" charset="0"/>
                <a:ea typeface="Georgia" pitchFamily="34" charset="-122"/>
                <a:cs typeface="Georgia" pitchFamily="34" charset="-120"/>
              </a:rPr>
              <a:t>= (B × R × I × C) ÷ Effort</a:t>
            </a:r>
            <a:endParaRPr lang="en-US" sz="3000" dirty="0"/>
          </a:p>
        </p:txBody>
      </p:sp>
      <p:sp>
        <p:nvSpPr>
          <p:cNvPr id="48" name="Text 46"/>
          <p:cNvSpPr/>
          <p:nvPr/>
        </p:nvSpPr>
        <p:spPr>
          <a:xfrm>
            <a:off x="12791873" y="7914456"/>
            <a:ext cx="3972127" cy="929506"/>
          </a:xfrm>
          <a:prstGeom prst="rect">
            <a:avLst/>
          </a:prstGeom>
          <a:noFill/>
          <a:ln/>
        </p:spPr>
        <p:txBody>
          <a:bodyPr wrap="square" lIns="25400" tIns="25400" rIns="25400" bIns="25400" rtlCol="0" anchor="t">
            <a:normAutofit/>
          </a:bodyPr>
          <a:lstStyle/>
          <a:p>
            <a:pPr algn="r" indent="0" marL="0">
              <a:lnSpc>
                <a:spcPct val="104000"/>
              </a:lnSpc>
              <a:buNone/>
            </a:pPr>
            <a:r>
              <a:rPr lang="en-US" sz="1950" b="1" dirty="0">
                <a:solidFill>
                  <a:srgbClr val="C8B9A2"/>
                </a:solidFill>
                <a:latin typeface="Arial" pitchFamily="34" charset="0"/>
                <a:ea typeface="Arial" pitchFamily="34" charset="-122"/>
                <a:cs typeface="Arial" pitchFamily="34" charset="-120"/>
              </a:rPr>
              <a:t>You own </a:t>
            </a:r>
            <a:pPr algn="r" indent="0" marL="0">
              <a:lnSpc>
                <a:spcPct val="104000"/>
              </a:lnSpc>
              <a:buNone/>
            </a:pPr>
            <a:r>
              <a:rPr lang="en-US" sz="1950" b="1" dirty="0">
                <a:solidFill>
                  <a:srgbClr val="F4EEE2"/>
                </a:solidFill>
                <a:latin typeface="Arial" pitchFamily="34" charset="0"/>
                <a:ea typeface="Arial" pitchFamily="34" charset="-122"/>
                <a:cs typeface="Arial" pitchFamily="34" charset="-120"/>
              </a:rPr>
              <a:t>B · R · I </a:t>
            </a:r>
            <a:pPr algn="r" indent="0" marL="0">
              <a:lnSpc>
                <a:spcPct val="104000"/>
              </a:lnSpc>
              <a:buNone/>
            </a:pPr>
            <a:r>
              <a:rPr lang="en-US" sz="1950" b="1" dirty="0">
                <a:solidFill>
                  <a:srgbClr val="C8B9A2"/>
                </a:solidFill>
                <a:latin typeface="Arial" pitchFamily="34" charset="0"/>
                <a:ea typeface="Arial" pitchFamily="34" charset="-122"/>
                <a:cs typeface="Arial" pitchFamily="34" charset="-120"/>
              </a:rPr>
              <a:t>. Engineering owns </a:t>
            </a:r>
            <a:pPr algn="r" indent="0" marL="0">
              <a:lnSpc>
                <a:spcPct val="104000"/>
              </a:lnSpc>
              <a:buNone/>
            </a:pPr>
            <a:r>
              <a:rPr lang="en-US" sz="1950" b="1" dirty="0">
                <a:solidFill>
                  <a:srgbClr val="F4EEE2"/>
                </a:solidFill>
                <a:latin typeface="Arial" pitchFamily="34" charset="0"/>
                <a:ea typeface="Arial" pitchFamily="34" charset="-122"/>
                <a:cs typeface="Arial" pitchFamily="34" charset="-120"/>
              </a:rPr>
              <a:t>E</a:t>
            </a:r>
            <a:pPr algn="r" indent="0" marL="0">
              <a:lnSpc>
                <a:spcPct val="104000"/>
              </a:lnSpc>
              <a:buNone/>
            </a:pPr>
            <a:r>
              <a:rPr lang="en-US" sz="1950" b="1" dirty="0">
                <a:solidFill>
                  <a:srgbClr val="C8B9A2"/>
                </a:solidFill>
                <a:latin typeface="Arial" pitchFamily="34" charset="0"/>
                <a:ea typeface="Arial" pitchFamily="34" charset="-122"/>
                <a:cs typeface="Arial" pitchFamily="34" charset="-120"/>
              </a:rPr>
              <a:t>. Confidence is today's shared honesty.</a:t>
            </a:r>
            <a:endParaRPr lang="en-US" sz="1950" dirty="0"/>
          </a:p>
        </p:txBody>
      </p:sp>
      <p:sp>
        <p:nvSpPr>
          <p:cNvPr id="49" name="Text 47"/>
          <p:cNvSpPr/>
          <p:nvPr/>
        </p:nvSpPr>
        <p:spPr>
          <a:xfrm>
            <a:off x="1143000" y="9224963"/>
            <a:ext cx="17602200" cy="300038"/>
          </a:xfrm>
          <a:prstGeom prst="rect">
            <a:avLst/>
          </a:prstGeom>
          <a:noFill/>
          <a:ln/>
        </p:spPr>
        <p:txBody>
          <a:bodyPr wrap="square" lIns="25400" tIns="25400" rIns="25400" bIns="25400" rtlCol="0" anchor="t">
            <a:normAutofit/>
          </a:bodyPr>
          <a:lstStyle/>
          <a:p>
            <a:pPr algn="l" indent="0" marL="0">
              <a:buNone/>
            </a:pPr>
            <a:r>
              <a:rPr lang="en-US" sz="1800" i="1" dirty="0">
                <a:solidFill>
                  <a:srgbClr val="8A7A64"/>
                </a:solidFill>
                <a:latin typeface="Arial" pitchFamily="34" charset="0"/>
                <a:ea typeface="Arial" pitchFamily="34" charset="-122"/>
                <a:cs typeface="Arial" pitchFamily="34" charset="-120"/>
              </a:rPr>
              <a:t>BRICE — a business-weighted take on RICE. Credit: Kasey Kaplan.</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9423775"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spc="-99" kern="0" dirty="0">
                <a:solidFill>
                  <a:srgbClr val="29211A"/>
                </a:solidFill>
                <a:latin typeface="Georgia" pitchFamily="34" charset="0"/>
                <a:ea typeface="Georgia" pitchFamily="34" charset="-122"/>
                <a:cs typeface="Georgia" pitchFamily="34" charset="-120"/>
              </a:rPr>
              <a:t>The same four concepts, ranked.</a:t>
            </a:r>
            <a:endParaRPr lang="en-US" sz="4950" dirty="0"/>
          </a:p>
        </p:txBody>
      </p:sp>
      <p:sp>
        <p:nvSpPr>
          <p:cNvPr id="4" name="Text 2"/>
          <p:cNvSpPr/>
          <p:nvPr/>
        </p:nvSpPr>
        <p:spPr>
          <a:xfrm>
            <a:off x="13652986" y="1057275"/>
            <a:ext cx="3492014" cy="742950"/>
          </a:xfrm>
          <a:prstGeom prst="rect">
            <a:avLst/>
          </a:prstGeom>
          <a:noFill/>
          <a:ln/>
        </p:spPr>
        <p:txBody>
          <a:bodyPr wrap="square" lIns="25400" tIns="25400" rIns="25400" bIns="25400" rtlCol="0" anchor="t">
            <a:normAutofit/>
          </a:bodyPr>
          <a:lstStyle/>
          <a:p>
            <a:pPr algn="r" indent="0" marL="0">
              <a:buNone/>
            </a:pPr>
            <a:r>
              <a:rPr lang="en-US" sz="2400" dirty="0">
                <a:solidFill>
                  <a:srgbClr val="CF4B2B"/>
                </a:solidFill>
                <a:latin typeface="Arial" pitchFamily="34" charset="0"/>
                <a:ea typeface="Arial" pitchFamily="34" charset="-122"/>
                <a:cs typeface="Arial" pitchFamily="34" charset="-120"/>
              </a:rPr>
              <a:t>the grid said the same thing</a:t>
            </a:r>
            <a:endParaRPr lang="en-US" sz="2400" dirty="0"/>
          </a:p>
        </p:txBody>
      </p:sp>
      <p:sp>
        <p:nvSpPr>
          <p:cNvPr id="5" name="Shape 3"/>
          <p:cNvSpPr/>
          <p:nvPr/>
        </p:nvSpPr>
        <p:spPr>
          <a:xfrm>
            <a:off x="1143000" y="2066925"/>
            <a:ext cx="16002000" cy="6919913"/>
          </a:xfrm>
          <a:prstGeom prst="roundRect">
            <a:avLst>
              <a:gd name="adj" fmla="val 2202"/>
            </a:avLst>
          </a:prstGeom>
          <a:solidFill>
            <a:srgbClr val="F5EFE3"/>
          </a:solidFill>
          <a:ln w="9525">
            <a:solidFill>
              <a:srgbClr val="29211A">
                <a:alpha val="14000"/>
              </a:srgbClr>
            </a:solidFill>
            <a:prstDash val="solid"/>
          </a:ln>
        </p:spPr>
      </p:sp>
      <p:sp>
        <p:nvSpPr>
          <p:cNvPr id="6" name="Shape 4"/>
          <p:cNvSpPr/>
          <p:nvPr/>
        </p:nvSpPr>
        <p:spPr>
          <a:xfrm>
            <a:off x="1152525" y="2076450"/>
            <a:ext cx="15982950" cy="647700"/>
          </a:xfrm>
          <a:prstGeom prst="rect">
            <a:avLst/>
          </a:prstGeom>
          <a:solidFill>
            <a:srgbClr val="29211A"/>
          </a:solidFill>
          <a:ln/>
        </p:spPr>
      </p:sp>
      <p:sp>
        <p:nvSpPr>
          <p:cNvPr id="7" name="Text 5"/>
          <p:cNvSpPr/>
          <p:nvPr/>
        </p:nvSpPr>
        <p:spPr>
          <a:xfrm>
            <a:off x="1438275" y="2286000"/>
            <a:ext cx="5154529"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72" kern="0" dirty="0">
                <a:solidFill>
                  <a:srgbClr val="F4EEE2"/>
                </a:solidFill>
                <a:latin typeface="Arial" pitchFamily="34" charset="0"/>
                <a:ea typeface="Arial" pitchFamily="34" charset="-122"/>
                <a:cs typeface="Arial" pitchFamily="34" charset="-120"/>
              </a:rPr>
              <a:t>Concept</a:t>
            </a:r>
            <a:endParaRPr lang="en-US" sz="1800" dirty="0"/>
          </a:p>
        </p:txBody>
      </p:sp>
      <p:sp>
        <p:nvSpPr>
          <p:cNvPr id="8" name="Text 6"/>
          <p:cNvSpPr/>
          <p:nvPr/>
        </p:nvSpPr>
        <p:spPr>
          <a:xfrm>
            <a:off x="6749876" y="2286000"/>
            <a:ext cx="1545282"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72" kern="0" dirty="0">
                <a:solidFill>
                  <a:srgbClr val="F4EEE2"/>
                </a:solidFill>
                <a:latin typeface="Arial" pitchFamily="34" charset="0"/>
                <a:ea typeface="Arial" pitchFamily="34" charset="-122"/>
                <a:cs typeface="Arial" pitchFamily="34" charset="-120"/>
              </a:rPr>
              <a:t>B</a:t>
            </a:r>
            <a:endParaRPr lang="en-US" sz="1800" dirty="0"/>
          </a:p>
        </p:txBody>
      </p:sp>
      <p:sp>
        <p:nvSpPr>
          <p:cNvPr id="9" name="Text 7"/>
          <p:cNvSpPr/>
          <p:nvPr/>
        </p:nvSpPr>
        <p:spPr>
          <a:xfrm>
            <a:off x="8371359" y="2286000"/>
            <a:ext cx="1545208"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72" kern="0" dirty="0">
                <a:solidFill>
                  <a:srgbClr val="F4EEE2"/>
                </a:solidFill>
                <a:latin typeface="Arial" pitchFamily="34" charset="0"/>
                <a:ea typeface="Arial" pitchFamily="34" charset="-122"/>
                <a:cs typeface="Arial" pitchFamily="34" charset="-120"/>
              </a:rPr>
              <a:t>R</a:t>
            </a:r>
            <a:endParaRPr lang="en-US" sz="1800" dirty="0"/>
          </a:p>
        </p:txBody>
      </p:sp>
      <p:sp>
        <p:nvSpPr>
          <p:cNvPr id="10" name="Text 8"/>
          <p:cNvSpPr/>
          <p:nvPr/>
        </p:nvSpPr>
        <p:spPr>
          <a:xfrm>
            <a:off x="9992767" y="2286000"/>
            <a:ext cx="1545282"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72" kern="0" dirty="0">
                <a:solidFill>
                  <a:srgbClr val="F4EEE2"/>
                </a:solidFill>
                <a:latin typeface="Arial" pitchFamily="34" charset="0"/>
                <a:ea typeface="Arial" pitchFamily="34" charset="-122"/>
                <a:cs typeface="Arial" pitchFamily="34" charset="-120"/>
              </a:rPr>
              <a:t>I</a:t>
            </a:r>
            <a:endParaRPr lang="en-US" sz="1800" dirty="0"/>
          </a:p>
        </p:txBody>
      </p:sp>
      <p:sp>
        <p:nvSpPr>
          <p:cNvPr id="11" name="Text 9"/>
          <p:cNvSpPr/>
          <p:nvPr/>
        </p:nvSpPr>
        <p:spPr>
          <a:xfrm>
            <a:off x="11614249" y="2286000"/>
            <a:ext cx="1545282"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72" kern="0" dirty="0">
                <a:solidFill>
                  <a:srgbClr val="F4EEE2"/>
                </a:solidFill>
                <a:latin typeface="Arial" pitchFamily="34" charset="0"/>
                <a:ea typeface="Arial" pitchFamily="34" charset="-122"/>
                <a:cs typeface="Arial" pitchFamily="34" charset="-120"/>
              </a:rPr>
              <a:t>C</a:t>
            </a:r>
            <a:endParaRPr lang="en-US" sz="1800" dirty="0"/>
          </a:p>
        </p:txBody>
      </p:sp>
      <p:sp>
        <p:nvSpPr>
          <p:cNvPr id="12" name="Text 10"/>
          <p:cNvSpPr/>
          <p:nvPr/>
        </p:nvSpPr>
        <p:spPr>
          <a:xfrm>
            <a:off x="13235732" y="2286000"/>
            <a:ext cx="1545208" cy="266700"/>
          </a:xfrm>
          <a:prstGeom prst="rect">
            <a:avLst/>
          </a:prstGeom>
          <a:noFill/>
          <a:ln/>
        </p:spPr>
        <p:txBody>
          <a:bodyPr wrap="square" lIns="25400" tIns="25400" rIns="25400" bIns="25400" rtlCol="0" anchor="t">
            <a:normAutofit/>
          </a:bodyPr>
          <a:lstStyle/>
          <a:p>
            <a:pPr algn="ctr" indent="0" marL="0">
              <a:lnSpc>
                <a:spcPct val="87273"/>
              </a:lnSpc>
              <a:buNone/>
            </a:pPr>
            <a:r>
              <a:rPr lang="en-US" sz="1800" b="1" spc="72" kern="0" dirty="0">
                <a:solidFill>
                  <a:srgbClr val="F4EEE2"/>
                </a:solidFill>
                <a:latin typeface="Arial" pitchFamily="34" charset="0"/>
                <a:ea typeface="Arial" pitchFamily="34" charset="-122"/>
                <a:cs typeface="Arial" pitchFamily="34" charset="-120"/>
              </a:rPr>
              <a:t>E</a:t>
            </a:r>
            <a:endParaRPr lang="en-US" sz="1800" dirty="0"/>
          </a:p>
        </p:txBody>
      </p:sp>
      <p:sp>
        <p:nvSpPr>
          <p:cNvPr id="13" name="Text 11"/>
          <p:cNvSpPr/>
          <p:nvPr/>
        </p:nvSpPr>
        <p:spPr>
          <a:xfrm>
            <a:off x="14971440" y="2286000"/>
            <a:ext cx="1935435" cy="266700"/>
          </a:xfrm>
          <a:prstGeom prst="rect">
            <a:avLst/>
          </a:prstGeom>
          <a:noFill/>
          <a:ln/>
        </p:spPr>
        <p:txBody>
          <a:bodyPr wrap="square" lIns="25400" tIns="25400" rIns="25400" bIns="25400" rtlCol="0" anchor="t">
            <a:normAutofit/>
          </a:bodyPr>
          <a:lstStyle/>
          <a:p>
            <a:pPr algn="r" indent="0" marL="0">
              <a:lnSpc>
                <a:spcPct val="87273"/>
              </a:lnSpc>
              <a:buNone/>
            </a:pPr>
            <a:r>
              <a:rPr lang="en-US" sz="1800" b="1" spc="72" kern="0" dirty="0">
                <a:solidFill>
                  <a:srgbClr val="F4EEE2"/>
                </a:solidFill>
                <a:latin typeface="Arial" pitchFamily="34" charset="0"/>
                <a:ea typeface="Arial" pitchFamily="34" charset="-122"/>
                <a:cs typeface="Arial" pitchFamily="34" charset="-120"/>
              </a:rPr>
              <a:t>Score</a:t>
            </a:r>
            <a:endParaRPr lang="en-US" sz="1800" dirty="0"/>
          </a:p>
        </p:txBody>
      </p:sp>
      <p:sp>
        <p:nvSpPr>
          <p:cNvPr id="14" name="Shape 12"/>
          <p:cNvSpPr/>
          <p:nvPr/>
        </p:nvSpPr>
        <p:spPr>
          <a:xfrm>
            <a:off x="1152525" y="2724150"/>
            <a:ext cx="15982950" cy="1565672"/>
          </a:xfrm>
          <a:prstGeom prst="rect">
            <a:avLst/>
          </a:prstGeom>
          <a:solidFill>
            <a:srgbClr val="6D9A54">
              <a:alpha val="14000"/>
            </a:srgbClr>
          </a:solidFill>
          <a:ln/>
        </p:spPr>
      </p:sp>
      <p:sp>
        <p:nvSpPr>
          <p:cNvPr id="15" name="Shape 13"/>
          <p:cNvSpPr/>
          <p:nvPr/>
        </p:nvSpPr>
        <p:spPr>
          <a:xfrm>
            <a:off x="1152525" y="4280297"/>
            <a:ext cx="15982950" cy="9525"/>
          </a:xfrm>
          <a:prstGeom prst="rect">
            <a:avLst/>
          </a:prstGeom>
          <a:solidFill>
            <a:srgbClr val="29211A">
              <a:alpha val="14000"/>
            </a:srgbClr>
          </a:solidFill>
          <a:ln/>
        </p:spPr>
      </p:sp>
      <p:sp>
        <p:nvSpPr>
          <p:cNvPr id="16" name="Text 14"/>
          <p:cNvSpPr/>
          <p:nvPr/>
        </p:nvSpPr>
        <p:spPr>
          <a:xfrm>
            <a:off x="1438275" y="3349823"/>
            <a:ext cx="5154529" cy="342900"/>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Georgia" pitchFamily="34" charset="0"/>
                <a:ea typeface="Georgia" pitchFamily="34" charset="-122"/>
                <a:cs typeface="Georgia" pitchFamily="34" charset="-120"/>
              </a:rPr>
              <a:t>One-Look Numbers</a:t>
            </a:r>
            <a:endParaRPr lang="en-US" sz="2400" dirty="0"/>
          </a:p>
        </p:txBody>
      </p:sp>
      <p:sp>
        <p:nvSpPr>
          <p:cNvPr id="17" name="Text 15"/>
          <p:cNvSpPr/>
          <p:nvPr/>
        </p:nvSpPr>
        <p:spPr>
          <a:xfrm>
            <a:off x="6749876" y="3356967"/>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3</a:t>
            </a:r>
            <a:endParaRPr lang="en-US" sz="2100" dirty="0"/>
          </a:p>
        </p:txBody>
      </p:sp>
      <p:sp>
        <p:nvSpPr>
          <p:cNvPr id="18" name="Text 16"/>
          <p:cNvSpPr/>
          <p:nvPr/>
        </p:nvSpPr>
        <p:spPr>
          <a:xfrm>
            <a:off x="8371359" y="3356967"/>
            <a:ext cx="1545208"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120</a:t>
            </a:r>
            <a:endParaRPr lang="en-US" sz="2100" dirty="0"/>
          </a:p>
        </p:txBody>
      </p:sp>
      <p:sp>
        <p:nvSpPr>
          <p:cNvPr id="19" name="Text 17"/>
          <p:cNvSpPr/>
          <p:nvPr/>
        </p:nvSpPr>
        <p:spPr>
          <a:xfrm>
            <a:off x="9992767" y="3356967"/>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2</a:t>
            </a:r>
            <a:endParaRPr lang="en-US" sz="2100" dirty="0"/>
          </a:p>
        </p:txBody>
      </p:sp>
      <p:sp>
        <p:nvSpPr>
          <p:cNvPr id="20" name="Text 18"/>
          <p:cNvSpPr/>
          <p:nvPr/>
        </p:nvSpPr>
        <p:spPr>
          <a:xfrm>
            <a:off x="11614249" y="3356967"/>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80%</a:t>
            </a:r>
            <a:endParaRPr lang="en-US" sz="2100" dirty="0"/>
          </a:p>
        </p:txBody>
      </p:sp>
      <p:sp>
        <p:nvSpPr>
          <p:cNvPr id="21" name="Text 19"/>
          <p:cNvSpPr/>
          <p:nvPr/>
        </p:nvSpPr>
        <p:spPr>
          <a:xfrm>
            <a:off x="13235732" y="3356967"/>
            <a:ext cx="1545208"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2</a:t>
            </a:r>
            <a:endParaRPr lang="en-US" sz="2100" dirty="0"/>
          </a:p>
        </p:txBody>
      </p:sp>
      <p:sp>
        <p:nvSpPr>
          <p:cNvPr id="22" name="Text 20"/>
          <p:cNvSpPr/>
          <p:nvPr/>
        </p:nvSpPr>
        <p:spPr>
          <a:xfrm>
            <a:off x="14971440" y="3311723"/>
            <a:ext cx="1935435" cy="419100"/>
          </a:xfrm>
          <a:prstGeom prst="rect">
            <a:avLst/>
          </a:prstGeom>
          <a:noFill/>
          <a:ln/>
        </p:spPr>
        <p:txBody>
          <a:bodyPr wrap="square" lIns="25400" tIns="25400" rIns="25400" bIns="25400" rtlCol="0" anchor="t">
            <a:normAutofit/>
          </a:bodyPr>
          <a:lstStyle/>
          <a:p>
            <a:pPr algn="r" indent="0" marL="0">
              <a:lnSpc>
                <a:spcPct val="86957"/>
              </a:lnSpc>
              <a:buNone/>
            </a:pPr>
            <a:r>
              <a:rPr lang="en-US" sz="3000" b="1" dirty="0">
                <a:solidFill>
                  <a:srgbClr val="6D9A54"/>
                </a:solidFill>
                <a:latin typeface="Arial" pitchFamily="34" charset="0"/>
                <a:ea typeface="Arial" pitchFamily="34" charset="-122"/>
                <a:cs typeface="Arial" pitchFamily="34" charset="-120"/>
              </a:rPr>
              <a:t>288</a:t>
            </a:r>
            <a:endParaRPr lang="en-US" sz="3000" dirty="0"/>
          </a:p>
        </p:txBody>
      </p:sp>
      <p:sp>
        <p:nvSpPr>
          <p:cNvPr id="23" name="Shape 21"/>
          <p:cNvSpPr/>
          <p:nvPr/>
        </p:nvSpPr>
        <p:spPr>
          <a:xfrm>
            <a:off x="1152525" y="5845969"/>
            <a:ext cx="15982950" cy="9525"/>
          </a:xfrm>
          <a:prstGeom prst="rect">
            <a:avLst/>
          </a:prstGeom>
          <a:solidFill>
            <a:srgbClr val="29211A">
              <a:alpha val="14000"/>
            </a:srgbClr>
          </a:solidFill>
          <a:ln/>
        </p:spPr>
      </p:sp>
      <p:sp>
        <p:nvSpPr>
          <p:cNvPr id="24" name="Text 22"/>
          <p:cNvSpPr/>
          <p:nvPr/>
        </p:nvSpPr>
        <p:spPr>
          <a:xfrm>
            <a:off x="1438275" y="4915495"/>
            <a:ext cx="5154529" cy="342900"/>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Georgia" pitchFamily="34" charset="0"/>
                <a:ea typeface="Georgia" pitchFamily="34" charset="-122"/>
                <a:cs typeface="Georgia" pitchFamily="34" charset="-120"/>
              </a:rPr>
              <a:t>One-Minute Request</a:t>
            </a:r>
            <a:endParaRPr lang="en-US" sz="2400" dirty="0"/>
          </a:p>
        </p:txBody>
      </p:sp>
      <p:sp>
        <p:nvSpPr>
          <p:cNvPr id="25" name="Text 23"/>
          <p:cNvSpPr/>
          <p:nvPr/>
        </p:nvSpPr>
        <p:spPr>
          <a:xfrm>
            <a:off x="6749876" y="4922639"/>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2</a:t>
            </a:r>
            <a:endParaRPr lang="en-US" sz="2100" dirty="0"/>
          </a:p>
        </p:txBody>
      </p:sp>
      <p:sp>
        <p:nvSpPr>
          <p:cNvPr id="26" name="Text 24"/>
          <p:cNvSpPr/>
          <p:nvPr/>
        </p:nvSpPr>
        <p:spPr>
          <a:xfrm>
            <a:off x="8371359" y="4922639"/>
            <a:ext cx="1545208"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200</a:t>
            </a:r>
            <a:endParaRPr lang="en-US" sz="2100" dirty="0"/>
          </a:p>
        </p:txBody>
      </p:sp>
      <p:sp>
        <p:nvSpPr>
          <p:cNvPr id="27" name="Text 25"/>
          <p:cNvSpPr/>
          <p:nvPr/>
        </p:nvSpPr>
        <p:spPr>
          <a:xfrm>
            <a:off x="9992767" y="4922639"/>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2</a:t>
            </a:r>
            <a:endParaRPr lang="en-US" sz="2100" dirty="0"/>
          </a:p>
        </p:txBody>
      </p:sp>
      <p:sp>
        <p:nvSpPr>
          <p:cNvPr id="28" name="Text 26"/>
          <p:cNvSpPr/>
          <p:nvPr/>
        </p:nvSpPr>
        <p:spPr>
          <a:xfrm>
            <a:off x="11614249" y="4922639"/>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70%</a:t>
            </a:r>
            <a:endParaRPr lang="en-US" sz="2100" dirty="0"/>
          </a:p>
        </p:txBody>
      </p:sp>
      <p:sp>
        <p:nvSpPr>
          <p:cNvPr id="29" name="Text 27"/>
          <p:cNvSpPr/>
          <p:nvPr/>
        </p:nvSpPr>
        <p:spPr>
          <a:xfrm>
            <a:off x="13235732" y="4922639"/>
            <a:ext cx="1545208"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3</a:t>
            </a:r>
            <a:endParaRPr lang="en-US" sz="2100" dirty="0"/>
          </a:p>
        </p:txBody>
      </p:sp>
      <p:sp>
        <p:nvSpPr>
          <p:cNvPr id="30" name="Text 28"/>
          <p:cNvSpPr/>
          <p:nvPr/>
        </p:nvSpPr>
        <p:spPr>
          <a:xfrm>
            <a:off x="14971440" y="4877395"/>
            <a:ext cx="1935435" cy="419100"/>
          </a:xfrm>
          <a:prstGeom prst="rect">
            <a:avLst/>
          </a:prstGeom>
          <a:noFill/>
          <a:ln/>
        </p:spPr>
        <p:txBody>
          <a:bodyPr wrap="square" lIns="25400" tIns="25400" rIns="25400" bIns="25400" rtlCol="0" anchor="t">
            <a:normAutofit/>
          </a:bodyPr>
          <a:lstStyle/>
          <a:p>
            <a:pPr algn="r" indent="0" marL="0">
              <a:lnSpc>
                <a:spcPct val="86957"/>
              </a:lnSpc>
              <a:buNone/>
            </a:pPr>
            <a:r>
              <a:rPr lang="en-US" sz="3000" b="1" dirty="0">
                <a:solidFill>
                  <a:srgbClr val="29211A"/>
                </a:solidFill>
                <a:latin typeface="Arial" pitchFamily="34" charset="0"/>
                <a:ea typeface="Arial" pitchFamily="34" charset="-122"/>
                <a:cs typeface="Arial" pitchFamily="34" charset="-120"/>
              </a:rPr>
              <a:t>187</a:t>
            </a:r>
            <a:endParaRPr lang="en-US" sz="3000" dirty="0"/>
          </a:p>
        </p:txBody>
      </p:sp>
      <p:sp>
        <p:nvSpPr>
          <p:cNvPr id="31" name="Shape 29"/>
          <p:cNvSpPr/>
          <p:nvPr/>
        </p:nvSpPr>
        <p:spPr>
          <a:xfrm>
            <a:off x="1152525" y="7411641"/>
            <a:ext cx="15982950" cy="9525"/>
          </a:xfrm>
          <a:prstGeom prst="rect">
            <a:avLst/>
          </a:prstGeom>
          <a:solidFill>
            <a:srgbClr val="29211A">
              <a:alpha val="14000"/>
            </a:srgbClr>
          </a:solidFill>
          <a:ln/>
        </p:spPr>
      </p:sp>
      <p:sp>
        <p:nvSpPr>
          <p:cNvPr id="32" name="Text 30"/>
          <p:cNvSpPr/>
          <p:nvPr/>
        </p:nvSpPr>
        <p:spPr>
          <a:xfrm>
            <a:off x="1438275" y="6481167"/>
            <a:ext cx="5154529" cy="342900"/>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Georgia" pitchFamily="34" charset="0"/>
                <a:ea typeface="Georgia" pitchFamily="34" charset="-122"/>
                <a:cs typeface="Georgia" pitchFamily="34" charset="-120"/>
              </a:rPr>
              <a:t>Find-It-Once search</a:t>
            </a:r>
            <a:endParaRPr lang="en-US" sz="2400" dirty="0"/>
          </a:p>
        </p:txBody>
      </p:sp>
      <p:sp>
        <p:nvSpPr>
          <p:cNvPr id="33" name="Text 31"/>
          <p:cNvSpPr/>
          <p:nvPr/>
        </p:nvSpPr>
        <p:spPr>
          <a:xfrm>
            <a:off x="6749876" y="6488311"/>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2</a:t>
            </a:r>
            <a:endParaRPr lang="en-US" sz="2100" dirty="0"/>
          </a:p>
        </p:txBody>
      </p:sp>
      <p:sp>
        <p:nvSpPr>
          <p:cNvPr id="34" name="Text 32"/>
          <p:cNvSpPr/>
          <p:nvPr/>
        </p:nvSpPr>
        <p:spPr>
          <a:xfrm>
            <a:off x="8371359" y="6488311"/>
            <a:ext cx="1545208"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150</a:t>
            </a:r>
            <a:endParaRPr lang="en-US" sz="2100" dirty="0"/>
          </a:p>
        </p:txBody>
      </p:sp>
      <p:sp>
        <p:nvSpPr>
          <p:cNvPr id="35" name="Text 33"/>
          <p:cNvSpPr/>
          <p:nvPr/>
        </p:nvSpPr>
        <p:spPr>
          <a:xfrm>
            <a:off x="9992767" y="6488311"/>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1.5</a:t>
            </a:r>
            <a:endParaRPr lang="en-US" sz="2100" dirty="0"/>
          </a:p>
        </p:txBody>
      </p:sp>
      <p:sp>
        <p:nvSpPr>
          <p:cNvPr id="36" name="Text 34"/>
          <p:cNvSpPr/>
          <p:nvPr/>
        </p:nvSpPr>
        <p:spPr>
          <a:xfrm>
            <a:off x="11614249" y="6488311"/>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60%</a:t>
            </a:r>
            <a:endParaRPr lang="en-US" sz="2100" dirty="0"/>
          </a:p>
        </p:txBody>
      </p:sp>
      <p:sp>
        <p:nvSpPr>
          <p:cNvPr id="37" name="Text 35"/>
          <p:cNvSpPr/>
          <p:nvPr/>
        </p:nvSpPr>
        <p:spPr>
          <a:xfrm>
            <a:off x="13235732" y="6488311"/>
            <a:ext cx="1545208"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4</a:t>
            </a:r>
            <a:endParaRPr lang="en-US" sz="2100" dirty="0"/>
          </a:p>
        </p:txBody>
      </p:sp>
      <p:sp>
        <p:nvSpPr>
          <p:cNvPr id="38" name="Text 36"/>
          <p:cNvSpPr/>
          <p:nvPr/>
        </p:nvSpPr>
        <p:spPr>
          <a:xfrm>
            <a:off x="14971440" y="6443067"/>
            <a:ext cx="1935435" cy="419100"/>
          </a:xfrm>
          <a:prstGeom prst="rect">
            <a:avLst/>
          </a:prstGeom>
          <a:noFill/>
          <a:ln/>
        </p:spPr>
        <p:txBody>
          <a:bodyPr wrap="square" lIns="25400" tIns="25400" rIns="25400" bIns="25400" rtlCol="0" anchor="t">
            <a:normAutofit/>
          </a:bodyPr>
          <a:lstStyle/>
          <a:p>
            <a:pPr algn="r" indent="0" marL="0">
              <a:lnSpc>
                <a:spcPct val="86957"/>
              </a:lnSpc>
              <a:buNone/>
            </a:pPr>
            <a:r>
              <a:rPr lang="en-US" sz="3000" b="1" dirty="0">
                <a:solidFill>
                  <a:srgbClr val="29211A"/>
                </a:solidFill>
                <a:latin typeface="Arial" pitchFamily="34" charset="0"/>
                <a:ea typeface="Arial" pitchFamily="34" charset="-122"/>
                <a:cs typeface="Arial" pitchFamily="34" charset="-120"/>
              </a:rPr>
              <a:t>68</a:t>
            </a:r>
            <a:endParaRPr lang="en-US" sz="3000" dirty="0"/>
          </a:p>
        </p:txBody>
      </p:sp>
      <p:sp>
        <p:nvSpPr>
          <p:cNvPr id="39" name="Text 37"/>
          <p:cNvSpPr/>
          <p:nvPr/>
        </p:nvSpPr>
        <p:spPr>
          <a:xfrm>
            <a:off x="1438275" y="8046839"/>
            <a:ext cx="5154529" cy="342900"/>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Georgia" pitchFamily="34" charset="0"/>
                <a:ea typeface="Georgia" pitchFamily="34" charset="-122"/>
                <a:cs typeface="Georgia" pitchFamily="34" charset="-120"/>
              </a:rPr>
              <a:t>Tell-Me-What-Changed</a:t>
            </a:r>
            <a:endParaRPr lang="en-US" sz="2400" dirty="0"/>
          </a:p>
        </p:txBody>
      </p:sp>
      <p:sp>
        <p:nvSpPr>
          <p:cNvPr id="40" name="Text 38"/>
          <p:cNvSpPr/>
          <p:nvPr/>
        </p:nvSpPr>
        <p:spPr>
          <a:xfrm>
            <a:off x="6749876" y="8053983"/>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2</a:t>
            </a:r>
            <a:endParaRPr lang="en-US" sz="2100" dirty="0"/>
          </a:p>
        </p:txBody>
      </p:sp>
      <p:sp>
        <p:nvSpPr>
          <p:cNvPr id="41" name="Text 39"/>
          <p:cNvSpPr/>
          <p:nvPr/>
        </p:nvSpPr>
        <p:spPr>
          <a:xfrm>
            <a:off x="8371359" y="8053983"/>
            <a:ext cx="1545208"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80</a:t>
            </a:r>
            <a:endParaRPr lang="en-US" sz="2100" dirty="0"/>
          </a:p>
        </p:txBody>
      </p:sp>
      <p:sp>
        <p:nvSpPr>
          <p:cNvPr id="42" name="Text 40"/>
          <p:cNvSpPr/>
          <p:nvPr/>
        </p:nvSpPr>
        <p:spPr>
          <a:xfrm>
            <a:off x="9992767" y="8053983"/>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1</a:t>
            </a:r>
            <a:endParaRPr lang="en-US" sz="2100" dirty="0"/>
          </a:p>
        </p:txBody>
      </p:sp>
      <p:sp>
        <p:nvSpPr>
          <p:cNvPr id="43" name="Text 41"/>
          <p:cNvSpPr/>
          <p:nvPr/>
        </p:nvSpPr>
        <p:spPr>
          <a:xfrm>
            <a:off x="11614249" y="8053983"/>
            <a:ext cx="1545282"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40%</a:t>
            </a:r>
            <a:endParaRPr lang="en-US" sz="2100" dirty="0"/>
          </a:p>
        </p:txBody>
      </p:sp>
      <p:sp>
        <p:nvSpPr>
          <p:cNvPr id="44" name="Text 42"/>
          <p:cNvSpPr/>
          <p:nvPr/>
        </p:nvSpPr>
        <p:spPr>
          <a:xfrm>
            <a:off x="13235732" y="8053983"/>
            <a:ext cx="1545208" cy="328613"/>
          </a:xfrm>
          <a:prstGeom prst="rect">
            <a:avLst/>
          </a:prstGeom>
          <a:noFill/>
          <a:ln/>
        </p:spPr>
        <p:txBody>
          <a:bodyPr wrap="square" lIns="25400" tIns="25400" rIns="25400" bIns="25400" rtlCol="0" anchor="t">
            <a:normAutofit/>
          </a:bodyPr>
          <a:lstStyle/>
          <a:p>
            <a:pPr algn="ctr" indent="0" marL="0">
              <a:buNone/>
            </a:pPr>
            <a:r>
              <a:rPr lang="en-US" sz="2100" dirty="0">
                <a:solidFill>
                  <a:srgbClr val="29211A"/>
                </a:solidFill>
                <a:latin typeface="Arial" pitchFamily="34" charset="0"/>
                <a:ea typeface="Arial" pitchFamily="34" charset="-122"/>
                <a:cs typeface="Arial" pitchFamily="34" charset="-120"/>
              </a:rPr>
              <a:t>5</a:t>
            </a:r>
            <a:endParaRPr lang="en-US" sz="2100" dirty="0"/>
          </a:p>
        </p:txBody>
      </p:sp>
      <p:sp>
        <p:nvSpPr>
          <p:cNvPr id="45" name="Text 43"/>
          <p:cNvSpPr/>
          <p:nvPr/>
        </p:nvSpPr>
        <p:spPr>
          <a:xfrm>
            <a:off x="14971440" y="8008739"/>
            <a:ext cx="1935435" cy="419100"/>
          </a:xfrm>
          <a:prstGeom prst="rect">
            <a:avLst/>
          </a:prstGeom>
          <a:noFill/>
          <a:ln/>
        </p:spPr>
        <p:txBody>
          <a:bodyPr wrap="square" lIns="25400" tIns="25400" rIns="25400" bIns="25400" rtlCol="0" anchor="t">
            <a:normAutofit/>
          </a:bodyPr>
          <a:lstStyle/>
          <a:p>
            <a:pPr algn="r" indent="0" marL="0">
              <a:lnSpc>
                <a:spcPct val="86957"/>
              </a:lnSpc>
              <a:buNone/>
            </a:pPr>
            <a:r>
              <a:rPr lang="en-US" sz="3000" b="1" dirty="0">
                <a:solidFill>
                  <a:srgbClr val="8A7A64"/>
                </a:solidFill>
                <a:latin typeface="Arial" pitchFamily="34" charset="0"/>
                <a:ea typeface="Arial" pitchFamily="34" charset="-122"/>
                <a:cs typeface="Arial" pitchFamily="34" charset="-120"/>
              </a:rPr>
              <a:t>13</a:t>
            </a:r>
            <a:endParaRPr lang="en-US" sz="3000" dirty="0"/>
          </a:p>
        </p:txBody>
      </p:sp>
      <p:sp>
        <p:nvSpPr>
          <p:cNvPr id="46" name="Text 44"/>
          <p:cNvSpPr/>
          <p:nvPr/>
        </p:nvSpPr>
        <p:spPr>
          <a:xfrm>
            <a:off x="1143000" y="9215438"/>
            <a:ext cx="17602200" cy="309563"/>
          </a:xfrm>
          <a:prstGeom prst="rect">
            <a:avLst/>
          </a:prstGeom>
          <a:noFill/>
          <a:ln/>
        </p:spPr>
        <p:txBody>
          <a:bodyPr wrap="square" lIns="25400" tIns="25400" rIns="25400" bIns="25400" rtlCol="0" anchor="t">
            <a:normAutofit/>
          </a:bodyPr>
          <a:lstStyle/>
          <a:p>
            <a:pPr algn="l" indent="0" marL="0">
              <a:buNone/>
            </a:pPr>
            <a:r>
              <a:rPr lang="en-US" sz="1950" dirty="0">
                <a:solidFill>
                  <a:srgbClr val="4A3F33"/>
                </a:solidFill>
                <a:latin typeface="Arial" pitchFamily="34" charset="0"/>
                <a:ea typeface="Arial" pitchFamily="34" charset="-122"/>
                <a:cs typeface="Arial" pitchFamily="34" charset="-120"/>
              </a:rPr>
              <a:t>When the number and the room disagree, that gap is the conversation — not a reason to trust the formula. It ranks; you decide.</a:t>
            </a:r>
            <a:endParaRPr lang="en-US" sz="1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6201A"/>
        </a:solidFill>
      </p:bgPr>
    </p:bg>
    <p:spTree>
      <p:nvGrpSpPr>
        <p:cNvPr id="1" name=""/>
        <p:cNvGrpSpPr/>
        <p:nvPr/>
      </p:nvGrpSpPr>
      <p:grpSpPr>
        <a:xfrm>
          <a:off x="0" y="0"/>
          <a:ext cx="0" cy="0"/>
          <a:chOff x="0" y="0"/>
          <a:chExt cx="0" cy="0"/>
        </a:xfrm>
      </p:grpSpPr>
      <p:sp>
        <p:nvSpPr>
          <p:cNvPr id="2" name="Shape 0"/>
          <p:cNvSpPr/>
          <p:nvPr/>
        </p:nvSpPr>
        <p:spPr>
          <a:xfrm>
            <a:off x="1143000" y="876300"/>
            <a:ext cx="2144911" cy="571500"/>
          </a:xfrm>
          <a:prstGeom prst="roundRect">
            <a:avLst>
              <a:gd name="adj" fmla="val 50000"/>
            </a:avLst>
          </a:prstGeom>
          <a:solidFill>
            <a:srgbClr val="F4EEE2"/>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09700" y="1028700"/>
            <a:ext cx="266700" cy="266700"/>
          </a:xfrm>
          <a:prstGeom prst="rect">
            <a:avLst/>
          </a:prstGeom>
        </p:spPr>
      </p:pic>
      <p:sp>
        <p:nvSpPr>
          <p:cNvPr id="4" name="Text 1"/>
          <p:cNvSpPr/>
          <p:nvPr/>
        </p:nvSpPr>
        <p:spPr>
          <a:xfrm>
            <a:off x="1809750" y="1023938"/>
            <a:ext cx="1287661" cy="314325"/>
          </a:xfrm>
          <a:prstGeom prst="rect">
            <a:avLst/>
          </a:prstGeom>
          <a:noFill/>
          <a:ln/>
        </p:spPr>
        <p:txBody>
          <a:bodyPr wrap="square" lIns="0" tIns="0" rIns="0" bIns="0" rtlCol="0" anchor="t">
            <a:normAutofit/>
          </a:bodyPr>
          <a:lstStyle/>
          <a:p>
            <a:pPr algn="l" indent="0" marL="0">
              <a:lnSpc>
                <a:spcPct val="86667"/>
              </a:lnSpc>
              <a:buNone/>
            </a:pPr>
            <a:r>
              <a:rPr lang="en-US" sz="1950" b="1" dirty="0">
                <a:solidFill>
                  <a:srgbClr val="29211A"/>
                </a:solidFill>
                <a:latin typeface="Arial" pitchFamily="34" charset="0"/>
                <a:ea typeface="Arial" pitchFamily="34" charset="-122"/>
                <a:cs typeface="Arial" pitchFamily="34" charset="-120"/>
              </a:rPr>
              <a:t>20 minutes</a:t>
            </a:r>
            <a:endParaRPr lang="en-US" sz="1950" dirty="0"/>
          </a:p>
        </p:txBody>
      </p:sp>
      <p:sp>
        <p:nvSpPr>
          <p:cNvPr id="5" name="Text 2"/>
          <p:cNvSpPr/>
          <p:nvPr/>
        </p:nvSpPr>
        <p:spPr>
          <a:xfrm>
            <a:off x="13125599" y="1038225"/>
            <a:ext cx="4421341"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dirty="0">
                <a:solidFill>
                  <a:srgbClr val="D99B34"/>
                </a:solidFill>
                <a:latin typeface="Arial" pitchFamily="34" charset="0"/>
                <a:ea typeface="Arial" pitchFamily="34" charset="-122"/>
                <a:cs typeface="Arial" pitchFamily="34" charset="-120"/>
              </a:rPr>
              <a:t>Deliverable → </a:t>
            </a:r>
            <a:pPr algn="l" indent="0" marL="0">
              <a:lnSpc>
                <a:spcPct val="86667"/>
              </a:lnSpc>
              <a:buNone/>
            </a:pPr>
            <a:r>
              <a:rPr lang="en-US" sz="1950" b="1" dirty="0">
                <a:solidFill>
                  <a:srgbClr val="F4EEE2"/>
                </a:solidFill>
                <a:latin typeface="Arial" pitchFamily="34" charset="0"/>
                <a:ea typeface="Arial" pitchFamily="34" charset="-122"/>
                <a:cs typeface="Arial" pitchFamily="34" charset="-120"/>
              </a:rPr>
              <a:t>every card on the grid</a:t>
            </a:r>
            <a:endParaRPr lang="en-US" sz="1950" dirty="0"/>
          </a:p>
        </p:txBody>
      </p:sp>
      <p:sp>
        <p:nvSpPr>
          <p:cNvPr id="6" name="Text 3"/>
          <p:cNvSpPr/>
          <p:nvPr/>
        </p:nvSpPr>
        <p:spPr>
          <a:xfrm>
            <a:off x="342900" y="5730850"/>
            <a:ext cx="17602200" cy="952500"/>
          </a:xfrm>
          <a:prstGeom prst="rect">
            <a:avLst/>
          </a:prstGeom>
          <a:noFill/>
          <a:ln/>
        </p:spPr>
        <p:txBody>
          <a:bodyPr wrap="square" lIns="25400" tIns="25400" rIns="25400" bIns="25400" rtlCol="0" anchor="t">
            <a:normAutofit/>
          </a:bodyPr>
          <a:lstStyle/>
          <a:p>
            <a:pPr algn="ctr" indent="0" marL="0">
              <a:lnSpc>
                <a:spcPct val="88073"/>
              </a:lnSpc>
              <a:buNone/>
            </a:pPr>
            <a:r>
              <a:rPr lang="en-US" sz="7200" spc="-144" kern="0" dirty="0">
                <a:solidFill>
                  <a:srgbClr val="F4EEE2"/>
                </a:solidFill>
                <a:latin typeface="Georgia" pitchFamily="34" charset="0"/>
                <a:ea typeface="Georgia" pitchFamily="34" charset="-122"/>
                <a:cs typeface="Georgia" pitchFamily="34" charset="-120"/>
              </a:rPr>
              <a:t>Place them. Then argue about it.</a:t>
            </a:r>
            <a:endParaRPr lang="en-US" sz="7200" dirty="0"/>
          </a:p>
        </p:txBody>
      </p:sp>
      <p:sp>
        <p:nvSpPr>
          <p:cNvPr id="7" name="Text 4"/>
          <p:cNvSpPr/>
          <p:nvPr/>
        </p:nvSpPr>
        <p:spPr>
          <a:xfrm>
            <a:off x="342900" y="6931000"/>
            <a:ext cx="17602200" cy="452438"/>
          </a:xfrm>
          <a:prstGeom prst="rect">
            <a:avLst/>
          </a:prstGeom>
          <a:noFill/>
          <a:ln/>
        </p:spPr>
        <p:txBody>
          <a:bodyPr wrap="square" lIns="25400" tIns="25400" rIns="25400" bIns="25400" rtlCol="0" anchor="t">
            <a:normAutofit/>
          </a:bodyPr>
          <a:lstStyle/>
          <a:p>
            <a:pPr algn="ctr" indent="0" marL="0">
              <a:buNone/>
            </a:pPr>
            <a:r>
              <a:rPr lang="en-US" sz="2850" dirty="0">
                <a:solidFill>
                  <a:srgbClr val="E07A52"/>
                </a:solidFill>
                <a:latin typeface="Arial" pitchFamily="34" charset="0"/>
                <a:ea typeface="Arial" pitchFamily="34" charset="-122"/>
                <a:cs typeface="Arial" pitchFamily="34" charset="-120"/>
              </a:rPr>
              <a:t>The argument is the output. Don't resolve it away — record it.</a:t>
            </a:r>
            <a:endParaRPr lang="en-US" sz="2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11178428"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spc="-99" kern="0" dirty="0">
                <a:solidFill>
                  <a:srgbClr val="29211A"/>
                </a:solidFill>
                <a:latin typeface="Georgia" pitchFamily="34" charset="0"/>
                <a:ea typeface="Georgia" pitchFamily="34" charset="-122"/>
                <a:cs typeface="Georgia" pitchFamily="34" charset="-120"/>
              </a:rPr>
              <a:t>The three to five we take forward first.</a:t>
            </a:r>
            <a:endParaRPr lang="en-US" sz="4950" dirty="0"/>
          </a:p>
        </p:txBody>
      </p:sp>
      <p:sp>
        <p:nvSpPr>
          <p:cNvPr id="4" name="Text 2"/>
          <p:cNvSpPr/>
          <p:nvPr/>
        </p:nvSpPr>
        <p:spPr>
          <a:xfrm>
            <a:off x="13652986" y="1057275"/>
            <a:ext cx="3492014" cy="742950"/>
          </a:xfrm>
          <a:prstGeom prst="rect">
            <a:avLst/>
          </a:prstGeom>
          <a:noFill/>
          <a:ln/>
        </p:spPr>
        <p:txBody>
          <a:bodyPr wrap="square" lIns="25400" tIns="25400" rIns="25400" bIns="25400" rtlCol="0" anchor="t">
            <a:normAutofit/>
          </a:bodyPr>
          <a:lstStyle/>
          <a:p>
            <a:pPr algn="r" indent="0" marL="0">
              <a:buNone/>
            </a:pPr>
            <a:r>
              <a:rPr lang="en-US" sz="2400" dirty="0">
                <a:solidFill>
                  <a:srgbClr val="CF4B2B"/>
                </a:solidFill>
                <a:latin typeface="Arial" pitchFamily="34" charset="0"/>
                <a:ea typeface="Arial" pitchFamily="34" charset="-122"/>
                <a:cs typeface="Arial" pitchFamily="34" charset="-120"/>
              </a:rPr>
              <a:t>a list of fifteen isn't a shortlist</a:t>
            </a:r>
            <a:endParaRPr lang="en-US" sz="2400" dirty="0"/>
          </a:p>
        </p:txBody>
      </p:sp>
      <p:sp>
        <p:nvSpPr>
          <p:cNvPr id="5" name="Shape 3"/>
          <p:cNvSpPr/>
          <p:nvPr/>
        </p:nvSpPr>
        <p:spPr>
          <a:xfrm>
            <a:off x="1143000" y="2105025"/>
            <a:ext cx="5181600" cy="6848475"/>
          </a:xfrm>
          <a:prstGeom prst="roundRect">
            <a:avLst>
              <a:gd name="adj" fmla="val 2574"/>
            </a:avLst>
          </a:prstGeom>
          <a:solidFill>
            <a:srgbClr val="F5EFE3"/>
          </a:solidFill>
          <a:ln/>
        </p:spPr>
      </p:sp>
      <p:sp>
        <p:nvSpPr>
          <p:cNvPr id="6" name="Shape 4"/>
          <p:cNvSpPr/>
          <p:nvPr/>
        </p:nvSpPr>
        <p:spPr>
          <a:xfrm>
            <a:off x="1143000" y="8943975"/>
            <a:ext cx="5181600" cy="9525"/>
          </a:xfrm>
          <a:prstGeom prst="rect">
            <a:avLst/>
          </a:prstGeom>
          <a:solidFill>
            <a:srgbClr val="29211A">
              <a:alpha val="14000"/>
            </a:srgbClr>
          </a:solidFill>
          <a:ln/>
        </p:spPr>
      </p:sp>
      <p:sp>
        <p:nvSpPr>
          <p:cNvPr id="7" name="Shape 5"/>
          <p:cNvSpPr/>
          <p:nvPr/>
        </p:nvSpPr>
        <p:spPr>
          <a:xfrm>
            <a:off x="1143000" y="2105025"/>
            <a:ext cx="5181600" cy="57150"/>
          </a:xfrm>
          <a:prstGeom prst="rect">
            <a:avLst/>
          </a:prstGeom>
          <a:solidFill>
            <a:srgbClr val="6D9A54"/>
          </a:solidFill>
          <a:ln/>
        </p:spPr>
      </p:sp>
      <p:sp>
        <p:nvSpPr>
          <p:cNvPr id="8" name="Shape 6"/>
          <p:cNvSpPr/>
          <p:nvPr/>
        </p:nvSpPr>
        <p:spPr>
          <a:xfrm>
            <a:off x="1143000" y="2105025"/>
            <a:ext cx="9525" cy="6848475"/>
          </a:xfrm>
          <a:prstGeom prst="rect">
            <a:avLst/>
          </a:prstGeom>
          <a:solidFill>
            <a:srgbClr val="29211A">
              <a:alpha val="14000"/>
            </a:srgbClr>
          </a:solidFill>
          <a:ln/>
        </p:spPr>
      </p:sp>
      <p:sp>
        <p:nvSpPr>
          <p:cNvPr id="9" name="Shape 7"/>
          <p:cNvSpPr/>
          <p:nvPr/>
        </p:nvSpPr>
        <p:spPr>
          <a:xfrm>
            <a:off x="6315075" y="2105025"/>
            <a:ext cx="9525" cy="6848475"/>
          </a:xfrm>
          <a:prstGeom prst="rect">
            <a:avLst/>
          </a:prstGeom>
          <a:solidFill>
            <a:srgbClr val="29211A">
              <a:alpha val="14000"/>
            </a:srgbClr>
          </a:solidFill>
          <a:ln/>
        </p:spPr>
      </p:sp>
      <p:sp>
        <p:nvSpPr>
          <p:cNvPr id="10" name="Text 8"/>
          <p:cNvSpPr/>
          <p:nvPr/>
        </p:nvSpPr>
        <p:spPr>
          <a:xfrm>
            <a:off x="1438275" y="2466975"/>
            <a:ext cx="5050155" cy="394320"/>
          </a:xfrm>
          <a:prstGeom prst="rect">
            <a:avLst/>
          </a:prstGeom>
          <a:noFill/>
          <a:ln/>
        </p:spPr>
        <p:txBody>
          <a:bodyPr wrap="square" lIns="25400" tIns="25400" rIns="25400" bIns="25400" rtlCol="0" anchor="t">
            <a:normAutofit/>
          </a:bodyPr>
          <a:lstStyle/>
          <a:p>
            <a:pPr algn="l" indent="0" marL="0">
              <a:lnSpc>
                <a:spcPct val="97143"/>
              </a:lnSpc>
              <a:buNone/>
            </a:pPr>
            <a:r>
              <a:rPr lang="en-US" sz="2550" dirty="0">
                <a:solidFill>
                  <a:srgbClr val="29211A"/>
                </a:solidFill>
                <a:latin typeface="Georgia" pitchFamily="34" charset="0"/>
                <a:ea typeface="Georgia" pitchFamily="34" charset="-122"/>
                <a:cs typeface="Georgia" pitchFamily="34" charset="-120"/>
              </a:rPr>
              <a:t>One-Look Numbers</a:t>
            </a:r>
            <a:endParaRPr lang="en-US" sz="2550" dirty="0"/>
          </a:p>
        </p:txBody>
      </p:sp>
      <p:sp>
        <p:nvSpPr>
          <p:cNvPr id="11" name="Text 9"/>
          <p:cNvSpPr/>
          <p:nvPr/>
        </p:nvSpPr>
        <p:spPr>
          <a:xfrm>
            <a:off x="1438275" y="2956545"/>
            <a:ext cx="505015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A3F33"/>
                </a:solidFill>
                <a:latin typeface="Arial" pitchFamily="34" charset="0"/>
                <a:ea typeface="Arial" pitchFamily="34" charset="-122"/>
                <a:cs typeface="Arial" pitchFamily="34" charset="-120"/>
              </a:rPr>
              <a:t>Job: </a:t>
            </a:r>
            <a:pPr algn="l" indent="0" marL="0">
              <a:buNone/>
            </a:pPr>
            <a:r>
              <a:rPr lang="en-US" sz="1950" dirty="0">
                <a:solidFill>
                  <a:srgbClr val="4A3F33"/>
                </a:solidFill>
                <a:latin typeface="Arial" pitchFamily="34" charset="0"/>
                <a:ea typeface="Arial" pitchFamily="34" charset="-122"/>
                <a:cs typeface="Arial" pitchFamily="34" charset="-120"/>
              </a:rPr>
              <a:t>trust a number at a glance.</a:t>
            </a:r>
            <a:endParaRPr lang="en-US" sz="1950" dirty="0"/>
          </a:p>
        </p:txBody>
      </p:sp>
      <p:sp>
        <p:nvSpPr>
          <p:cNvPr id="12" name="Text 10"/>
          <p:cNvSpPr/>
          <p:nvPr/>
        </p:nvSpPr>
        <p:spPr>
          <a:xfrm>
            <a:off x="1438275" y="3375645"/>
            <a:ext cx="505015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A3F33"/>
                </a:solidFill>
                <a:latin typeface="Arial" pitchFamily="34" charset="0"/>
                <a:ea typeface="Arial" pitchFamily="34" charset="-122"/>
                <a:cs typeface="Arial" pitchFamily="34" charset="-120"/>
              </a:rPr>
              <a:t>Unknown: </a:t>
            </a:r>
            <a:pPr algn="l" indent="0" marL="0">
              <a:buNone/>
            </a:pPr>
            <a:r>
              <a:rPr lang="en-US" sz="1950" dirty="0">
                <a:solidFill>
                  <a:srgbClr val="4A3F33"/>
                </a:solidFill>
                <a:latin typeface="Arial" pitchFamily="34" charset="0"/>
                <a:ea typeface="Arial" pitchFamily="34" charset="-122"/>
                <a:cs typeface="Arial" pitchFamily="34" charset="-120"/>
              </a:rPr>
              <a:t>which source is truth.</a:t>
            </a:r>
            <a:endParaRPr lang="en-US" sz="1950" dirty="0"/>
          </a:p>
        </p:txBody>
      </p:sp>
      <p:sp>
        <p:nvSpPr>
          <p:cNvPr id="13" name="Text 11"/>
          <p:cNvSpPr/>
          <p:nvPr/>
        </p:nvSpPr>
        <p:spPr>
          <a:xfrm>
            <a:off x="1438275" y="8353425"/>
            <a:ext cx="505015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CF4B2B"/>
                </a:solidFill>
                <a:latin typeface="Arial" pitchFamily="34" charset="0"/>
                <a:ea typeface="Arial" pitchFamily="34" charset="-122"/>
                <a:cs typeface="Arial" pitchFamily="34" charset="-120"/>
              </a:rPr>
              <a:t>Next: </a:t>
            </a:r>
            <a:pPr algn="l" indent="0" marL="0">
              <a:buNone/>
            </a:pPr>
            <a:r>
              <a:rPr lang="en-US" sz="1950" dirty="0">
                <a:solidFill>
                  <a:srgbClr val="CF4B2B"/>
                </a:solidFill>
                <a:latin typeface="Arial" pitchFamily="34" charset="0"/>
                <a:ea typeface="Arial" pitchFamily="34" charset="-122"/>
                <a:cs typeface="Arial" pitchFamily="34" charset="-120"/>
              </a:rPr>
              <a:t>map the three current sources.</a:t>
            </a:r>
            <a:endParaRPr lang="en-US" sz="1950" dirty="0"/>
          </a:p>
        </p:txBody>
      </p:sp>
      <p:sp>
        <p:nvSpPr>
          <p:cNvPr id="14" name="Shape 12"/>
          <p:cNvSpPr/>
          <p:nvPr/>
        </p:nvSpPr>
        <p:spPr>
          <a:xfrm>
            <a:off x="6553200" y="2105025"/>
            <a:ext cx="5181600" cy="6848475"/>
          </a:xfrm>
          <a:prstGeom prst="roundRect">
            <a:avLst>
              <a:gd name="adj" fmla="val 2574"/>
            </a:avLst>
          </a:prstGeom>
          <a:solidFill>
            <a:srgbClr val="F5EFE3"/>
          </a:solidFill>
          <a:ln/>
        </p:spPr>
      </p:sp>
      <p:sp>
        <p:nvSpPr>
          <p:cNvPr id="15" name="Shape 13"/>
          <p:cNvSpPr/>
          <p:nvPr/>
        </p:nvSpPr>
        <p:spPr>
          <a:xfrm>
            <a:off x="6553200" y="8943975"/>
            <a:ext cx="5181600" cy="9525"/>
          </a:xfrm>
          <a:prstGeom prst="rect">
            <a:avLst/>
          </a:prstGeom>
          <a:solidFill>
            <a:srgbClr val="29211A">
              <a:alpha val="14000"/>
            </a:srgbClr>
          </a:solidFill>
          <a:ln/>
        </p:spPr>
      </p:sp>
      <p:sp>
        <p:nvSpPr>
          <p:cNvPr id="16" name="Shape 14"/>
          <p:cNvSpPr/>
          <p:nvPr/>
        </p:nvSpPr>
        <p:spPr>
          <a:xfrm>
            <a:off x="6553200" y="2105025"/>
            <a:ext cx="5181600" cy="57150"/>
          </a:xfrm>
          <a:prstGeom prst="rect">
            <a:avLst/>
          </a:prstGeom>
          <a:solidFill>
            <a:srgbClr val="D99B34"/>
          </a:solidFill>
          <a:ln/>
        </p:spPr>
      </p:sp>
      <p:sp>
        <p:nvSpPr>
          <p:cNvPr id="17" name="Shape 15"/>
          <p:cNvSpPr/>
          <p:nvPr/>
        </p:nvSpPr>
        <p:spPr>
          <a:xfrm>
            <a:off x="6553200" y="2105025"/>
            <a:ext cx="9525" cy="6848475"/>
          </a:xfrm>
          <a:prstGeom prst="rect">
            <a:avLst/>
          </a:prstGeom>
          <a:solidFill>
            <a:srgbClr val="29211A">
              <a:alpha val="14000"/>
            </a:srgbClr>
          </a:solidFill>
          <a:ln/>
        </p:spPr>
      </p:sp>
      <p:sp>
        <p:nvSpPr>
          <p:cNvPr id="18" name="Shape 16"/>
          <p:cNvSpPr/>
          <p:nvPr/>
        </p:nvSpPr>
        <p:spPr>
          <a:xfrm>
            <a:off x="11725275" y="2105025"/>
            <a:ext cx="9525" cy="6848475"/>
          </a:xfrm>
          <a:prstGeom prst="rect">
            <a:avLst/>
          </a:prstGeom>
          <a:solidFill>
            <a:srgbClr val="29211A">
              <a:alpha val="14000"/>
            </a:srgbClr>
          </a:solidFill>
          <a:ln/>
        </p:spPr>
      </p:sp>
      <p:sp>
        <p:nvSpPr>
          <p:cNvPr id="19" name="Text 17"/>
          <p:cNvSpPr/>
          <p:nvPr/>
        </p:nvSpPr>
        <p:spPr>
          <a:xfrm>
            <a:off x="6848475" y="2466975"/>
            <a:ext cx="5050155" cy="394320"/>
          </a:xfrm>
          <a:prstGeom prst="rect">
            <a:avLst/>
          </a:prstGeom>
          <a:noFill/>
          <a:ln/>
        </p:spPr>
        <p:txBody>
          <a:bodyPr wrap="square" lIns="25400" tIns="25400" rIns="25400" bIns="25400" rtlCol="0" anchor="t">
            <a:normAutofit/>
          </a:bodyPr>
          <a:lstStyle/>
          <a:p>
            <a:pPr algn="l" indent="0" marL="0">
              <a:lnSpc>
                <a:spcPct val="97143"/>
              </a:lnSpc>
              <a:buNone/>
            </a:pPr>
            <a:r>
              <a:rPr lang="en-US" sz="2550" dirty="0">
                <a:solidFill>
                  <a:srgbClr val="29211A"/>
                </a:solidFill>
                <a:latin typeface="Georgia" pitchFamily="34" charset="0"/>
                <a:ea typeface="Georgia" pitchFamily="34" charset="-122"/>
                <a:cs typeface="Georgia" pitchFamily="34" charset="-120"/>
              </a:rPr>
              <a:t>One-Minute Request</a:t>
            </a:r>
            <a:endParaRPr lang="en-US" sz="2550" dirty="0"/>
          </a:p>
        </p:txBody>
      </p:sp>
      <p:sp>
        <p:nvSpPr>
          <p:cNvPr id="20" name="Text 18"/>
          <p:cNvSpPr/>
          <p:nvPr/>
        </p:nvSpPr>
        <p:spPr>
          <a:xfrm>
            <a:off x="6848475" y="2956545"/>
            <a:ext cx="505015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A3F33"/>
                </a:solidFill>
                <a:latin typeface="Arial" pitchFamily="34" charset="0"/>
                <a:ea typeface="Arial" pitchFamily="34" charset="-122"/>
                <a:cs typeface="Arial" pitchFamily="34" charset="-120"/>
              </a:rPr>
              <a:t>Job: </a:t>
            </a:r>
            <a:pPr algn="l" indent="0" marL="0">
              <a:buNone/>
            </a:pPr>
            <a:r>
              <a:rPr lang="en-US" sz="1950" dirty="0">
                <a:solidFill>
                  <a:srgbClr val="4A3F33"/>
                </a:solidFill>
                <a:latin typeface="Arial" pitchFamily="34" charset="0"/>
                <a:ea typeface="Arial" pitchFamily="34" charset="-122"/>
                <a:cs typeface="Arial" pitchFamily="34" charset="-120"/>
              </a:rPr>
              <a:t>routine ask in a minute.</a:t>
            </a:r>
            <a:endParaRPr lang="en-US" sz="1950" dirty="0"/>
          </a:p>
        </p:txBody>
      </p:sp>
      <p:sp>
        <p:nvSpPr>
          <p:cNvPr id="21" name="Text 19"/>
          <p:cNvSpPr/>
          <p:nvPr/>
        </p:nvSpPr>
        <p:spPr>
          <a:xfrm>
            <a:off x="6848475" y="3375645"/>
            <a:ext cx="505015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A3F33"/>
                </a:solidFill>
                <a:latin typeface="Arial" pitchFamily="34" charset="0"/>
                <a:ea typeface="Arial" pitchFamily="34" charset="-122"/>
                <a:cs typeface="Arial" pitchFamily="34" charset="-120"/>
              </a:rPr>
              <a:t>Unknown: </a:t>
            </a:r>
            <a:pPr algn="l" indent="0" marL="0">
              <a:buNone/>
            </a:pPr>
            <a:r>
              <a:rPr lang="en-US" sz="1950" dirty="0">
                <a:solidFill>
                  <a:srgbClr val="4A3F33"/>
                </a:solidFill>
                <a:latin typeface="Arial" pitchFamily="34" charset="0"/>
                <a:ea typeface="Arial" pitchFamily="34" charset="-122"/>
                <a:cs typeface="Arial" pitchFamily="34" charset="-120"/>
              </a:rPr>
              <a:t>which approvals are required.</a:t>
            </a:r>
            <a:endParaRPr lang="en-US" sz="1950" dirty="0"/>
          </a:p>
        </p:txBody>
      </p:sp>
      <p:sp>
        <p:nvSpPr>
          <p:cNvPr id="22" name="Text 20"/>
          <p:cNvSpPr/>
          <p:nvPr/>
        </p:nvSpPr>
        <p:spPr>
          <a:xfrm>
            <a:off x="6848475" y="8353425"/>
            <a:ext cx="505015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CF4B2B"/>
                </a:solidFill>
                <a:latin typeface="Arial" pitchFamily="34" charset="0"/>
                <a:ea typeface="Arial" pitchFamily="34" charset="-122"/>
                <a:cs typeface="Arial" pitchFamily="34" charset="-120"/>
              </a:rPr>
              <a:t>Next: </a:t>
            </a:r>
            <a:pPr algn="l" indent="0" marL="0">
              <a:buNone/>
            </a:pPr>
            <a:r>
              <a:rPr lang="en-US" sz="1950" dirty="0">
                <a:solidFill>
                  <a:srgbClr val="CF4B2B"/>
                </a:solidFill>
                <a:latin typeface="Arial" pitchFamily="34" charset="0"/>
                <a:ea typeface="Arial" pitchFamily="34" charset="-122"/>
                <a:cs typeface="Arial" pitchFamily="34" charset="-120"/>
              </a:rPr>
              <a:t>shadow one real request end to end.</a:t>
            </a:r>
            <a:endParaRPr lang="en-US" sz="1950" dirty="0"/>
          </a:p>
        </p:txBody>
      </p:sp>
      <p:sp>
        <p:nvSpPr>
          <p:cNvPr id="23" name="Shape 21"/>
          <p:cNvSpPr/>
          <p:nvPr/>
        </p:nvSpPr>
        <p:spPr>
          <a:xfrm>
            <a:off x="11963400" y="2105025"/>
            <a:ext cx="5181600" cy="6848475"/>
          </a:xfrm>
          <a:prstGeom prst="roundRect">
            <a:avLst>
              <a:gd name="adj" fmla="val 2574"/>
            </a:avLst>
          </a:prstGeom>
          <a:solidFill>
            <a:srgbClr val="F5EFE3"/>
          </a:solidFill>
          <a:ln/>
        </p:spPr>
      </p:sp>
      <p:sp>
        <p:nvSpPr>
          <p:cNvPr id="24" name="Shape 22"/>
          <p:cNvSpPr/>
          <p:nvPr/>
        </p:nvSpPr>
        <p:spPr>
          <a:xfrm>
            <a:off x="11963400" y="8943975"/>
            <a:ext cx="5181600" cy="9525"/>
          </a:xfrm>
          <a:prstGeom prst="rect">
            <a:avLst/>
          </a:prstGeom>
          <a:solidFill>
            <a:srgbClr val="29211A">
              <a:alpha val="14000"/>
            </a:srgbClr>
          </a:solidFill>
          <a:ln/>
        </p:spPr>
      </p:sp>
      <p:sp>
        <p:nvSpPr>
          <p:cNvPr id="25" name="Shape 23"/>
          <p:cNvSpPr/>
          <p:nvPr/>
        </p:nvSpPr>
        <p:spPr>
          <a:xfrm>
            <a:off x="11963400" y="2105025"/>
            <a:ext cx="5181600" cy="57150"/>
          </a:xfrm>
          <a:prstGeom prst="rect">
            <a:avLst/>
          </a:prstGeom>
          <a:solidFill>
            <a:srgbClr val="2F6F86"/>
          </a:solidFill>
          <a:ln/>
        </p:spPr>
      </p:sp>
      <p:sp>
        <p:nvSpPr>
          <p:cNvPr id="26" name="Shape 24"/>
          <p:cNvSpPr/>
          <p:nvPr/>
        </p:nvSpPr>
        <p:spPr>
          <a:xfrm>
            <a:off x="11963400" y="2105025"/>
            <a:ext cx="9525" cy="6848475"/>
          </a:xfrm>
          <a:prstGeom prst="rect">
            <a:avLst/>
          </a:prstGeom>
          <a:solidFill>
            <a:srgbClr val="29211A">
              <a:alpha val="14000"/>
            </a:srgbClr>
          </a:solidFill>
          <a:ln/>
        </p:spPr>
      </p:sp>
      <p:sp>
        <p:nvSpPr>
          <p:cNvPr id="27" name="Shape 25"/>
          <p:cNvSpPr/>
          <p:nvPr/>
        </p:nvSpPr>
        <p:spPr>
          <a:xfrm>
            <a:off x="17135475" y="2105025"/>
            <a:ext cx="9525" cy="6848475"/>
          </a:xfrm>
          <a:prstGeom prst="rect">
            <a:avLst/>
          </a:prstGeom>
          <a:solidFill>
            <a:srgbClr val="29211A">
              <a:alpha val="14000"/>
            </a:srgbClr>
          </a:solidFill>
          <a:ln/>
        </p:spPr>
      </p:sp>
      <p:sp>
        <p:nvSpPr>
          <p:cNvPr id="28" name="Text 26"/>
          <p:cNvSpPr/>
          <p:nvPr/>
        </p:nvSpPr>
        <p:spPr>
          <a:xfrm>
            <a:off x="12258675" y="2466975"/>
            <a:ext cx="5050155" cy="394320"/>
          </a:xfrm>
          <a:prstGeom prst="rect">
            <a:avLst/>
          </a:prstGeom>
          <a:noFill/>
          <a:ln/>
        </p:spPr>
        <p:txBody>
          <a:bodyPr wrap="square" lIns="25400" tIns="25400" rIns="25400" bIns="25400" rtlCol="0" anchor="t">
            <a:normAutofit/>
          </a:bodyPr>
          <a:lstStyle/>
          <a:p>
            <a:pPr algn="l" indent="0" marL="0">
              <a:lnSpc>
                <a:spcPct val="97143"/>
              </a:lnSpc>
              <a:buNone/>
            </a:pPr>
            <a:r>
              <a:rPr lang="en-US" sz="2550" dirty="0">
                <a:solidFill>
                  <a:srgbClr val="29211A"/>
                </a:solidFill>
                <a:latin typeface="Georgia" pitchFamily="34" charset="0"/>
                <a:ea typeface="Georgia" pitchFamily="34" charset="-122"/>
                <a:cs typeface="Georgia" pitchFamily="34" charset="-120"/>
              </a:rPr>
              <a:t>Find-It-Once search</a:t>
            </a:r>
            <a:endParaRPr lang="en-US" sz="2550" dirty="0"/>
          </a:p>
        </p:txBody>
      </p:sp>
      <p:sp>
        <p:nvSpPr>
          <p:cNvPr id="29" name="Text 27"/>
          <p:cNvSpPr/>
          <p:nvPr/>
        </p:nvSpPr>
        <p:spPr>
          <a:xfrm>
            <a:off x="12258675" y="2956545"/>
            <a:ext cx="505015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A3F33"/>
                </a:solidFill>
                <a:latin typeface="Arial" pitchFamily="34" charset="0"/>
                <a:ea typeface="Arial" pitchFamily="34" charset="-122"/>
                <a:cs typeface="Arial" pitchFamily="34" charset="-120"/>
              </a:rPr>
              <a:t>Job: </a:t>
            </a:r>
            <a:pPr algn="l" indent="0" marL="0">
              <a:buNone/>
            </a:pPr>
            <a:r>
              <a:rPr lang="en-US" sz="1950" dirty="0">
                <a:solidFill>
                  <a:srgbClr val="4A3F33"/>
                </a:solidFill>
                <a:latin typeface="Arial" pitchFamily="34" charset="0"/>
                <a:ea typeface="Arial" pitchFamily="34" charset="-122"/>
                <a:cs typeface="Arial" pitchFamily="34" charset="-120"/>
              </a:rPr>
              <a:t>find it without knowing the system.</a:t>
            </a:r>
            <a:endParaRPr lang="en-US" sz="1950" dirty="0"/>
          </a:p>
        </p:txBody>
      </p:sp>
      <p:sp>
        <p:nvSpPr>
          <p:cNvPr id="30" name="Text 28"/>
          <p:cNvSpPr/>
          <p:nvPr/>
        </p:nvSpPr>
        <p:spPr>
          <a:xfrm>
            <a:off x="12258675" y="3375645"/>
            <a:ext cx="505015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A3F33"/>
                </a:solidFill>
                <a:latin typeface="Arial" pitchFamily="34" charset="0"/>
                <a:ea typeface="Arial" pitchFamily="34" charset="-122"/>
                <a:cs typeface="Arial" pitchFamily="34" charset="-120"/>
              </a:rPr>
              <a:t>Unknown: </a:t>
            </a:r>
            <a:pPr algn="l" indent="0" marL="0">
              <a:buNone/>
            </a:pPr>
            <a:r>
              <a:rPr lang="en-US" sz="1950" dirty="0">
                <a:solidFill>
                  <a:srgbClr val="4A3F33"/>
                </a:solidFill>
                <a:latin typeface="Arial" pitchFamily="34" charset="0"/>
                <a:ea typeface="Arial" pitchFamily="34" charset="-122"/>
                <a:cs typeface="Arial" pitchFamily="34" charset="-120"/>
              </a:rPr>
              <a:t>what we're allowed to index.</a:t>
            </a:r>
            <a:endParaRPr lang="en-US" sz="1950" dirty="0"/>
          </a:p>
        </p:txBody>
      </p:sp>
      <p:sp>
        <p:nvSpPr>
          <p:cNvPr id="31" name="Text 29"/>
          <p:cNvSpPr/>
          <p:nvPr/>
        </p:nvSpPr>
        <p:spPr>
          <a:xfrm>
            <a:off x="12258675" y="8081962"/>
            <a:ext cx="4728782" cy="595313"/>
          </a:xfrm>
          <a:prstGeom prst="rect">
            <a:avLst/>
          </a:prstGeom>
          <a:noFill/>
          <a:ln/>
        </p:spPr>
        <p:txBody>
          <a:bodyPr wrap="square" lIns="25400" tIns="25400" rIns="25400" bIns="25400" rtlCol="0" anchor="t">
            <a:normAutofit/>
          </a:bodyPr>
          <a:lstStyle/>
          <a:p>
            <a:pPr algn="l" indent="0" marL="0">
              <a:buNone/>
            </a:pPr>
            <a:r>
              <a:rPr lang="en-US" sz="1950" b="1" dirty="0">
                <a:solidFill>
                  <a:srgbClr val="CF4B2B"/>
                </a:solidFill>
                <a:latin typeface="Arial" pitchFamily="34" charset="0"/>
                <a:ea typeface="Arial" pitchFamily="34" charset="-122"/>
                <a:cs typeface="Arial" pitchFamily="34" charset="-120"/>
              </a:rPr>
              <a:t>Next: </a:t>
            </a:r>
            <a:pPr algn="l" indent="0" marL="0">
              <a:buNone/>
            </a:pPr>
            <a:r>
              <a:rPr lang="en-US" sz="1950" dirty="0">
                <a:solidFill>
                  <a:srgbClr val="CF4B2B"/>
                </a:solidFill>
                <a:latin typeface="Arial" pitchFamily="34" charset="0"/>
                <a:ea typeface="Arial" pitchFamily="34" charset="-122"/>
                <a:cs typeface="Arial" pitchFamily="34" charset="-120"/>
              </a:rPr>
              <a:t>confirm access rules with two owners.</a:t>
            </a:r>
            <a:endParaRPr lang="en-US" sz="1950" dirty="0"/>
          </a:p>
        </p:txBody>
      </p:sp>
      <p:sp>
        <p:nvSpPr>
          <p:cNvPr id="32" name="Text 30"/>
          <p:cNvSpPr/>
          <p:nvPr/>
        </p:nvSpPr>
        <p:spPr>
          <a:xfrm>
            <a:off x="1143000" y="9201150"/>
            <a:ext cx="17602200" cy="323850"/>
          </a:xfrm>
          <a:prstGeom prst="rect">
            <a:avLst/>
          </a:prstGeom>
          <a:noFill/>
          <a:ln/>
        </p:spPr>
        <p:txBody>
          <a:bodyPr wrap="square" lIns="25400" tIns="25400" rIns="25400" bIns="25400" rtlCol="0" anchor="t">
            <a:normAutofit/>
          </a:bodyPr>
          <a:lstStyle/>
          <a:p>
            <a:pPr algn="l" indent="0" marL="0">
              <a:buNone/>
            </a:pPr>
            <a:r>
              <a:rPr lang="en-US" sz="1950" i="1" dirty="0">
                <a:solidFill>
                  <a:srgbClr val="8A7A64"/>
                </a:solidFill>
                <a:latin typeface="Arial" pitchFamily="34" charset="0"/>
                <a:ea typeface="Arial" pitchFamily="34" charset="-122"/>
                <a:cs typeface="Arial" pitchFamily="34" charset="-120"/>
              </a:rPr>
              <a:t>A shared recommendation with evidence — not yet a funded, dated plan.</a:t>
            </a:r>
            <a:endParaRPr lang="en-US" sz="1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3214911"/>
            <a:ext cx="670560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432" kern="0" dirty="0">
                <a:solidFill>
                  <a:srgbClr val="CF4B2B"/>
                </a:solidFill>
                <a:latin typeface="Arial" pitchFamily="34" charset="0"/>
                <a:ea typeface="Arial" pitchFamily="34" charset="-122"/>
                <a:cs typeface="Arial" pitchFamily="34" charset="-120"/>
              </a:rPr>
              <a:t>THE OPPORTUNITY BACKLOG</a:t>
            </a:r>
            <a:endParaRPr lang="en-US" sz="1800" dirty="0"/>
          </a:p>
        </p:txBody>
      </p:sp>
      <p:sp>
        <p:nvSpPr>
          <p:cNvPr id="4" name="Text 2"/>
          <p:cNvSpPr/>
          <p:nvPr/>
        </p:nvSpPr>
        <p:spPr>
          <a:xfrm>
            <a:off x="1143000" y="3672111"/>
            <a:ext cx="6278880" cy="1475929"/>
          </a:xfrm>
          <a:prstGeom prst="rect">
            <a:avLst/>
          </a:prstGeom>
          <a:noFill/>
          <a:ln/>
        </p:spPr>
        <p:txBody>
          <a:bodyPr wrap="square" lIns="25400" tIns="25400" rIns="25400" bIns="25400" rtlCol="0" anchor="t">
            <a:normAutofit/>
          </a:bodyPr>
          <a:lstStyle/>
          <a:p>
            <a:pPr algn="l" indent="0" marL="0">
              <a:lnSpc>
                <a:spcPct val="89857"/>
              </a:lnSpc>
              <a:buNone/>
            </a:pPr>
            <a:r>
              <a:rPr lang="en-US" sz="5550" spc="-111" kern="0" dirty="0">
                <a:solidFill>
                  <a:srgbClr val="29211A"/>
                </a:solidFill>
                <a:latin typeface="Georgia" pitchFamily="34" charset="0"/>
                <a:ea typeface="Georgia" pitchFamily="34" charset="-122"/>
                <a:cs typeface="Georgia" pitchFamily="34" charset="-120"/>
              </a:rPr>
              <a:t>Nothing gets thrown away.</a:t>
            </a:r>
            <a:endParaRPr lang="en-US" sz="5550" dirty="0"/>
          </a:p>
        </p:txBody>
      </p:sp>
      <p:sp>
        <p:nvSpPr>
          <p:cNvPr id="5" name="Text 3"/>
          <p:cNvSpPr/>
          <p:nvPr/>
        </p:nvSpPr>
        <p:spPr>
          <a:xfrm>
            <a:off x="1143000" y="5433789"/>
            <a:ext cx="5731011" cy="175260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4A3F33"/>
                </a:solidFill>
                <a:latin typeface="Arial" pitchFamily="34" charset="0"/>
                <a:ea typeface="Arial" pitchFamily="34" charset="-122"/>
                <a:cs typeface="Arial" pitchFamily="34" charset="-120"/>
              </a:rPr>
              <a:t>Every concept is captured with its difficulty band, its unknowns, and today's reasoning. When circumstances change, the work already exists.</a:t>
            </a:r>
            <a:endParaRPr lang="en-US" sz="2250" dirty="0"/>
          </a:p>
        </p:txBody>
      </p:sp>
      <p:sp>
        <p:nvSpPr>
          <p:cNvPr id="6" name="Shape 4"/>
          <p:cNvSpPr/>
          <p:nvPr/>
        </p:nvSpPr>
        <p:spPr>
          <a:xfrm>
            <a:off x="7905750" y="3336131"/>
            <a:ext cx="4953000" cy="633413"/>
          </a:xfrm>
          <a:prstGeom prst="roundRect">
            <a:avLst>
              <a:gd name="adj" fmla="val 15038"/>
            </a:avLst>
          </a:prstGeom>
          <a:solidFill>
            <a:srgbClr val="F5EFE3"/>
          </a:solidFill>
          <a:ln w="9525">
            <a:solidFill>
              <a:srgbClr val="29211A">
                <a:alpha val="14000"/>
              </a:srgbClr>
            </a:solidFill>
            <a:prstDash val="solid"/>
          </a:ln>
        </p:spPr>
      </p:sp>
      <p:sp>
        <p:nvSpPr>
          <p:cNvPr id="7" name="Shape 5"/>
          <p:cNvSpPr/>
          <p:nvPr/>
        </p:nvSpPr>
        <p:spPr>
          <a:xfrm>
            <a:off x="8143875" y="3586163"/>
            <a:ext cx="133350" cy="133350"/>
          </a:xfrm>
          <a:prstGeom prst="ellipse">
            <a:avLst/>
          </a:prstGeom>
          <a:solidFill>
            <a:srgbClr val="6D9A54"/>
          </a:solidFill>
          <a:ln/>
        </p:spPr>
      </p:sp>
      <p:sp>
        <p:nvSpPr>
          <p:cNvPr id="8" name="Text 6"/>
          <p:cNvSpPr/>
          <p:nvPr/>
        </p:nvSpPr>
        <p:spPr>
          <a:xfrm>
            <a:off x="8429625" y="3517106"/>
            <a:ext cx="2918966" cy="309563"/>
          </a:xfrm>
          <a:prstGeom prst="rect">
            <a:avLst/>
          </a:prstGeom>
          <a:noFill/>
          <a:ln/>
        </p:spPr>
        <p:txBody>
          <a:bodyPr wrap="square" lIns="25400" tIns="25400" rIns="25400" bIns="25400" rtlCol="0" anchor="t">
            <a:normAutofit/>
          </a:bodyPr>
          <a:lstStyle/>
          <a:p>
            <a:pPr algn="l" indent="0" marL="0">
              <a:buNone/>
            </a:pPr>
            <a:r>
              <a:rPr lang="en-US" sz="1950" dirty="0">
                <a:solidFill>
                  <a:srgbClr val="29211A"/>
                </a:solidFill>
                <a:latin typeface="Arial" pitchFamily="34" charset="0"/>
                <a:ea typeface="Arial" pitchFamily="34" charset="-122"/>
                <a:cs typeface="Arial" pitchFamily="34" charset="-120"/>
              </a:rPr>
              <a:t>Shortlisted</a:t>
            </a:r>
            <a:endParaRPr lang="en-US" sz="1950" dirty="0"/>
          </a:p>
        </p:txBody>
      </p:sp>
      <p:sp>
        <p:nvSpPr>
          <p:cNvPr id="9" name="Text 7"/>
          <p:cNvSpPr/>
          <p:nvPr/>
        </p:nvSpPr>
        <p:spPr>
          <a:xfrm>
            <a:off x="11235630" y="3538538"/>
            <a:ext cx="1523494"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6D9A54"/>
                </a:solidFill>
                <a:latin typeface="Arial" pitchFamily="34" charset="0"/>
                <a:ea typeface="Arial" pitchFamily="34" charset="-122"/>
                <a:cs typeface="Arial" pitchFamily="34" charset="-120"/>
              </a:rPr>
              <a:t>taken forward</a:t>
            </a:r>
            <a:endParaRPr lang="en-US" sz="1800" dirty="0"/>
          </a:p>
        </p:txBody>
      </p:sp>
      <p:sp>
        <p:nvSpPr>
          <p:cNvPr id="10" name="Shape 8"/>
          <p:cNvSpPr/>
          <p:nvPr/>
        </p:nvSpPr>
        <p:spPr>
          <a:xfrm>
            <a:off x="7905750" y="4083844"/>
            <a:ext cx="4953000" cy="633413"/>
          </a:xfrm>
          <a:prstGeom prst="roundRect">
            <a:avLst>
              <a:gd name="adj" fmla="val 15038"/>
            </a:avLst>
          </a:prstGeom>
          <a:solidFill>
            <a:srgbClr val="F5EFE3">
              <a:alpha val="92000"/>
            </a:srgbClr>
          </a:solidFill>
          <a:ln w="9525">
            <a:solidFill>
              <a:srgbClr val="29211A">
                <a:alpha val="13000"/>
              </a:srgbClr>
            </a:solidFill>
            <a:prstDash val="solid"/>
          </a:ln>
        </p:spPr>
      </p:sp>
      <p:sp>
        <p:nvSpPr>
          <p:cNvPr id="11" name="Shape 9"/>
          <p:cNvSpPr/>
          <p:nvPr/>
        </p:nvSpPr>
        <p:spPr>
          <a:xfrm>
            <a:off x="8143875" y="4333875"/>
            <a:ext cx="133350" cy="133350"/>
          </a:xfrm>
          <a:prstGeom prst="ellipse">
            <a:avLst/>
          </a:prstGeom>
          <a:solidFill>
            <a:srgbClr val="D99B34">
              <a:alpha val="92000"/>
            </a:srgbClr>
          </a:solidFill>
          <a:ln/>
        </p:spPr>
      </p:sp>
      <p:sp>
        <p:nvSpPr>
          <p:cNvPr id="12" name="Text 10"/>
          <p:cNvSpPr/>
          <p:nvPr/>
        </p:nvSpPr>
        <p:spPr>
          <a:xfrm>
            <a:off x="8429625" y="4264819"/>
            <a:ext cx="3575692" cy="309563"/>
          </a:xfrm>
          <a:prstGeom prst="rect">
            <a:avLst/>
          </a:prstGeom>
          <a:noFill/>
          <a:ln/>
        </p:spPr>
        <p:txBody>
          <a:bodyPr wrap="square" lIns="25400" tIns="25400" rIns="25400" bIns="25400" rtlCol="0" anchor="t">
            <a:normAutofit/>
          </a:bodyPr>
          <a:lstStyle/>
          <a:p>
            <a:pPr algn="l" indent="0" marL="0">
              <a:buNone/>
            </a:pPr>
            <a:r>
              <a:rPr lang="en-US" sz="1950" dirty="0">
                <a:solidFill>
                  <a:srgbClr val="29211A">
                    <a:alpha val="92000"/>
                  </a:srgbClr>
                </a:solidFill>
                <a:latin typeface="Arial" pitchFamily="34" charset="0"/>
                <a:ea typeface="Arial" pitchFamily="34" charset="-122"/>
                <a:cs typeface="Arial" pitchFamily="34" charset="-120"/>
              </a:rPr>
              <a:t>Held with reasons</a:t>
            </a:r>
            <a:endParaRPr lang="en-US" sz="1950" dirty="0"/>
          </a:p>
        </p:txBody>
      </p:sp>
      <p:sp>
        <p:nvSpPr>
          <p:cNvPr id="13" name="Text 11"/>
          <p:cNvSpPr/>
          <p:nvPr/>
        </p:nvSpPr>
        <p:spPr>
          <a:xfrm>
            <a:off x="11832654" y="4286250"/>
            <a:ext cx="864171"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8A7A64">
                    <a:alpha val="92000"/>
                  </a:srgbClr>
                </a:solidFill>
                <a:latin typeface="Arial" pitchFamily="34" charset="0"/>
                <a:ea typeface="Arial" pitchFamily="34" charset="-122"/>
                <a:cs typeface="Arial" pitchFamily="34" charset="-120"/>
              </a:rPr>
              <a:t>backlog</a:t>
            </a:r>
            <a:endParaRPr lang="en-US" sz="1800" dirty="0"/>
          </a:p>
        </p:txBody>
      </p:sp>
      <p:sp>
        <p:nvSpPr>
          <p:cNvPr id="14" name="Shape 12"/>
          <p:cNvSpPr/>
          <p:nvPr/>
        </p:nvSpPr>
        <p:spPr>
          <a:xfrm>
            <a:off x="7905750" y="4831556"/>
            <a:ext cx="4953000" cy="633413"/>
          </a:xfrm>
          <a:prstGeom prst="roundRect">
            <a:avLst>
              <a:gd name="adj" fmla="val 15038"/>
            </a:avLst>
          </a:prstGeom>
          <a:solidFill>
            <a:srgbClr val="F5EFE3">
              <a:alpha val="84000"/>
            </a:srgbClr>
          </a:solidFill>
          <a:ln w="9525">
            <a:solidFill>
              <a:srgbClr val="29211A">
                <a:alpha val="12000"/>
              </a:srgbClr>
            </a:solidFill>
            <a:prstDash val="solid"/>
          </a:ln>
        </p:spPr>
      </p:sp>
      <p:sp>
        <p:nvSpPr>
          <p:cNvPr id="15" name="Shape 13"/>
          <p:cNvSpPr/>
          <p:nvPr/>
        </p:nvSpPr>
        <p:spPr>
          <a:xfrm>
            <a:off x="8143875" y="5081588"/>
            <a:ext cx="133350" cy="133350"/>
          </a:xfrm>
          <a:prstGeom prst="ellipse">
            <a:avLst/>
          </a:prstGeom>
          <a:solidFill>
            <a:srgbClr val="8A7A64">
              <a:alpha val="84000"/>
            </a:srgbClr>
          </a:solidFill>
          <a:ln/>
        </p:spPr>
      </p:sp>
      <p:sp>
        <p:nvSpPr>
          <p:cNvPr id="16" name="Text 14"/>
          <p:cNvSpPr/>
          <p:nvPr/>
        </p:nvSpPr>
        <p:spPr>
          <a:xfrm>
            <a:off x="8429625" y="5012531"/>
            <a:ext cx="3575692" cy="309563"/>
          </a:xfrm>
          <a:prstGeom prst="rect">
            <a:avLst/>
          </a:prstGeom>
          <a:noFill/>
          <a:ln/>
        </p:spPr>
        <p:txBody>
          <a:bodyPr wrap="square" lIns="25400" tIns="25400" rIns="25400" bIns="25400" rtlCol="0" anchor="t">
            <a:normAutofit/>
          </a:bodyPr>
          <a:lstStyle/>
          <a:p>
            <a:pPr algn="l" indent="0" marL="0">
              <a:buNone/>
            </a:pPr>
            <a:r>
              <a:rPr lang="en-US" sz="1950" dirty="0">
                <a:solidFill>
                  <a:srgbClr val="29211A">
                    <a:alpha val="84000"/>
                  </a:srgbClr>
                </a:solidFill>
                <a:latin typeface="Arial" pitchFamily="34" charset="0"/>
                <a:ea typeface="Arial" pitchFamily="34" charset="-122"/>
                <a:cs typeface="Arial" pitchFamily="34" charset="-120"/>
              </a:rPr>
              <a:t>Not now</a:t>
            </a:r>
            <a:endParaRPr lang="en-US" sz="1950" dirty="0"/>
          </a:p>
        </p:txBody>
      </p:sp>
      <p:sp>
        <p:nvSpPr>
          <p:cNvPr id="17" name="Text 15"/>
          <p:cNvSpPr/>
          <p:nvPr/>
        </p:nvSpPr>
        <p:spPr>
          <a:xfrm>
            <a:off x="11832654" y="5033963"/>
            <a:ext cx="864171"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8A7A64">
                    <a:alpha val="84000"/>
                  </a:srgbClr>
                </a:solidFill>
                <a:latin typeface="Arial" pitchFamily="34" charset="0"/>
                <a:ea typeface="Arial" pitchFamily="34" charset="-122"/>
                <a:cs typeface="Arial" pitchFamily="34" charset="-120"/>
              </a:rPr>
              <a:t>backlog</a:t>
            </a:r>
            <a:endParaRPr lang="en-US" sz="1800" dirty="0"/>
          </a:p>
        </p:txBody>
      </p:sp>
      <p:sp>
        <p:nvSpPr>
          <p:cNvPr id="18" name="Shape 16"/>
          <p:cNvSpPr/>
          <p:nvPr/>
        </p:nvSpPr>
        <p:spPr>
          <a:xfrm>
            <a:off x="7905750" y="5579269"/>
            <a:ext cx="4953000" cy="904875"/>
          </a:xfrm>
          <a:prstGeom prst="roundRect">
            <a:avLst>
              <a:gd name="adj" fmla="val 10526"/>
            </a:avLst>
          </a:prstGeom>
          <a:solidFill>
            <a:srgbClr val="F5EFE3">
              <a:alpha val="76000"/>
            </a:srgbClr>
          </a:solidFill>
          <a:ln w="9525">
            <a:solidFill>
              <a:srgbClr val="29211A">
                <a:alpha val="11000"/>
              </a:srgbClr>
            </a:solidFill>
            <a:prstDash val="solid"/>
          </a:ln>
        </p:spPr>
      </p:sp>
      <p:sp>
        <p:nvSpPr>
          <p:cNvPr id="19" name="Shape 17"/>
          <p:cNvSpPr/>
          <p:nvPr/>
        </p:nvSpPr>
        <p:spPr>
          <a:xfrm>
            <a:off x="8143875" y="5965031"/>
            <a:ext cx="133350" cy="133350"/>
          </a:xfrm>
          <a:prstGeom prst="ellipse">
            <a:avLst/>
          </a:prstGeom>
          <a:solidFill>
            <a:srgbClr val="8A7A64">
              <a:alpha val="76000"/>
            </a:srgbClr>
          </a:solidFill>
          <a:ln/>
        </p:spPr>
      </p:sp>
      <p:sp>
        <p:nvSpPr>
          <p:cNvPr id="20" name="Text 18"/>
          <p:cNvSpPr/>
          <p:nvPr/>
        </p:nvSpPr>
        <p:spPr>
          <a:xfrm>
            <a:off x="8429625" y="5760244"/>
            <a:ext cx="3348148" cy="581025"/>
          </a:xfrm>
          <a:prstGeom prst="rect">
            <a:avLst/>
          </a:prstGeom>
          <a:noFill/>
          <a:ln/>
        </p:spPr>
        <p:txBody>
          <a:bodyPr wrap="square" lIns="25400" tIns="25400" rIns="25400" bIns="25400" rtlCol="0" anchor="t">
            <a:normAutofit/>
          </a:bodyPr>
          <a:lstStyle/>
          <a:p>
            <a:pPr algn="l" indent="0" marL="0">
              <a:buNone/>
            </a:pPr>
            <a:r>
              <a:rPr lang="en-US" sz="1950" dirty="0">
                <a:solidFill>
                  <a:srgbClr val="29211A">
                    <a:alpha val="76000"/>
                  </a:srgbClr>
                </a:solidFill>
                <a:latin typeface="Arial" pitchFamily="34" charset="0"/>
                <a:ea typeface="Arial" pitchFamily="34" charset="-122"/>
                <a:cs typeface="Arial" pitchFamily="34" charset="-120"/>
              </a:rPr>
              <a:t>Revisit when a dependency lands</a:t>
            </a:r>
            <a:endParaRPr lang="en-US" sz="1950" dirty="0"/>
          </a:p>
        </p:txBody>
      </p:sp>
      <p:sp>
        <p:nvSpPr>
          <p:cNvPr id="21" name="Text 19"/>
          <p:cNvSpPr/>
          <p:nvPr/>
        </p:nvSpPr>
        <p:spPr>
          <a:xfrm>
            <a:off x="11832654" y="5917406"/>
            <a:ext cx="864171"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dirty="0">
                <a:solidFill>
                  <a:srgbClr val="8A7A64">
                    <a:alpha val="76000"/>
                  </a:srgbClr>
                </a:solidFill>
                <a:latin typeface="Arial" pitchFamily="34" charset="0"/>
                <a:ea typeface="Arial" pitchFamily="34" charset="-122"/>
                <a:cs typeface="Arial" pitchFamily="34" charset="-120"/>
              </a:rPr>
              <a:t>backlog</a:t>
            </a:r>
            <a:endParaRPr lang="en-US" sz="1800" dirty="0"/>
          </a:p>
        </p:txBody>
      </p:sp>
      <p:sp>
        <p:nvSpPr>
          <p:cNvPr id="22" name="Text 20"/>
          <p:cNvSpPr/>
          <p:nvPr/>
        </p:nvSpPr>
        <p:spPr>
          <a:xfrm>
            <a:off x="7658100" y="6674644"/>
            <a:ext cx="5448300" cy="390525"/>
          </a:xfrm>
          <a:prstGeom prst="rect">
            <a:avLst/>
          </a:prstGeom>
          <a:noFill/>
          <a:ln/>
        </p:spPr>
        <p:txBody>
          <a:bodyPr wrap="square" lIns="25400" tIns="25400" rIns="25400" bIns="25400" rtlCol="0" anchor="t">
            <a:normAutofit/>
          </a:bodyPr>
          <a:lstStyle/>
          <a:p>
            <a:pPr algn="ctr" indent="0" marL="0">
              <a:buNone/>
            </a:pPr>
            <a:r>
              <a:rPr lang="en-US" sz="2400" dirty="0">
                <a:solidFill>
                  <a:srgbClr val="CF4B2B"/>
                </a:solidFill>
                <a:latin typeface="Arial" pitchFamily="34" charset="0"/>
                <a:ea typeface="Arial" pitchFamily="34" charset="-122"/>
                <a:cs typeface="Arial" pitchFamily="34" charset="-120"/>
              </a:rPr>
              <a:t>they will check. mean it.</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9237818" cy="1320403"/>
          </a:xfrm>
          <a:prstGeom prst="rect">
            <a:avLst/>
          </a:prstGeom>
          <a:noFill/>
          <a:ln/>
        </p:spPr>
        <p:txBody>
          <a:bodyPr wrap="square" lIns="25400" tIns="25400" rIns="25400" bIns="25400" rtlCol="0" anchor="t">
            <a:normAutofit/>
          </a:bodyPr>
          <a:lstStyle/>
          <a:p>
            <a:pPr algn="l" indent="0" marL="0">
              <a:lnSpc>
                <a:spcPct val="89760"/>
              </a:lnSpc>
              <a:buNone/>
            </a:pPr>
            <a:r>
              <a:rPr lang="en-US" sz="4950" spc="-99" kern="0" dirty="0">
                <a:solidFill>
                  <a:srgbClr val="29211A"/>
                </a:solidFill>
                <a:latin typeface="Georgia" pitchFamily="34" charset="0"/>
                <a:ea typeface="Georgia" pitchFamily="34" charset="-122"/>
                <a:cs typeface="Georgia" pitchFamily="34" charset="-120"/>
              </a:rPr>
              <a:t>This morning: pain points. Now: a plan with evidence.</a:t>
            </a:r>
            <a:endParaRPr lang="en-US" sz="4950" dirty="0"/>
          </a:p>
        </p:txBody>
      </p:sp>
      <p:sp>
        <p:nvSpPr>
          <p:cNvPr id="4" name="Shape 2"/>
          <p:cNvSpPr/>
          <p:nvPr/>
        </p:nvSpPr>
        <p:spPr>
          <a:xfrm>
            <a:off x="1143000" y="6300788"/>
            <a:ext cx="7153275" cy="2628900"/>
          </a:xfrm>
          <a:prstGeom prst="roundRect">
            <a:avLst>
              <a:gd name="adj" fmla="val 5797"/>
            </a:avLst>
          </a:prstGeom>
          <a:solidFill>
            <a:srgbClr val="F5EFE3"/>
          </a:solidFill>
          <a:ln w="9525">
            <a:solidFill>
              <a:srgbClr val="29211A">
                <a:alpha val="14000"/>
              </a:srgbClr>
            </a:solidFill>
            <a:prstDash val="solid"/>
          </a:ln>
        </p:spPr>
      </p:sp>
      <p:sp>
        <p:nvSpPr>
          <p:cNvPr id="5" name="Text 3"/>
          <p:cNvSpPr/>
          <p:nvPr/>
        </p:nvSpPr>
        <p:spPr>
          <a:xfrm>
            <a:off x="1514475" y="6634163"/>
            <a:ext cx="7051358"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8A7A64"/>
                </a:solidFill>
                <a:latin typeface="Arial" pitchFamily="34" charset="0"/>
                <a:ea typeface="Arial" pitchFamily="34" charset="-122"/>
                <a:cs typeface="Arial" pitchFamily="34" charset="-120"/>
              </a:rPr>
              <a:t>THIS MORNING</a:t>
            </a:r>
            <a:endParaRPr lang="en-US" sz="1800" dirty="0"/>
          </a:p>
        </p:txBody>
      </p:sp>
      <p:sp>
        <p:nvSpPr>
          <p:cNvPr id="6" name="Text 4"/>
          <p:cNvSpPr/>
          <p:nvPr/>
        </p:nvSpPr>
        <p:spPr>
          <a:xfrm>
            <a:off x="1514475" y="7053263"/>
            <a:ext cx="7051358" cy="390525"/>
          </a:xfrm>
          <a:prstGeom prst="rect">
            <a:avLst/>
          </a:prstGeom>
          <a:noFill/>
          <a:ln/>
        </p:spPr>
        <p:txBody>
          <a:bodyPr wrap="square" lIns="25400" tIns="25400" rIns="25400" bIns="25400" rtlCol="0" anchor="t">
            <a:normAutofit/>
          </a:bodyPr>
          <a:lstStyle/>
          <a:p>
            <a:pPr algn="l" indent="0" marL="0">
              <a:buNone/>
            </a:pPr>
            <a:r>
              <a:rPr lang="en-US" sz="2400" dirty="0">
                <a:solidFill>
                  <a:srgbClr val="4A3F33"/>
                </a:solidFill>
                <a:latin typeface="Arial" pitchFamily="34" charset="0"/>
                <a:ea typeface="Arial" pitchFamily="34" charset="-122"/>
                <a:cs typeface="Arial" pitchFamily="34" charset="-120"/>
              </a:rPr>
              <a:t>"the report is wrong"</a:t>
            </a:r>
            <a:endParaRPr lang="en-US" sz="2400" dirty="0"/>
          </a:p>
        </p:txBody>
      </p:sp>
      <p:sp>
        <p:nvSpPr>
          <p:cNvPr id="7" name="Text 5"/>
          <p:cNvSpPr/>
          <p:nvPr/>
        </p:nvSpPr>
        <p:spPr>
          <a:xfrm>
            <a:off x="1514475" y="7519988"/>
            <a:ext cx="7051358" cy="390525"/>
          </a:xfrm>
          <a:prstGeom prst="rect">
            <a:avLst/>
          </a:prstGeom>
          <a:noFill/>
          <a:ln/>
        </p:spPr>
        <p:txBody>
          <a:bodyPr wrap="square" lIns="25400" tIns="25400" rIns="25400" bIns="25400" rtlCol="0" anchor="t">
            <a:normAutofit/>
          </a:bodyPr>
          <a:lstStyle/>
          <a:p>
            <a:pPr algn="l" indent="0" marL="0">
              <a:buNone/>
            </a:pPr>
            <a:r>
              <a:rPr lang="en-US" sz="2400" dirty="0">
                <a:solidFill>
                  <a:srgbClr val="4A3F33"/>
                </a:solidFill>
                <a:latin typeface="Arial" pitchFamily="34" charset="0"/>
                <a:ea typeface="Arial" pitchFamily="34" charset="-122"/>
                <a:cs typeface="Arial" pitchFamily="34" charset="-120"/>
              </a:rPr>
              <a:t>"too many tools"</a:t>
            </a:r>
            <a:endParaRPr lang="en-US" sz="2400" dirty="0"/>
          </a:p>
        </p:txBody>
      </p:sp>
      <p:sp>
        <p:nvSpPr>
          <p:cNvPr id="8" name="Text 6"/>
          <p:cNvSpPr/>
          <p:nvPr/>
        </p:nvSpPr>
        <p:spPr>
          <a:xfrm>
            <a:off x="1514475" y="7986713"/>
            <a:ext cx="7051358" cy="390525"/>
          </a:xfrm>
          <a:prstGeom prst="rect">
            <a:avLst/>
          </a:prstGeom>
          <a:noFill/>
          <a:ln/>
        </p:spPr>
        <p:txBody>
          <a:bodyPr wrap="square" lIns="25400" tIns="25400" rIns="25400" bIns="25400" rtlCol="0" anchor="t">
            <a:normAutofit/>
          </a:bodyPr>
          <a:lstStyle/>
          <a:p>
            <a:pPr algn="l" indent="0" marL="0">
              <a:buNone/>
            </a:pPr>
            <a:r>
              <a:rPr lang="en-US" sz="2400" dirty="0">
                <a:solidFill>
                  <a:srgbClr val="4A3F33"/>
                </a:solidFill>
                <a:latin typeface="Arial" pitchFamily="34" charset="0"/>
                <a:ea typeface="Arial" pitchFamily="34" charset="-122"/>
                <a:cs typeface="Arial" pitchFamily="34" charset="-120"/>
              </a:rPr>
              <a:t>"the form is endless"</a:t>
            </a:r>
            <a:endParaRPr lang="en-US" sz="24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15375" y="7329488"/>
            <a:ext cx="857250" cy="571500"/>
          </a:xfrm>
          <a:prstGeom prst="rect">
            <a:avLst/>
          </a:prstGeom>
        </p:spPr>
      </p:pic>
      <p:sp>
        <p:nvSpPr>
          <p:cNvPr id="10" name="Shape 7"/>
          <p:cNvSpPr/>
          <p:nvPr/>
        </p:nvSpPr>
        <p:spPr>
          <a:xfrm>
            <a:off x="9991725" y="6300788"/>
            <a:ext cx="7153275" cy="2628900"/>
          </a:xfrm>
          <a:prstGeom prst="roundRect">
            <a:avLst>
              <a:gd name="adj" fmla="val 5797"/>
            </a:avLst>
          </a:prstGeom>
          <a:solidFill>
            <a:srgbClr val="F5EFE3"/>
          </a:solidFill>
          <a:ln w="9525">
            <a:solidFill>
              <a:srgbClr val="29211A">
                <a:alpha val="14000"/>
              </a:srgbClr>
            </a:solidFill>
            <a:prstDash val="solid"/>
          </a:ln>
        </p:spPr>
      </p:sp>
      <p:sp>
        <p:nvSpPr>
          <p:cNvPr id="11" name="Text 8"/>
          <p:cNvSpPr/>
          <p:nvPr/>
        </p:nvSpPr>
        <p:spPr>
          <a:xfrm>
            <a:off x="10363200" y="6634163"/>
            <a:ext cx="7051358"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88" kern="0" dirty="0">
                <a:solidFill>
                  <a:srgbClr val="CF4B2B"/>
                </a:solidFill>
                <a:latin typeface="Arial" pitchFamily="34" charset="0"/>
                <a:ea typeface="Arial" pitchFamily="34" charset="-122"/>
                <a:cs typeface="Arial" pitchFamily="34" charset="-120"/>
              </a:rPr>
              <a:t>NOW</a:t>
            </a:r>
            <a:endParaRPr lang="en-US" sz="1800" dirty="0"/>
          </a:p>
        </p:txBody>
      </p:sp>
      <p:sp>
        <p:nvSpPr>
          <p:cNvPr id="12" name="Text 9"/>
          <p:cNvSpPr/>
          <p:nvPr/>
        </p:nvSpPr>
        <p:spPr>
          <a:xfrm>
            <a:off x="10363200" y="7053263"/>
            <a:ext cx="7051358" cy="323850"/>
          </a:xfrm>
          <a:prstGeom prst="rect">
            <a:avLst/>
          </a:prstGeom>
          <a:noFill/>
          <a:ln/>
        </p:spPr>
        <p:txBody>
          <a:bodyPr wrap="square" lIns="25400" tIns="25400" rIns="25400" bIns="25400" rtlCol="0" anchor="t">
            <a:normAutofit/>
          </a:bodyPr>
          <a:lstStyle/>
          <a:p>
            <a:pPr algn="l" indent="0" marL="0">
              <a:buNone/>
            </a:pPr>
            <a:r>
              <a:rPr lang="en-US" sz="2250" dirty="0">
                <a:solidFill>
                  <a:srgbClr val="29211A"/>
                </a:solidFill>
                <a:latin typeface="Georgia" pitchFamily="34" charset="0"/>
                <a:ea typeface="Georgia" pitchFamily="34" charset="-122"/>
                <a:cs typeface="Georgia" pitchFamily="34" charset="-120"/>
              </a:rPr>
              <a:t>Framed problems</a:t>
            </a:r>
            <a:endParaRPr lang="en-US" sz="2250" dirty="0"/>
          </a:p>
        </p:txBody>
      </p:sp>
      <p:sp>
        <p:nvSpPr>
          <p:cNvPr id="13" name="Text 10"/>
          <p:cNvSpPr/>
          <p:nvPr/>
        </p:nvSpPr>
        <p:spPr>
          <a:xfrm>
            <a:off x="10363200" y="7472363"/>
            <a:ext cx="7051358" cy="323850"/>
          </a:xfrm>
          <a:prstGeom prst="rect">
            <a:avLst/>
          </a:prstGeom>
          <a:noFill/>
          <a:ln/>
        </p:spPr>
        <p:txBody>
          <a:bodyPr wrap="square" lIns="25400" tIns="25400" rIns="25400" bIns="25400" rtlCol="0" anchor="t">
            <a:normAutofit/>
          </a:bodyPr>
          <a:lstStyle/>
          <a:p>
            <a:pPr algn="l" indent="0" marL="0">
              <a:buNone/>
            </a:pPr>
            <a:r>
              <a:rPr lang="en-US" sz="2250" dirty="0">
                <a:solidFill>
                  <a:srgbClr val="29211A"/>
                </a:solidFill>
                <a:latin typeface="Georgia" pitchFamily="34" charset="0"/>
                <a:ea typeface="Georgia" pitchFamily="34" charset="-122"/>
                <a:cs typeface="Georgia" pitchFamily="34" charset="-120"/>
              </a:rPr>
              <a:t>Concepts you made</a:t>
            </a:r>
            <a:endParaRPr lang="en-US" sz="2250" dirty="0"/>
          </a:p>
        </p:txBody>
      </p:sp>
      <p:sp>
        <p:nvSpPr>
          <p:cNvPr id="14" name="Text 11"/>
          <p:cNvSpPr/>
          <p:nvPr/>
        </p:nvSpPr>
        <p:spPr>
          <a:xfrm>
            <a:off x="10363200" y="7891463"/>
            <a:ext cx="7051358" cy="323850"/>
          </a:xfrm>
          <a:prstGeom prst="rect">
            <a:avLst/>
          </a:prstGeom>
          <a:noFill/>
          <a:ln/>
        </p:spPr>
        <p:txBody>
          <a:bodyPr wrap="square" lIns="25400" tIns="25400" rIns="25400" bIns="25400" rtlCol="0" anchor="t">
            <a:normAutofit/>
          </a:bodyPr>
          <a:lstStyle/>
          <a:p>
            <a:pPr algn="l" indent="0" marL="0">
              <a:buNone/>
            </a:pPr>
            <a:r>
              <a:rPr lang="en-US" sz="2250" dirty="0">
                <a:solidFill>
                  <a:srgbClr val="29211A"/>
                </a:solidFill>
                <a:latin typeface="Georgia" pitchFamily="34" charset="0"/>
                <a:ea typeface="Georgia" pitchFamily="34" charset="-122"/>
                <a:cs typeface="Georgia" pitchFamily="34" charset="-120"/>
              </a:rPr>
              <a:t>Honest feasibility</a:t>
            </a:r>
            <a:endParaRPr lang="en-US" sz="2250" dirty="0"/>
          </a:p>
        </p:txBody>
      </p:sp>
      <p:sp>
        <p:nvSpPr>
          <p:cNvPr id="15" name="Text 12"/>
          <p:cNvSpPr/>
          <p:nvPr/>
        </p:nvSpPr>
        <p:spPr>
          <a:xfrm>
            <a:off x="10363200" y="8310562"/>
            <a:ext cx="7051358" cy="323850"/>
          </a:xfrm>
          <a:prstGeom prst="rect">
            <a:avLst/>
          </a:prstGeom>
          <a:noFill/>
          <a:ln/>
        </p:spPr>
        <p:txBody>
          <a:bodyPr wrap="square" lIns="25400" tIns="25400" rIns="25400" bIns="25400" rtlCol="0" anchor="t">
            <a:normAutofit/>
          </a:bodyPr>
          <a:lstStyle/>
          <a:p>
            <a:pPr algn="l" indent="0" marL="0">
              <a:buNone/>
            </a:pPr>
            <a:r>
              <a:rPr lang="en-US" sz="2250" dirty="0">
                <a:solidFill>
                  <a:srgbClr val="29211A"/>
                </a:solidFill>
                <a:latin typeface="Georgia" pitchFamily="34" charset="0"/>
                <a:ea typeface="Georgia" pitchFamily="34" charset="-122"/>
                <a:cs typeface="Georgia" pitchFamily="34" charset="-120"/>
              </a:rPr>
              <a:t>An agreed sequence</a:t>
            </a:r>
            <a:endParaRPr lang="en-US" sz="2250" dirty="0"/>
          </a:p>
        </p:txBody>
      </p:sp>
      <p:sp>
        <p:nvSpPr>
          <p:cNvPr id="16" name="Text 13"/>
          <p:cNvSpPr/>
          <p:nvPr/>
        </p:nvSpPr>
        <p:spPr>
          <a:xfrm>
            <a:off x="1143000" y="9215438"/>
            <a:ext cx="17602200" cy="309563"/>
          </a:xfrm>
          <a:prstGeom prst="rect">
            <a:avLst/>
          </a:prstGeom>
          <a:noFill/>
          <a:ln/>
        </p:spPr>
        <p:txBody>
          <a:bodyPr wrap="square" lIns="25400" tIns="25400" rIns="25400" bIns="25400" rtlCol="0" anchor="t">
            <a:normAutofit/>
          </a:bodyPr>
          <a:lstStyle/>
          <a:p>
            <a:pPr algn="l" indent="0" marL="0">
              <a:buNone/>
            </a:pPr>
            <a:r>
              <a:rPr lang="en-US" sz="1950" dirty="0">
                <a:solidFill>
                  <a:srgbClr val="4A3F33"/>
                </a:solidFill>
                <a:latin typeface="Arial" pitchFamily="34" charset="0"/>
                <a:ea typeface="Arial" pitchFamily="34" charset="-122"/>
                <a:cs typeface="Arial" pitchFamily="34" charset="-120"/>
              </a:rPr>
              <a:t>Every item carries both sides of the story — the job and the cost. That's what usually goes missing.</a:t>
            </a:r>
            <a:endParaRPr lang="en-US" sz="1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6201A"/>
        </a:solidFill>
      </p:bgPr>
    </p:bg>
    <p:spTree>
      <p:nvGrpSpPr>
        <p:cNvPr id="1" name=""/>
        <p:cNvGrpSpPr/>
        <p:nvPr/>
      </p:nvGrpSpPr>
      <p:grpSpPr>
        <a:xfrm>
          <a:off x="0" y="0"/>
          <a:ext cx="0" cy="0"/>
          <a:chOff x="0" y="0"/>
          <a:chExt cx="0" cy="0"/>
        </a:xfrm>
      </p:grpSpPr>
      <p:sp>
        <p:nvSpPr>
          <p:cNvPr id="2" name="Text 0"/>
          <p:cNvSpPr/>
          <p:nvPr/>
        </p:nvSpPr>
        <p:spPr>
          <a:xfrm>
            <a:off x="1143000" y="3663479"/>
            <a:ext cx="1278255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504" kern="0" dirty="0">
                <a:solidFill>
                  <a:srgbClr val="D99B34"/>
                </a:solidFill>
                <a:latin typeface="Arial" pitchFamily="34" charset="0"/>
                <a:ea typeface="Arial" pitchFamily="34" charset="-122"/>
                <a:cs typeface="Arial" pitchFamily="34" charset="-120"/>
              </a:rPr>
              <a:t>BLOCK 5 · CLOSING</a:t>
            </a:r>
            <a:endParaRPr lang="en-US" sz="1800" dirty="0"/>
          </a:p>
        </p:txBody>
      </p:sp>
      <p:sp>
        <p:nvSpPr>
          <p:cNvPr id="3" name="Text 1"/>
          <p:cNvSpPr/>
          <p:nvPr/>
        </p:nvSpPr>
        <p:spPr>
          <a:xfrm>
            <a:off x="1143000" y="4177829"/>
            <a:ext cx="12782550" cy="893043"/>
          </a:xfrm>
          <a:prstGeom prst="rect">
            <a:avLst/>
          </a:prstGeom>
          <a:noFill/>
          <a:ln/>
        </p:spPr>
        <p:txBody>
          <a:bodyPr wrap="square" lIns="25400" tIns="25400" rIns="25400" bIns="25400" rtlCol="0" anchor="t">
            <a:normAutofit/>
          </a:bodyPr>
          <a:lstStyle/>
          <a:p>
            <a:pPr algn="l" indent="0" marL="0">
              <a:lnSpc>
                <a:spcPct val="89760"/>
              </a:lnSpc>
              <a:buNone/>
            </a:pPr>
            <a:r>
              <a:rPr lang="en-US" sz="6600" spc="-132" kern="0" dirty="0">
                <a:solidFill>
                  <a:srgbClr val="F5EFE3"/>
                </a:solidFill>
                <a:latin typeface="Georgia" pitchFamily="34" charset="0"/>
                <a:ea typeface="Georgia" pitchFamily="34" charset="-122"/>
                <a:cs typeface="Georgia" pitchFamily="34" charset="-120"/>
              </a:rPr>
              <a:t>What happens next</a:t>
            </a:r>
            <a:endParaRPr lang="en-US" sz="6600" dirty="0"/>
          </a:p>
        </p:txBody>
      </p:sp>
      <p:sp>
        <p:nvSpPr>
          <p:cNvPr id="4" name="Text 2"/>
          <p:cNvSpPr/>
          <p:nvPr/>
        </p:nvSpPr>
        <p:spPr>
          <a:xfrm>
            <a:off x="1143000" y="5413772"/>
            <a:ext cx="5056752"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C8B9A2"/>
                </a:solidFill>
                <a:latin typeface="Arial" pitchFamily="34" charset="0"/>
                <a:ea typeface="Arial" pitchFamily="34" charset="-122"/>
                <a:cs typeface="Arial" pitchFamily="34" charset="-120"/>
              </a:rPr>
              <a:t>You've all been to a workshop that produced nothing. This is the part that decides whether this was one.</a:t>
            </a:r>
            <a:endParaRPr lang="en-US" sz="2250" dirty="0"/>
          </a:p>
        </p:txBody>
      </p:sp>
      <p:sp>
        <p:nvSpPr>
          <p:cNvPr id="5" name="Shape 3"/>
          <p:cNvSpPr/>
          <p:nvPr/>
        </p:nvSpPr>
        <p:spPr>
          <a:xfrm>
            <a:off x="13525500" y="3648075"/>
            <a:ext cx="3619500" cy="3067050"/>
          </a:xfrm>
          <a:prstGeom prst="roundRect">
            <a:avLst>
              <a:gd name="adj" fmla="val 4969"/>
            </a:avLst>
          </a:prstGeom>
          <a:solidFill>
            <a:srgbClr val="F4EEE2"/>
          </a:solidFill>
          <a:ln/>
          <a:effectLst>
            <a:outerShdw sx="100000" sy="100000" kx="0" ky="0" algn="bl" rotWithShape="0" blurRad="476250" dist="228600" dir="5400000">
              <a:srgbClr val="000000">
                <a:alpha val="40000"/>
              </a:srgbClr>
            </a:outerShdw>
          </a:effectLst>
        </p:spPr>
      </p:sp>
      <p:sp>
        <p:nvSpPr>
          <p:cNvPr id="6" name="Shape 4"/>
          <p:cNvSpPr/>
          <p:nvPr/>
        </p:nvSpPr>
        <p:spPr>
          <a:xfrm>
            <a:off x="13525500" y="3648075"/>
            <a:ext cx="3619500" cy="590550"/>
          </a:xfrm>
          <a:prstGeom prst="rect">
            <a:avLst/>
          </a:prstGeom>
          <a:solidFill>
            <a:srgbClr val="CF4B2B"/>
          </a:solidFill>
          <a:ln/>
        </p:spPr>
      </p:sp>
      <p:sp>
        <p:nvSpPr>
          <p:cNvPr id="7" name="Text 5"/>
          <p:cNvSpPr/>
          <p:nvPr/>
        </p:nvSpPr>
        <p:spPr>
          <a:xfrm>
            <a:off x="13773150" y="3819525"/>
            <a:ext cx="3232785"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b="1" spc="78" kern="0" dirty="0">
                <a:solidFill>
                  <a:srgbClr val="FFFFFF"/>
                </a:solidFill>
                <a:latin typeface="Arial" pitchFamily="34" charset="0"/>
                <a:ea typeface="Arial" pitchFamily="34" charset="-122"/>
                <a:cs typeface="Arial" pitchFamily="34" charset="-120"/>
              </a:rPr>
              <a:t>This month</a:t>
            </a:r>
            <a:endParaRPr lang="en-US" sz="1950" dirty="0"/>
          </a:p>
        </p:txBody>
      </p:sp>
      <p:sp>
        <p:nvSpPr>
          <p:cNvPr id="8" name="Text 6"/>
          <p:cNvSpPr/>
          <p:nvPr/>
        </p:nvSpPr>
        <p:spPr>
          <a:xfrm>
            <a:off x="13735050" y="45815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M</a:t>
            </a:r>
            <a:endParaRPr lang="en-US" sz="1800" dirty="0"/>
          </a:p>
        </p:txBody>
      </p:sp>
      <p:sp>
        <p:nvSpPr>
          <p:cNvPr id="9" name="Text 7"/>
          <p:cNvSpPr/>
          <p:nvPr/>
        </p:nvSpPr>
        <p:spPr>
          <a:xfrm>
            <a:off x="14192250" y="45815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T</a:t>
            </a:r>
            <a:endParaRPr lang="en-US" sz="1800" dirty="0"/>
          </a:p>
        </p:txBody>
      </p:sp>
      <p:sp>
        <p:nvSpPr>
          <p:cNvPr id="10" name="Text 8"/>
          <p:cNvSpPr/>
          <p:nvPr/>
        </p:nvSpPr>
        <p:spPr>
          <a:xfrm>
            <a:off x="14649450" y="45815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W</a:t>
            </a:r>
            <a:endParaRPr lang="en-US" sz="1800" dirty="0"/>
          </a:p>
        </p:txBody>
      </p:sp>
      <p:sp>
        <p:nvSpPr>
          <p:cNvPr id="11" name="Text 9"/>
          <p:cNvSpPr/>
          <p:nvPr/>
        </p:nvSpPr>
        <p:spPr>
          <a:xfrm>
            <a:off x="15106650" y="45815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T</a:t>
            </a:r>
            <a:endParaRPr lang="en-US" sz="1800" dirty="0"/>
          </a:p>
        </p:txBody>
      </p:sp>
      <p:sp>
        <p:nvSpPr>
          <p:cNvPr id="12" name="Text 10"/>
          <p:cNvSpPr/>
          <p:nvPr/>
        </p:nvSpPr>
        <p:spPr>
          <a:xfrm>
            <a:off x="15563850" y="45815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F</a:t>
            </a:r>
            <a:endParaRPr lang="en-US" sz="1800" dirty="0"/>
          </a:p>
        </p:txBody>
      </p:sp>
      <p:sp>
        <p:nvSpPr>
          <p:cNvPr id="13" name="Text 11"/>
          <p:cNvSpPr/>
          <p:nvPr/>
        </p:nvSpPr>
        <p:spPr>
          <a:xfrm>
            <a:off x="16021050" y="45815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S</a:t>
            </a:r>
            <a:endParaRPr lang="en-US" sz="1800" dirty="0"/>
          </a:p>
        </p:txBody>
      </p:sp>
      <p:sp>
        <p:nvSpPr>
          <p:cNvPr id="14" name="Text 12"/>
          <p:cNvSpPr/>
          <p:nvPr/>
        </p:nvSpPr>
        <p:spPr>
          <a:xfrm>
            <a:off x="16478250" y="45815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S</a:t>
            </a:r>
            <a:endParaRPr lang="en-US" sz="1800" dirty="0"/>
          </a:p>
        </p:txBody>
      </p:sp>
      <p:sp>
        <p:nvSpPr>
          <p:cNvPr id="15" name="Text 13"/>
          <p:cNvSpPr/>
          <p:nvPr/>
        </p:nvSpPr>
        <p:spPr>
          <a:xfrm>
            <a:off x="13735050" y="50958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1</a:t>
            </a:r>
            <a:endParaRPr lang="en-US" sz="1800" dirty="0"/>
          </a:p>
        </p:txBody>
      </p:sp>
      <p:sp>
        <p:nvSpPr>
          <p:cNvPr id="16" name="Text 14"/>
          <p:cNvSpPr/>
          <p:nvPr/>
        </p:nvSpPr>
        <p:spPr>
          <a:xfrm>
            <a:off x="14192250" y="50958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2</a:t>
            </a:r>
            <a:endParaRPr lang="en-US" sz="1800" dirty="0"/>
          </a:p>
        </p:txBody>
      </p:sp>
      <p:sp>
        <p:nvSpPr>
          <p:cNvPr id="17" name="Shape 15"/>
          <p:cNvSpPr/>
          <p:nvPr/>
        </p:nvSpPr>
        <p:spPr>
          <a:xfrm>
            <a:off x="14687550" y="5000625"/>
            <a:ext cx="381000" cy="438150"/>
          </a:xfrm>
          <a:prstGeom prst="roundRect">
            <a:avLst>
              <a:gd name="adj" fmla="val 20000"/>
            </a:avLst>
          </a:prstGeom>
          <a:solidFill>
            <a:srgbClr val="6D9A54"/>
          </a:solidFill>
          <a:ln/>
        </p:spPr>
      </p:sp>
      <p:sp>
        <p:nvSpPr>
          <p:cNvPr id="18" name="Text 16"/>
          <p:cNvSpPr/>
          <p:nvPr/>
        </p:nvSpPr>
        <p:spPr>
          <a:xfrm>
            <a:off x="14649450" y="50958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FFFFFF"/>
                </a:solidFill>
                <a:latin typeface="Arial" pitchFamily="34" charset="0"/>
                <a:ea typeface="Arial" pitchFamily="34" charset="-122"/>
                <a:cs typeface="Arial" pitchFamily="34" charset="-120"/>
              </a:rPr>
              <a:t>3</a:t>
            </a:r>
            <a:endParaRPr lang="en-US" sz="1800" dirty="0"/>
          </a:p>
        </p:txBody>
      </p:sp>
      <p:sp>
        <p:nvSpPr>
          <p:cNvPr id="19" name="Text 17"/>
          <p:cNvSpPr/>
          <p:nvPr/>
        </p:nvSpPr>
        <p:spPr>
          <a:xfrm>
            <a:off x="15106650" y="50958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4</a:t>
            </a:r>
            <a:endParaRPr lang="en-US" sz="1800" dirty="0"/>
          </a:p>
        </p:txBody>
      </p:sp>
      <p:sp>
        <p:nvSpPr>
          <p:cNvPr id="20" name="Text 18"/>
          <p:cNvSpPr/>
          <p:nvPr/>
        </p:nvSpPr>
        <p:spPr>
          <a:xfrm>
            <a:off x="15563850" y="50958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5</a:t>
            </a:r>
            <a:endParaRPr lang="en-US" sz="1800" dirty="0"/>
          </a:p>
        </p:txBody>
      </p:sp>
      <p:sp>
        <p:nvSpPr>
          <p:cNvPr id="21" name="Text 19"/>
          <p:cNvSpPr/>
          <p:nvPr/>
        </p:nvSpPr>
        <p:spPr>
          <a:xfrm>
            <a:off x="16021050" y="50958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6</a:t>
            </a:r>
            <a:endParaRPr lang="en-US" sz="1800" dirty="0"/>
          </a:p>
        </p:txBody>
      </p:sp>
      <p:sp>
        <p:nvSpPr>
          <p:cNvPr id="22" name="Text 20"/>
          <p:cNvSpPr/>
          <p:nvPr/>
        </p:nvSpPr>
        <p:spPr>
          <a:xfrm>
            <a:off x="16478250" y="50958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7</a:t>
            </a:r>
            <a:endParaRPr lang="en-US" sz="1800" dirty="0"/>
          </a:p>
        </p:txBody>
      </p:sp>
      <p:sp>
        <p:nvSpPr>
          <p:cNvPr id="23" name="Text 21"/>
          <p:cNvSpPr/>
          <p:nvPr/>
        </p:nvSpPr>
        <p:spPr>
          <a:xfrm>
            <a:off x="13735050" y="56102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8</a:t>
            </a:r>
            <a:endParaRPr lang="en-US" sz="1800" dirty="0"/>
          </a:p>
        </p:txBody>
      </p:sp>
      <p:sp>
        <p:nvSpPr>
          <p:cNvPr id="24" name="Text 22"/>
          <p:cNvSpPr/>
          <p:nvPr/>
        </p:nvSpPr>
        <p:spPr>
          <a:xfrm>
            <a:off x="14192250" y="56102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9</a:t>
            </a:r>
            <a:endParaRPr lang="en-US" sz="1800" dirty="0"/>
          </a:p>
        </p:txBody>
      </p:sp>
      <p:sp>
        <p:nvSpPr>
          <p:cNvPr id="25" name="Text 23"/>
          <p:cNvSpPr/>
          <p:nvPr/>
        </p:nvSpPr>
        <p:spPr>
          <a:xfrm>
            <a:off x="14649450" y="56102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10</a:t>
            </a:r>
            <a:endParaRPr lang="en-US" sz="1800" dirty="0"/>
          </a:p>
        </p:txBody>
      </p:sp>
      <p:sp>
        <p:nvSpPr>
          <p:cNvPr id="26" name="Shape 24"/>
          <p:cNvSpPr/>
          <p:nvPr/>
        </p:nvSpPr>
        <p:spPr>
          <a:xfrm>
            <a:off x="15144750" y="5514975"/>
            <a:ext cx="381000" cy="438150"/>
          </a:xfrm>
          <a:prstGeom prst="roundRect">
            <a:avLst>
              <a:gd name="adj" fmla="val 20000"/>
            </a:avLst>
          </a:prstGeom>
          <a:solidFill>
            <a:srgbClr val="D99B34"/>
          </a:solidFill>
          <a:ln/>
        </p:spPr>
      </p:sp>
      <p:sp>
        <p:nvSpPr>
          <p:cNvPr id="27" name="Text 25"/>
          <p:cNvSpPr/>
          <p:nvPr/>
        </p:nvSpPr>
        <p:spPr>
          <a:xfrm>
            <a:off x="15106650" y="56102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FFFFFF"/>
                </a:solidFill>
                <a:latin typeface="Arial" pitchFamily="34" charset="0"/>
                <a:ea typeface="Arial" pitchFamily="34" charset="-122"/>
                <a:cs typeface="Arial" pitchFamily="34" charset="-120"/>
              </a:rPr>
              <a:t>11</a:t>
            </a:r>
            <a:endParaRPr lang="en-US" sz="1800" dirty="0"/>
          </a:p>
        </p:txBody>
      </p:sp>
      <p:sp>
        <p:nvSpPr>
          <p:cNvPr id="28" name="Text 26"/>
          <p:cNvSpPr/>
          <p:nvPr/>
        </p:nvSpPr>
        <p:spPr>
          <a:xfrm>
            <a:off x="15563850" y="56102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12</a:t>
            </a:r>
            <a:endParaRPr lang="en-US" sz="1800" dirty="0"/>
          </a:p>
        </p:txBody>
      </p:sp>
      <p:sp>
        <p:nvSpPr>
          <p:cNvPr id="29" name="Text 27"/>
          <p:cNvSpPr/>
          <p:nvPr/>
        </p:nvSpPr>
        <p:spPr>
          <a:xfrm>
            <a:off x="16021050" y="56102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13</a:t>
            </a:r>
            <a:endParaRPr lang="en-US" sz="1800" dirty="0"/>
          </a:p>
        </p:txBody>
      </p:sp>
      <p:sp>
        <p:nvSpPr>
          <p:cNvPr id="30" name="Text 28"/>
          <p:cNvSpPr/>
          <p:nvPr/>
        </p:nvSpPr>
        <p:spPr>
          <a:xfrm>
            <a:off x="16478250" y="561022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14</a:t>
            </a:r>
            <a:endParaRPr lang="en-US" sz="1800" dirty="0"/>
          </a:p>
        </p:txBody>
      </p:sp>
      <p:sp>
        <p:nvSpPr>
          <p:cNvPr id="31" name="Text 29"/>
          <p:cNvSpPr/>
          <p:nvPr/>
        </p:nvSpPr>
        <p:spPr>
          <a:xfrm>
            <a:off x="13735050" y="61245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15</a:t>
            </a:r>
            <a:endParaRPr lang="en-US" sz="1800" dirty="0"/>
          </a:p>
        </p:txBody>
      </p:sp>
      <p:sp>
        <p:nvSpPr>
          <p:cNvPr id="32" name="Text 30"/>
          <p:cNvSpPr/>
          <p:nvPr/>
        </p:nvSpPr>
        <p:spPr>
          <a:xfrm>
            <a:off x="14192250" y="61245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16</a:t>
            </a:r>
            <a:endParaRPr lang="en-US" sz="1800" dirty="0"/>
          </a:p>
        </p:txBody>
      </p:sp>
      <p:sp>
        <p:nvSpPr>
          <p:cNvPr id="33" name="Text 31"/>
          <p:cNvSpPr/>
          <p:nvPr/>
        </p:nvSpPr>
        <p:spPr>
          <a:xfrm>
            <a:off x="14649450" y="61245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17</a:t>
            </a:r>
            <a:endParaRPr lang="en-US" sz="1800" dirty="0"/>
          </a:p>
        </p:txBody>
      </p:sp>
      <p:sp>
        <p:nvSpPr>
          <p:cNvPr id="34" name="Text 32"/>
          <p:cNvSpPr/>
          <p:nvPr/>
        </p:nvSpPr>
        <p:spPr>
          <a:xfrm>
            <a:off x="15106650" y="61245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29211A"/>
                </a:solidFill>
                <a:latin typeface="Arial" pitchFamily="34" charset="0"/>
                <a:ea typeface="Arial" pitchFamily="34" charset="-122"/>
                <a:cs typeface="Arial" pitchFamily="34" charset="-120"/>
              </a:rPr>
              <a:t>18</a:t>
            </a:r>
            <a:endParaRPr lang="en-US" sz="1800" dirty="0"/>
          </a:p>
        </p:txBody>
      </p:sp>
      <p:sp>
        <p:nvSpPr>
          <p:cNvPr id="35" name="Shape 33"/>
          <p:cNvSpPr/>
          <p:nvPr/>
        </p:nvSpPr>
        <p:spPr>
          <a:xfrm>
            <a:off x="15601950" y="6029325"/>
            <a:ext cx="381000" cy="438150"/>
          </a:xfrm>
          <a:prstGeom prst="roundRect">
            <a:avLst>
              <a:gd name="adj" fmla="val 20000"/>
            </a:avLst>
          </a:prstGeom>
          <a:solidFill>
            <a:srgbClr val="2F6F86"/>
          </a:solidFill>
          <a:ln/>
        </p:spPr>
      </p:sp>
      <p:sp>
        <p:nvSpPr>
          <p:cNvPr id="36" name="Text 34"/>
          <p:cNvSpPr/>
          <p:nvPr/>
        </p:nvSpPr>
        <p:spPr>
          <a:xfrm>
            <a:off x="15563850" y="61245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FFFFFF"/>
                </a:solidFill>
                <a:latin typeface="Arial" pitchFamily="34" charset="0"/>
                <a:ea typeface="Arial" pitchFamily="34" charset="-122"/>
                <a:cs typeface="Arial" pitchFamily="34" charset="-120"/>
              </a:rPr>
              <a:t>19</a:t>
            </a:r>
            <a:endParaRPr lang="en-US" sz="1800" dirty="0"/>
          </a:p>
        </p:txBody>
      </p:sp>
      <p:sp>
        <p:nvSpPr>
          <p:cNvPr id="37" name="Text 35"/>
          <p:cNvSpPr/>
          <p:nvPr/>
        </p:nvSpPr>
        <p:spPr>
          <a:xfrm>
            <a:off x="16021050" y="61245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20</a:t>
            </a:r>
            <a:endParaRPr lang="en-US" sz="1800" dirty="0"/>
          </a:p>
        </p:txBody>
      </p:sp>
      <p:sp>
        <p:nvSpPr>
          <p:cNvPr id="38" name="Text 36"/>
          <p:cNvSpPr/>
          <p:nvPr/>
        </p:nvSpPr>
        <p:spPr>
          <a:xfrm>
            <a:off x="16478250" y="6124575"/>
            <a:ext cx="457200" cy="285750"/>
          </a:xfrm>
          <a:prstGeom prst="rect">
            <a:avLst/>
          </a:prstGeom>
          <a:noFill/>
          <a:ln/>
        </p:spPr>
        <p:txBody>
          <a:bodyPr wrap="square" lIns="25400" tIns="25400" rIns="25400" bIns="25400" rtlCol="0" anchor="t">
            <a:normAutofit/>
          </a:bodyPr>
          <a:lstStyle/>
          <a:p>
            <a:pPr algn="ctr" indent="0" marL="0">
              <a:buNone/>
            </a:pPr>
            <a:r>
              <a:rPr lang="en-US" sz="1800" dirty="0">
                <a:solidFill>
                  <a:srgbClr val="8A7A64"/>
                </a:solidFill>
                <a:latin typeface="Arial" pitchFamily="34" charset="0"/>
                <a:ea typeface="Arial" pitchFamily="34" charset="-122"/>
                <a:cs typeface="Arial" pitchFamily="34" charset="-120"/>
              </a:rPr>
              <a:t>21</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12363368"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spc="-99" kern="0" dirty="0">
                <a:solidFill>
                  <a:srgbClr val="29211A"/>
                </a:solidFill>
                <a:latin typeface="Georgia" pitchFamily="34" charset="0"/>
                <a:ea typeface="Georgia" pitchFamily="34" charset="-122"/>
                <a:cs typeface="Georgia" pitchFamily="34" charset="-120"/>
              </a:rPr>
              <a:t>Every commitment has a name and a date.</a:t>
            </a:r>
            <a:endParaRPr lang="en-US" sz="4950" dirty="0"/>
          </a:p>
        </p:txBody>
      </p:sp>
      <p:sp>
        <p:nvSpPr>
          <p:cNvPr id="4" name="Text 2"/>
          <p:cNvSpPr/>
          <p:nvPr/>
        </p:nvSpPr>
        <p:spPr>
          <a:xfrm>
            <a:off x="14069690" y="1057275"/>
            <a:ext cx="3075310" cy="390525"/>
          </a:xfrm>
          <a:prstGeom prst="rect">
            <a:avLst/>
          </a:prstGeom>
          <a:noFill/>
          <a:ln/>
        </p:spPr>
        <p:txBody>
          <a:bodyPr wrap="square" lIns="25400" tIns="25400" rIns="25400" bIns="25400" rtlCol="0" anchor="t">
            <a:normAutofit/>
          </a:bodyPr>
          <a:lstStyle/>
          <a:p>
            <a:pPr algn="r" indent="0" marL="0">
              <a:buNone/>
            </a:pPr>
            <a:r>
              <a:rPr lang="en-US" sz="2400" dirty="0">
                <a:solidFill>
                  <a:srgbClr val="CF4B2B"/>
                </a:solidFill>
                <a:latin typeface="Arial" pitchFamily="34" charset="0"/>
                <a:ea typeface="Arial" pitchFamily="34" charset="-122"/>
                <a:cs typeface="Arial" pitchFamily="34" charset="-120"/>
              </a:rPr>
              <a:t>a person, not a team</a:t>
            </a:r>
            <a:endParaRPr lang="en-US" sz="2400" dirty="0"/>
          </a:p>
        </p:txBody>
      </p:sp>
      <p:sp>
        <p:nvSpPr>
          <p:cNvPr id="5" name="Shape 3"/>
          <p:cNvSpPr/>
          <p:nvPr/>
        </p:nvSpPr>
        <p:spPr>
          <a:xfrm>
            <a:off x="1143000" y="1847850"/>
            <a:ext cx="16002000" cy="7124700"/>
          </a:xfrm>
          <a:prstGeom prst="roundRect">
            <a:avLst>
              <a:gd name="adj" fmla="val 2139"/>
            </a:avLst>
          </a:prstGeom>
          <a:solidFill>
            <a:srgbClr val="F5EFE3"/>
          </a:solidFill>
          <a:ln w="9525">
            <a:solidFill>
              <a:srgbClr val="29211A">
                <a:alpha val="14000"/>
              </a:srgbClr>
            </a:solidFill>
            <a:prstDash val="solid"/>
          </a:ln>
        </p:spPr>
      </p:sp>
      <p:sp>
        <p:nvSpPr>
          <p:cNvPr id="6" name="Shape 4"/>
          <p:cNvSpPr/>
          <p:nvPr/>
        </p:nvSpPr>
        <p:spPr>
          <a:xfrm>
            <a:off x="1152525" y="1857375"/>
            <a:ext cx="15982950" cy="647700"/>
          </a:xfrm>
          <a:prstGeom prst="rect">
            <a:avLst/>
          </a:prstGeom>
          <a:solidFill>
            <a:srgbClr val="29211A"/>
          </a:solidFill>
          <a:ln/>
        </p:spPr>
      </p:sp>
      <p:sp>
        <p:nvSpPr>
          <p:cNvPr id="7" name="Text 5"/>
          <p:cNvSpPr/>
          <p:nvPr/>
        </p:nvSpPr>
        <p:spPr>
          <a:xfrm>
            <a:off x="1438275" y="2066925"/>
            <a:ext cx="7659719"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180" kern="0" dirty="0">
                <a:solidFill>
                  <a:srgbClr val="F4EEE2"/>
                </a:solidFill>
                <a:latin typeface="Arial" pitchFamily="34" charset="0"/>
                <a:ea typeface="Arial" pitchFamily="34" charset="-122"/>
                <a:cs typeface="Arial" pitchFamily="34" charset="-120"/>
              </a:rPr>
              <a:t>WHAT</a:t>
            </a:r>
            <a:endParaRPr lang="en-US" sz="1800" dirty="0"/>
          </a:p>
        </p:txBody>
      </p:sp>
      <p:sp>
        <p:nvSpPr>
          <p:cNvPr id="8" name="Text 6"/>
          <p:cNvSpPr/>
          <p:nvPr/>
        </p:nvSpPr>
        <p:spPr>
          <a:xfrm>
            <a:off x="9429750" y="2066925"/>
            <a:ext cx="354411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180" kern="0" dirty="0">
                <a:solidFill>
                  <a:srgbClr val="F4EEE2"/>
                </a:solidFill>
                <a:latin typeface="Arial" pitchFamily="34" charset="0"/>
                <a:ea typeface="Arial" pitchFamily="34" charset="-122"/>
                <a:cs typeface="Arial" pitchFamily="34" charset="-120"/>
              </a:rPr>
              <a:t>WHO</a:t>
            </a:r>
            <a:endParaRPr lang="en-US" sz="1800" dirty="0"/>
          </a:p>
        </p:txBody>
      </p:sp>
      <p:sp>
        <p:nvSpPr>
          <p:cNvPr id="9" name="Text 7"/>
          <p:cNvSpPr/>
          <p:nvPr/>
        </p:nvSpPr>
        <p:spPr>
          <a:xfrm>
            <a:off x="13425488" y="2066925"/>
            <a:ext cx="3544110"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180" kern="0" dirty="0">
                <a:solidFill>
                  <a:srgbClr val="F4EEE2"/>
                </a:solidFill>
                <a:latin typeface="Arial" pitchFamily="34" charset="0"/>
                <a:ea typeface="Arial" pitchFamily="34" charset="-122"/>
                <a:cs typeface="Arial" pitchFamily="34" charset="-120"/>
              </a:rPr>
              <a:t>BY WHEN</a:t>
            </a:r>
            <a:endParaRPr lang="en-US" sz="1800" dirty="0"/>
          </a:p>
        </p:txBody>
      </p:sp>
      <p:sp>
        <p:nvSpPr>
          <p:cNvPr id="10" name="Shape 8"/>
          <p:cNvSpPr/>
          <p:nvPr/>
        </p:nvSpPr>
        <p:spPr>
          <a:xfrm>
            <a:off x="1152525" y="3314700"/>
            <a:ext cx="15982950" cy="9525"/>
          </a:xfrm>
          <a:prstGeom prst="rect">
            <a:avLst/>
          </a:prstGeom>
          <a:solidFill>
            <a:srgbClr val="29211A">
              <a:alpha val="14000"/>
            </a:srgbClr>
          </a:solidFill>
          <a:ln/>
        </p:spPr>
      </p:sp>
      <p:sp>
        <p:nvSpPr>
          <p:cNvPr id="11" name="Text 9"/>
          <p:cNvSpPr/>
          <p:nvPr/>
        </p:nvSpPr>
        <p:spPr>
          <a:xfrm>
            <a:off x="1438275" y="2733675"/>
            <a:ext cx="7659719" cy="390525"/>
          </a:xfrm>
          <a:prstGeom prst="rect">
            <a:avLst/>
          </a:prstGeom>
          <a:noFill/>
          <a:ln/>
        </p:spPr>
        <p:txBody>
          <a:bodyPr wrap="square" lIns="25400" tIns="25400" rIns="25400" bIns="25400" rtlCol="0" anchor="t">
            <a:normAutofit/>
          </a:bodyPr>
          <a:lstStyle/>
          <a:p>
            <a:pPr algn="l" indent="0" marL="0">
              <a:buNone/>
            </a:pPr>
            <a:r>
              <a:rPr lang="en-US" sz="2250" dirty="0">
                <a:solidFill>
                  <a:srgbClr val="29211A"/>
                </a:solidFill>
                <a:latin typeface="Arial" pitchFamily="34" charset="0"/>
                <a:ea typeface="Arial" pitchFamily="34" charset="-122"/>
                <a:cs typeface="Arial" pitchFamily="34" charset="-120"/>
              </a:rPr>
              <a:t>Write up the day and circulate it</a:t>
            </a:r>
            <a:endParaRPr lang="en-US" sz="2250" dirty="0"/>
          </a:p>
        </p:txBody>
      </p:sp>
      <p:sp>
        <p:nvSpPr>
          <p:cNvPr id="12" name="Text 10"/>
          <p:cNvSpPr/>
          <p:nvPr/>
        </p:nvSpPr>
        <p:spPr>
          <a:xfrm>
            <a:off x="9429750" y="2733675"/>
            <a:ext cx="3544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Arial" pitchFamily="34" charset="0"/>
                <a:ea typeface="Arial" pitchFamily="34" charset="-122"/>
                <a:cs typeface="Arial" pitchFamily="34" charset="-120"/>
              </a:rPr>
              <a:t>[name]</a:t>
            </a:r>
            <a:endParaRPr lang="en-US" sz="2400" dirty="0"/>
          </a:p>
        </p:txBody>
      </p:sp>
      <p:sp>
        <p:nvSpPr>
          <p:cNvPr id="13" name="Text 11"/>
          <p:cNvSpPr/>
          <p:nvPr/>
        </p:nvSpPr>
        <p:spPr>
          <a:xfrm>
            <a:off x="13425488" y="2733675"/>
            <a:ext cx="3544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Arial" pitchFamily="34" charset="0"/>
                <a:ea typeface="Arial" pitchFamily="34" charset="-122"/>
                <a:cs typeface="Arial" pitchFamily="34" charset="-120"/>
              </a:rPr>
              <a:t>[date]</a:t>
            </a:r>
            <a:endParaRPr lang="en-US" sz="2400" dirty="0"/>
          </a:p>
        </p:txBody>
      </p:sp>
      <p:sp>
        <p:nvSpPr>
          <p:cNvPr id="14" name="Shape 12"/>
          <p:cNvSpPr/>
          <p:nvPr/>
        </p:nvSpPr>
        <p:spPr>
          <a:xfrm>
            <a:off x="1152525" y="4133850"/>
            <a:ext cx="15982950" cy="9525"/>
          </a:xfrm>
          <a:prstGeom prst="rect">
            <a:avLst/>
          </a:prstGeom>
          <a:solidFill>
            <a:srgbClr val="29211A">
              <a:alpha val="14000"/>
            </a:srgbClr>
          </a:solidFill>
          <a:ln/>
        </p:spPr>
      </p:sp>
      <p:sp>
        <p:nvSpPr>
          <p:cNvPr id="15" name="Text 13"/>
          <p:cNvSpPr/>
          <p:nvPr/>
        </p:nvSpPr>
        <p:spPr>
          <a:xfrm>
            <a:off x="1438275" y="3552825"/>
            <a:ext cx="7659719" cy="390525"/>
          </a:xfrm>
          <a:prstGeom prst="rect">
            <a:avLst/>
          </a:prstGeom>
          <a:noFill/>
          <a:ln/>
        </p:spPr>
        <p:txBody>
          <a:bodyPr wrap="square" lIns="25400" tIns="25400" rIns="25400" bIns="25400" rtlCol="0" anchor="t">
            <a:normAutofit/>
          </a:bodyPr>
          <a:lstStyle/>
          <a:p>
            <a:pPr algn="l" indent="0" marL="0">
              <a:buNone/>
            </a:pPr>
            <a:r>
              <a:rPr lang="en-US" sz="2250" dirty="0">
                <a:solidFill>
                  <a:srgbClr val="29211A"/>
                </a:solidFill>
                <a:latin typeface="Arial" pitchFamily="34" charset="0"/>
                <a:ea typeface="Arial" pitchFamily="34" charset="-122"/>
                <a:cs typeface="Arial" pitchFamily="34" charset="-120"/>
              </a:rPr>
              <a:t>Own each shortlisted concept</a:t>
            </a:r>
            <a:endParaRPr lang="en-US" sz="2250" dirty="0"/>
          </a:p>
        </p:txBody>
      </p:sp>
      <p:sp>
        <p:nvSpPr>
          <p:cNvPr id="16" name="Text 14"/>
          <p:cNvSpPr/>
          <p:nvPr/>
        </p:nvSpPr>
        <p:spPr>
          <a:xfrm>
            <a:off x="9429750" y="3552825"/>
            <a:ext cx="3544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Arial" pitchFamily="34" charset="0"/>
                <a:ea typeface="Arial" pitchFamily="34" charset="-122"/>
                <a:cs typeface="Arial" pitchFamily="34" charset="-120"/>
              </a:rPr>
              <a:t>[name]</a:t>
            </a:r>
            <a:endParaRPr lang="en-US" sz="2400" dirty="0"/>
          </a:p>
        </p:txBody>
      </p:sp>
      <p:sp>
        <p:nvSpPr>
          <p:cNvPr id="17" name="Text 15"/>
          <p:cNvSpPr/>
          <p:nvPr/>
        </p:nvSpPr>
        <p:spPr>
          <a:xfrm>
            <a:off x="13425488" y="3552825"/>
            <a:ext cx="3544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Arial" pitchFamily="34" charset="0"/>
                <a:ea typeface="Arial" pitchFamily="34" charset="-122"/>
                <a:cs typeface="Arial" pitchFamily="34" charset="-120"/>
              </a:rPr>
              <a:t>[date]</a:t>
            </a:r>
            <a:endParaRPr lang="en-US" sz="2400" dirty="0"/>
          </a:p>
        </p:txBody>
      </p:sp>
      <p:sp>
        <p:nvSpPr>
          <p:cNvPr id="18" name="Shape 16"/>
          <p:cNvSpPr/>
          <p:nvPr/>
        </p:nvSpPr>
        <p:spPr>
          <a:xfrm>
            <a:off x="1152525" y="4953000"/>
            <a:ext cx="15982950" cy="9525"/>
          </a:xfrm>
          <a:prstGeom prst="rect">
            <a:avLst/>
          </a:prstGeom>
          <a:solidFill>
            <a:srgbClr val="29211A">
              <a:alpha val="14000"/>
            </a:srgbClr>
          </a:solidFill>
          <a:ln/>
        </p:spPr>
      </p:sp>
      <p:sp>
        <p:nvSpPr>
          <p:cNvPr id="19" name="Text 17"/>
          <p:cNvSpPr/>
          <p:nvPr/>
        </p:nvSpPr>
        <p:spPr>
          <a:xfrm>
            <a:off x="1438275" y="4371975"/>
            <a:ext cx="7659719" cy="390525"/>
          </a:xfrm>
          <a:prstGeom prst="rect">
            <a:avLst/>
          </a:prstGeom>
          <a:noFill/>
          <a:ln/>
        </p:spPr>
        <p:txBody>
          <a:bodyPr wrap="square" lIns="25400" tIns="25400" rIns="25400" bIns="25400" rtlCol="0" anchor="t">
            <a:normAutofit/>
          </a:bodyPr>
          <a:lstStyle/>
          <a:p>
            <a:pPr algn="l" indent="0" marL="0">
              <a:buNone/>
            </a:pPr>
            <a:r>
              <a:rPr lang="en-US" sz="2250" dirty="0">
                <a:solidFill>
                  <a:srgbClr val="29211A"/>
                </a:solidFill>
                <a:latin typeface="Arial" pitchFamily="34" charset="0"/>
                <a:ea typeface="Arial" pitchFamily="34" charset="-122"/>
                <a:cs typeface="Arial" pitchFamily="34" charset="-120"/>
              </a:rPr>
              <a:t>Investigate the feasibility unknowns</a:t>
            </a:r>
            <a:endParaRPr lang="en-US" sz="2250" dirty="0"/>
          </a:p>
        </p:txBody>
      </p:sp>
      <p:sp>
        <p:nvSpPr>
          <p:cNvPr id="20" name="Text 18"/>
          <p:cNvSpPr/>
          <p:nvPr/>
        </p:nvSpPr>
        <p:spPr>
          <a:xfrm>
            <a:off x="9429750" y="4371975"/>
            <a:ext cx="3544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Arial" pitchFamily="34" charset="0"/>
                <a:ea typeface="Arial" pitchFamily="34" charset="-122"/>
                <a:cs typeface="Arial" pitchFamily="34" charset="-120"/>
              </a:rPr>
              <a:t>[name]</a:t>
            </a:r>
            <a:endParaRPr lang="en-US" sz="2400" dirty="0"/>
          </a:p>
        </p:txBody>
      </p:sp>
      <p:sp>
        <p:nvSpPr>
          <p:cNvPr id="21" name="Text 19"/>
          <p:cNvSpPr/>
          <p:nvPr/>
        </p:nvSpPr>
        <p:spPr>
          <a:xfrm>
            <a:off x="13425488" y="4371975"/>
            <a:ext cx="3544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Arial" pitchFamily="34" charset="0"/>
                <a:ea typeface="Arial" pitchFamily="34" charset="-122"/>
                <a:cs typeface="Arial" pitchFamily="34" charset="-120"/>
              </a:rPr>
              <a:t>[date]</a:t>
            </a:r>
            <a:endParaRPr lang="en-US" sz="2400" dirty="0"/>
          </a:p>
        </p:txBody>
      </p:sp>
      <p:sp>
        <p:nvSpPr>
          <p:cNvPr id="22" name="Text 20"/>
          <p:cNvSpPr/>
          <p:nvPr/>
        </p:nvSpPr>
        <p:spPr>
          <a:xfrm>
            <a:off x="1438275" y="5191125"/>
            <a:ext cx="7659719" cy="390525"/>
          </a:xfrm>
          <a:prstGeom prst="rect">
            <a:avLst/>
          </a:prstGeom>
          <a:noFill/>
          <a:ln/>
        </p:spPr>
        <p:txBody>
          <a:bodyPr wrap="square" lIns="25400" tIns="25400" rIns="25400" bIns="25400" rtlCol="0" anchor="t">
            <a:normAutofit/>
          </a:bodyPr>
          <a:lstStyle/>
          <a:p>
            <a:pPr algn="l" indent="0" marL="0">
              <a:buNone/>
            </a:pPr>
            <a:r>
              <a:rPr lang="en-US" sz="2250" dirty="0">
                <a:solidFill>
                  <a:srgbClr val="29211A"/>
                </a:solidFill>
                <a:latin typeface="Arial" pitchFamily="34" charset="0"/>
                <a:ea typeface="Arial" pitchFamily="34" charset="-122"/>
                <a:cs typeface="Arial" pitchFamily="34" charset="-120"/>
              </a:rPr>
              <a:t>This group hears back next</a:t>
            </a:r>
            <a:endParaRPr lang="en-US" sz="2250" dirty="0"/>
          </a:p>
        </p:txBody>
      </p:sp>
      <p:sp>
        <p:nvSpPr>
          <p:cNvPr id="23" name="Text 21"/>
          <p:cNvSpPr/>
          <p:nvPr/>
        </p:nvSpPr>
        <p:spPr>
          <a:xfrm>
            <a:off x="9429750" y="5191125"/>
            <a:ext cx="3544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Arial" pitchFamily="34" charset="0"/>
                <a:ea typeface="Arial" pitchFamily="34" charset="-122"/>
                <a:cs typeface="Arial" pitchFamily="34" charset="-120"/>
              </a:rPr>
              <a:t>[name]</a:t>
            </a:r>
            <a:endParaRPr lang="en-US" sz="2400" dirty="0"/>
          </a:p>
        </p:txBody>
      </p:sp>
      <p:sp>
        <p:nvSpPr>
          <p:cNvPr id="24" name="Text 22"/>
          <p:cNvSpPr/>
          <p:nvPr/>
        </p:nvSpPr>
        <p:spPr>
          <a:xfrm>
            <a:off x="13425488" y="5191125"/>
            <a:ext cx="3544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29211A"/>
                </a:solidFill>
                <a:latin typeface="Arial" pitchFamily="34" charset="0"/>
                <a:ea typeface="Arial" pitchFamily="34" charset="-122"/>
                <a:cs typeface="Arial" pitchFamily="34" charset="-120"/>
              </a:rPr>
              <a:t>[date]</a:t>
            </a:r>
            <a:endParaRPr lang="en-US" sz="2400" dirty="0"/>
          </a:p>
        </p:txBody>
      </p:sp>
      <p:sp>
        <p:nvSpPr>
          <p:cNvPr id="25" name="Text 23"/>
          <p:cNvSpPr/>
          <p:nvPr/>
        </p:nvSpPr>
        <p:spPr>
          <a:xfrm>
            <a:off x="1143000" y="9201150"/>
            <a:ext cx="176022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4A3F33"/>
                </a:solidFill>
                <a:latin typeface="Arial" pitchFamily="34" charset="0"/>
                <a:ea typeface="Arial" pitchFamily="34" charset="-122"/>
                <a:cs typeface="Arial" pitchFamily="34" charset="-120"/>
              </a:rPr>
              <a:t>If the outcome is genuinely uncertain, commit to a date for the </a:t>
            </a:r>
            <a:pPr algn="l" indent="0" marL="0">
              <a:buNone/>
            </a:pPr>
            <a:r>
              <a:rPr lang="en-US" sz="1950" i="1" dirty="0">
                <a:solidFill>
                  <a:srgbClr val="4A3F33"/>
                </a:solidFill>
                <a:latin typeface="Arial" pitchFamily="34" charset="0"/>
                <a:ea typeface="Arial" pitchFamily="34" charset="-122"/>
                <a:cs typeface="Arial" pitchFamily="34" charset="-120"/>
              </a:rPr>
              <a:t>decision </a:t>
            </a:r>
            <a:pPr algn="l" indent="0" marL="0">
              <a:buNone/>
            </a:pPr>
            <a:r>
              <a:rPr lang="en-US" sz="1950" dirty="0">
                <a:solidFill>
                  <a:srgbClr val="4A3F33"/>
                </a:solidFill>
                <a:latin typeface="Arial" pitchFamily="34" charset="0"/>
                <a:ea typeface="Arial" pitchFamily="34" charset="-122"/>
                <a:cs typeface="Arial" pitchFamily="34" charset="-120"/>
              </a:rPr>
              <a:t>— not an invented date for the result.</a:t>
            </a:r>
            <a:endParaRPr lang="en-US" sz="1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4EEE2">
                  <a:alpha val="100000"/>
                </a:srgbClr>
              </a:gs>
              <a:gs pos="100000">
                <a:srgbClr val="E8DCC8">
                  <a:alpha val="100000"/>
                </a:srgbClr>
              </a:gs>
            </a:gsLst>
            <a:lin ang="4080000" scaled="0"/>
          </a:gradFill>
          <a:ln/>
        </p:spPr>
      </p:sp>
      <p:sp>
        <p:nvSpPr>
          <p:cNvPr id="3" name="Text 1"/>
          <p:cNvSpPr/>
          <p:nvPr/>
        </p:nvSpPr>
        <p:spPr>
          <a:xfrm>
            <a:off x="1143000" y="876300"/>
            <a:ext cx="8564538"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spc="-99" kern="0" dirty="0">
                <a:solidFill>
                  <a:srgbClr val="29211A"/>
                </a:solidFill>
                <a:latin typeface="Georgia" pitchFamily="34" charset="0"/>
                <a:ea typeface="Georgia" pitchFamily="34" charset="-122"/>
                <a:cs typeface="Georgia" pitchFamily="34" charset="-120"/>
              </a:rPr>
              <a:t>This isn't the last time we ask.</a:t>
            </a:r>
            <a:endParaRPr lang="en-US" sz="4950" dirty="0"/>
          </a:p>
        </p:txBody>
      </p:sp>
      <p:sp>
        <p:nvSpPr>
          <p:cNvPr id="4" name="Text 2"/>
          <p:cNvSpPr/>
          <p:nvPr/>
        </p:nvSpPr>
        <p:spPr>
          <a:xfrm>
            <a:off x="14530618" y="1038225"/>
            <a:ext cx="2614382" cy="409575"/>
          </a:xfrm>
          <a:prstGeom prst="rect">
            <a:avLst/>
          </a:prstGeom>
          <a:noFill/>
          <a:ln/>
        </p:spPr>
        <p:txBody>
          <a:bodyPr wrap="square" lIns="25400" tIns="25400" rIns="25400" bIns="25400" rtlCol="0" anchor="t">
            <a:normAutofit/>
          </a:bodyPr>
          <a:lstStyle/>
          <a:p>
            <a:pPr algn="r" indent="0" marL="0">
              <a:buNone/>
            </a:pPr>
            <a:r>
              <a:rPr lang="en-US" sz="2550" dirty="0">
                <a:solidFill>
                  <a:srgbClr val="CF4B2B"/>
                </a:solidFill>
                <a:latin typeface="Arial" pitchFamily="34" charset="0"/>
                <a:ea typeface="Arial" pitchFamily="34" charset="-122"/>
                <a:cs typeface="Arial" pitchFamily="34" charset="-120"/>
              </a:rPr>
              <a:t>a loop, not a line</a:t>
            </a:r>
            <a:endParaRPr lang="en-US" sz="2550" dirty="0"/>
          </a:p>
        </p:txBody>
      </p:sp>
      <p:sp>
        <p:nvSpPr>
          <p:cNvPr id="5" name="Shape 3"/>
          <p:cNvSpPr/>
          <p:nvPr/>
        </p:nvSpPr>
        <p:spPr>
          <a:xfrm>
            <a:off x="5286375" y="4248150"/>
            <a:ext cx="762000" cy="762000"/>
          </a:xfrm>
          <a:prstGeom prst="ellipse">
            <a:avLst/>
          </a:prstGeom>
          <a:solidFill>
            <a:srgbClr val="CF4B2B">
              <a:alpha val="14000"/>
            </a:srgbClr>
          </a:solidFill>
          <a:ln w="19050">
            <a:solidFill>
              <a:srgbClr val="CF4B2B"/>
            </a:solidFill>
            <a:prstDash val="solid"/>
          </a:ln>
        </p:spPr>
      </p:sp>
      <p:sp>
        <p:nvSpPr>
          <p:cNvPr id="6" name="Text 4"/>
          <p:cNvSpPr/>
          <p:nvPr/>
        </p:nvSpPr>
        <p:spPr>
          <a:xfrm>
            <a:off x="5267325" y="4267200"/>
            <a:ext cx="800100" cy="762000"/>
          </a:xfrm>
          <a:prstGeom prst="rect">
            <a:avLst/>
          </a:prstGeom>
          <a:noFill/>
          <a:ln/>
        </p:spPr>
        <p:txBody>
          <a:bodyPr wrap="square" lIns="25400" tIns="25400" rIns="25400" bIns="25400" rtlCol="0" anchor="ctr">
            <a:normAutofit/>
          </a:bodyPr>
          <a:lstStyle/>
          <a:p>
            <a:pPr algn="ctr" indent="0" marL="0">
              <a:buNone/>
            </a:pPr>
            <a:r>
              <a:rPr lang="en-US" sz="2550" dirty="0">
                <a:solidFill>
                  <a:srgbClr val="CF4B2B"/>
                </a:solidFill>
                <a:latin typeface="Georgia" pitchFamily="34" charset="0"/>
                <a:ea typeface="Georgia" pitchFamily="34" charset="-122"/>
                <a:cs typeface="Georgia" pitchFamily="34" charset="-120"/>
              </a:rPr>
              <a:t>1</a:t>
            </a:r>
            <a:endParaRPr lang="en-US" sz="2550" dirty="0"/>
          </a:p>
        </p:txBody>
      </p:sp>
      <p:sp>
        <p:nvSpPr>
          <p:cNvPr id="7" name="Text 5"/>
          <p:cNvSpPr/>
          <p:nvPr/>
        </p:nvSpPr>
        <p:spPr>
          <a:xfrm>
            <a:off x="4533900" y="5162550"/>
            <a:ext cx="2266950" cy="657225"/>
          </a:xfrm>
          <a:prstGeom prst="rect">
            <a:avLst/>
          </a:prstGeom>
          <a:noFill/>
          <a:ln/>
        </p:spPr>
        <p:txBody>
          <a:bodyPr wrap="square" lIns="25400" tIns="25400" rIns="25400" bIns="25400" rtlCol="0" anchor="t">
            <a:normAutofit/>
          </a:bodyPr>
          <a:lstStyle/>
          <a:p>
            <a:pPr algn="ctr" indent="0" marL="0">
              <a:lnSpc>
                <a:spcPct val="108333"/>
              </a:lnSpc>
              <a:buNone/>
            </a:pPr>
            <a:r>
              <a:rPr lang="en-US" sz="1950" dirty="0">
                <a:solidFill>
                  <a:srgbClr val="29211A"/>
                </a:solidFill>
                <a:latin typeface="Arial" pitchFamily="34" charset="0"/>
                <a:ea typeface="Arial" pitchFamily="34" charset="-122"/>
                <a:cs typeface="Arial" pitchFamily="34" charset="-120"/>
              </a:rPr>
              <a:t>Rough concepts, shown early</a:t>
            </a:r>
            <a:endParaRPr lang="en-US" sz="19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62750" y="4824413"/>
            <a:ext cx="857250" cy="381000"/>
          </a:xfrm>
          <a:prstGeom prst="rect">
            <a:avLst/>
          </a:prstGeom>
        </p:spPr>
      </p:pic>
      <p:sp>
        <p:nvSpPr>
          <p:cNvPr id="9" name="Shape 6"/>
          <p:cNvSpPr/>
          <p:nvPr/>
        </p:nvSpPr>
        <p:spPr>
          <a:xfrm>
            <a:off x="8334375" y="4402931"/>
            <a:ext cx="762000" cy="762000"/>
          </a:xfrm>
          <a:prstGeom prst="ellipse">
            <a:avLst/>
          </a:prstGeom>
          <a:solidFill>
            <a:srgbClr val="2F6F86">
              <a:alpha val="14000"/>
            </a:srgbClr>
          </a:solidFill>
          <a:ln w="19050">
            <a:solidFill>
              <a:srgbClr val="2F6F86"/>
            </a:solidFill>
            <a:prstDash val="solid"/>
          </a:ln>
        </p:spPr>
      </p:sp>
      <p:sp>
        <p:nvSpPr>
          <p:cNvPr id="10" name="Text 7"/>
          <p:cNvSpPr/>
          <p:nvPr/>
        </p:nvSpPr>
        <p:spPr>
          <a:xfrm>
            <a:off x="8315325" y="4421981"/>
            <a:ext cx="800100" cy="762000"/>
          </a:xfrm>
          <a:prstGeom prst="rect">
            <a:avLst/>
          </a:prstGeom>
          <a:noFill/>
          <a:ln/>
        </p:spPr>
        <p:txBody>
          <a:bodyPr wrap="square" lIns="25400" tIns="25400" rIns="25400" bIns="25400" rtlCol="0" anchor="ctr">
            <a:normAutofit/>
          </a:bodyPr>
          <a:lstStyle/>
          <a:p>
            <a:pPr algn="ctr" indent="0" marL="0">
              <a:buNone/>
            </a:pPr>
            <a:r>
              <a:rPr lang="en-US" sz="2550" dirty="0">
                <a:solidFill>
                  <a:srgbClr val="2F6F86"/>
                </a:solidFill>
                <a:latin typeface="Georgia" pitchFamily="34" charset="0"/>
                <a:ea typeface="Georgia" pitchFamily="34" charset="-122"/>
                <a:cs typeface="Georgia" pitchFamily="34" charset="-120"/>
              </a:rPr>
              <a:t>2</a:t>
            </a:r>
            <a:endParaRPr lang="en-US" sz="2550" dirty="0"/>
          </a:p>
        </p:txBody>
      </p:sp>
      <p:sp>
        <p:nvSpPr>
          <p:cNvPr id="11" name="Text 8"/>
          <p:cNvSpPr/>
          <p:nvPr/>
        </p:nvSpPr>
        <p:spPr>
          <a:xfrm>
            <a:off x="7555974" y="5317331"/>
            <a:ext cx="2318802" cy="347663"/>
          </a:xfrm>
          <a:prstGeom prst="rect">
            <a:avLst/>
          </a:prstGeom>
          <a:noFill/>
          <a:ln/>
        </p:spPr>
        <p:txBody>
          <a:bodyPr wrap="square" lIns="25400" tIns="25400" rIns="25400" bIns="25400" rtlCol="0" anchor="t">
            <a:normAutofit/>
          </a:bodyPr>
          <a:lstStyle/>
          <a:p>
            <a:pPr algn="ctr" indent="0" marL="0">
              <a:lnSpc>
                <a:spcPct val="108333"/>
              </a:lnSpc>
              <a:buNone/>
            </a:pPr>
            <a:r>
              <a:rPr lang="en-US" sz="1950" dirty="0">
                <a:solidFill>
                  <a:srgbClr val="29211A"/>
                </a:solidFill>
                <a:latin typeface="Arial" pitchFamily="34" charset="0"/>
                <a:ea typeface="Arial" pitchFamily="34" charset="-122"/>
                <a:cs typeface="Arial" pitchFamily="34" charset="-120"/>
              </a:rPr>
              <a:t>Feedback sessions</a:t>
            </a:r>
            <a:endParaRPr lang="en-US" sz="19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10750" y="4824413"/>
            <a:ext cx="857250" cy="381000"/>
          </a:xfrm>
          <a:prstGeom prst="rect">
            <a:avLst/>
          </a:prstGeom>
        </p:spPr>
      </p:pic>
      <p:sp>
        <p:nvSpPr>
          <p:cNvPr id="13" name="Shape 9"/>
          <p:cNvSpPr/>
          <p:nvPr/>
        </p:nvSpPr>
        <p:spPr>
          <a:xfrm>
            <a:off x="11382375" y="4248150"/>
            <a:ext cx="762000" cy="762000"/>
          </a:xfrm>
          <a:prstGeom prst="ellipse">
            <a:avLst/>
          </a:prstGeom>
          <a:solidFill>
            <a:srgbClr val="6D9A54">
              <a:alpha val="16000"/>
            </a:srgbClr>
          </a:solidFill>
          <a:ln w="19050">
            <a:solidFill>
              <a:srgbClr val="6D9A54"/>
            </a:solidFill>
            <a:prstDash val="solid"/>
          </a:ln>
        </p:spPr>
      </p:sp>
      <p:sp>
        <p:nvSpPr>
          <p:cNvPr id="14" name="Text 10"/>
          <p:cNvSpPr/>
          <p:nvPr/>
        </p:nvSpPr>
        <p:spPr>
          <a:xfrm>
            <a:off x="11363325" y="4267200"/>
            <a:ext cx="800100" cy="762000"/>
          </a:xfrm>
          <a:prstGeom prst="rect">
            <a:avLst/>
          </a:prstGeom>
          <a:noFill/>
          <a:ln/>
        </p:spPr>
        <p:txBody>
          <a:bodyPr wrap="square" lIns="25400" tIns="25400" rIns="25400" bIns="25400" rtlCol="0" anchor="ctr">
            <a:normAutofit/>
          </a:bodyPr>
          <a:lstStyle/>
          <a:p>
            <a:pPr algn="ctr" indent="0" marL="0">
              <a:buNone/>
            </a:pPr>
            <a:r>
              <a:rPr lang="en-US" sz="2550" dirty="0">
                <a:solidFill>
                  <a:srgbClr val="6D9A54"/>
                </a:solidFill>
                <a:latin typeface="Georgia" pitchFamily="34" charset="0"/>
                <a:ea typeface="Georgia" pitchFamily="34" charset="-122"/>
                <a:cs typeface="Georgia" pitchFamily="34" charset="-120"/>
              </a:rPr>
              <a:t>3</a:t>
            </a:r>
            <a:endParaRPr lang="en-US" sz="2550" dirty="0"/>
          </a:p>
        </p:txBody>
      </p:sp>
      <p:sp>
        <p:nvSpPr>
          <p:cNvPr id="15" name="Text 11"/>
          <p:cNvSpPr/>
          <p:nvPr/>
        </p:nvSpPr>
        <p:spPr>
          <a:xfrm>
            <a:off x="10629900" y="5162550"/>
            <a:ext cx="2266950" cy="657225"/>
          </a:xfrm>
          <a:prstGeom prst="rect">
            <a:avLst/>
          </a:prstGeom>
          <a:noFill/>
          <a:ln/>
        </p:spPr>
        <p:txBody>
          <a:bodyPr wrap="square" lIns="25400" tIns="25400" rIns="25400" bIns="25400" rtlCol="0" anchor="t">
            <a:normAutofit/>
          </a:bodyPr>
          <a:lstStyle/>
          <a:p>
            <a:pPr algn="ctr" indent="0" marL="0">
              <a:lnSpc>
                <a:spcPct val="108333"/>
              </a:lnSpc>
              <a:buNone/>
            </a:pPr>
            <a:r>
              <a:rPr lang="en-US" sz="1950" dirty="0">
                <a:solidFill>
                  <a:srgbClr val="29211A"/>
                </a:solidFill>
                <a:latin typeface="Arial" pitchFamily="34" charset="0"/>
                <a:ea typeface="Arial" pitchFamily="34" charset="-122"/>
                <a:cs typeface="Arial" pitchFamily="34" charset="-120"/>
              </a:rPr>
              <a:t>Testing with real users</a:t>
            </a:r>
            <a:endParaRPr lang="en-US" sz="1950" dirty="0"/>
          </a:p>
        </p:txBody>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858750" y="4824413"/>
            <a:ext cx="857250" cy="381000"/>
          </a:xfrm>
          <a:prstGeom prst="rect">
            <a:avLst/>
          </a:prstGeom>
        </p:spPr>
      </p:pic>
      <p:sp>
        <p:nvSpPr>
          <p:cNvPr id="17" name="Shape 12"/>
          <p:cNvSpPr/>
          <p:nvPr/>
        </p:nvSpPr>
        <p:spPr>
          <a:xfrm>
            <a:off x="1143000" y="8524875"/>
            <a:ext cx="16002000" cy="962025"/>
          </a:xfrm>
          <a:prstGeom prst="roundRect">
            <a:avLst>
              <a:gd name="adj" fmla="val 15842"/>
            </a:avLst>
          </a:prstGeom>
          <a:solidFill>
            <a:srgbClr val="29211A"/>
          </a:solidFill>
          <a:ln/>
        </p:spPr>
      </p:sp>
      <p:sp>
        <p:nvSpPr>
          <p:cNvPr id="18" name="Text 13"/>
          <p:cNvSpPr/>
          <p:nvPr/>
        </p:nvSpPr>
        <p:spPr>
          <a:xfrm>
            <a:off x="1524000" y="8834438"/>
            <a:ext cx="13660777" cy="381000"/>
          </a:xfrm>
          <a:prstGeom prst="rect">
            <a:avLst/>
          </a:prstGeom>
          <a:noFill/>
          <a:ln/>
        </p:spPr>
        <p:txBody>
          <a:bodyPr wrap="square" lIns="25400" tIns="25400" rIns="25400" bIns="25400" rtlCol="0" anchor="t">
            <a:normAutofit/>
          </a:bodyPr>
          <a:lstStyle/>
          <a:p>
            <a:pPr algn="l" indent="0" marL="0">
              <a:buNone/>
            </a:pPr>
            <a:r>
              <a:rPr lang="en-US" sz="2700" dirty="0">
                <a:solidFill>
                  <a:srgbClr val="F4EEE2"/>
                </a:solidFill>
                <a:latin typeface="Georgia" pitchFamily="34" charset="0"/>
                <a:ea typeface="Georgia" pitchFamily="34" charset="-122"/>
                <a:cs typeface="Georgia" pitchFamily="34" charset="-120"/>
              </a:rPr>
              <a:t>Who will give us 30 minutes when a rough version exists?</a:t>
            </a:r>
            <a:endParaRPr lang="en-US" sz="2700" dirty="0"/>
          </a:p>
        </p:txBody>
      </p:sp>
      <p:sp>
        <p:nvSpPr>
          <p:cNvPr id="19" name="Text 14"/>
          <p:cNvSpPr/>
          <p:nvPr/>
        </p:nvSpPr>
        <p:spPr>
          <a:xfrm>
            <a:off x="14190538" y="8810625"/>
            <a:ext cx="2830808" cy="428625"/>
          </a:xfrm>
          <a:prstGeom prst="rect">
            <a:avLst/>
          </a:prstGeom>
          <a:noFill/>
          <a:ln/>
        </p:spPr>
        <p:txBody>
          <a:bodyPr wrap="none" lIns="25400" tIns="25400" rIns="25400" bIns="25400" rtlCol="0" anchor="t">
            <a:normAutofit/>
          </a:bodyPr>
          <a:lstStyle/>
          <a:p>
            <a:pPr algn="l" indent="0" marL="0">
              <a:buNone/>
            </a:pPr>
            <a:r>
              <a:rPr lang="en-US" sz="2700" dirty="0">
                <a:solidFill>
                  <a:srgbClr val="D99B34"/>
                </a:solidFill>
                <a:latin typeface="Arial" pitchFamily="34" charset="0"/>
                <a:ea typeface="Arial" pitchFamily="34" charset="-122"/>
                <a:cs typeface="Arial" pitchFamily="34" charset="-120"/>
              </a:rPr>
              <a:t>hands up now →</a:t>
            </a:r>
            <a:endParaRPr lang="en-US" sz="2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41D16"/>
        </a:solidFill>
      </p:bgPr>
    </p:bg>
    <p:spTree>
      <p:nvGrpSpPr>
        <p:cNvPr id="1" name=""/>
        <p:cNvGrpSpPr/>
        <p:nvPr/>
      </p:nvGrpSpPr>
      <p:grpSpPr>
        <a:xfrm>
          <a:off x="0" y="0"/>
          <a:ext cx="0" cy="0"/>
          <a:chOff x="0" y="0"/>
          <a:chExt cx="0" cy="0"/>
        </a:xfrm>
      </p:grpSpPr>
      <p:sp>
        <p:nvSpPr>
          <p:cNvPr id="2" name="Shape 0"/>
          <p:cNvSpPr/>
          <p:nvPr/>
        </p:nvSpPr>
        <p:spPr>
          <a:xfrm>
            <a:off x="1143000" y="3276600"/>
            <a:ext cx="2286000" cy="3810000"/>
          </a:xfrm>
          <a:prstGeom prst="roundRect">
            <a:avLst>
              <a:gd name="adj" fmla="val 6667"/>
            </a:avLst>
          </a:prstGeom>
          <a:gradFill rotWithShape="1">
            <a:gsLst>
              <a:gs pos="0">
                <a:srgbClr val="16344A">
                  <a:alpha val="100000"/>
                </a:srgbClr>
              </a:gs>
              <a:gs pos="34000">
                <a:srgbClr val="0D2233">
                  <a:alpha val="100000"/>
                </a:srgbClr>
              </a:gs>
              <a:gs pos="34200">
                <a:srgbClr val="081826">
                  <a:alpha val="100000"/>
                </a:srgbClr>
              </a:gs>
              <a:gs pos="100000">
                <a:srgbClr val="040E17">
                  <a:alpha val="100000"/>
                </a:srgbClr>
              </a:gs>
            </a:gsLst>
            <a:lin ang="5400000" scaled="0"/>
          </a:gradFill>
          <a:ln/>
        </p:spPr>
      </p:sp>
      <p:sp>
        <p:nvSpPr>
          <p:cNvPr id="3" name="Shape 1"/>
          <p:cNvSpPr/>
          <p:nvPr/>
        </p:nvSpPr>
        <p:spPr>
          <a:xfrm>
            <a:off x="1143000" y="4572000"/>
            <a:ext cx="2286000" cy="19050"/>
          </a:xfrm>
          <a:prstGeom prst="rect">
            <a:avLst/>
          </a:prstGeom>
          <a:gradFill rotWithShape="1">
            <a:gsLst>
              <a:gs pos="0">
                <a:srgbClr val="7CC5E8">
                  <a:alpha val="0"/>
                </a:srgbClr>
              </a:gs>
              <a:gs pos="50000">
                <a:srgbClr val="7CC5E8">
                  <a:alpha val="55000"/>
                </a:srgbClr>
              </a:gs>
              <a:gs pos="100000">
                <a:srgbClr val="7CC5E8">
                  <a:alpha val="0"/>
                </a:srgbClr>
              </a:gs>
            </a:gsLst>
            <a:lin ang="0" scaled="0"/>
          </a:gradFill>
          <a:ln/>
        </p:spPr>
      </p:sp>
      <p:sp>
        <p:nvSpPr>
          <p:cNvPr id="4" name="Shape 2"/>
          <p:cNvSpPr/>
          <p:nvPr/>
        </p:nvSpPr>
        <p:spPr>
          <a:xfrm>
            <a:off x="1645927" y="3581400"/>
            <a:ext cx="1280145" cy="3200400"/>
          </a:xfrm>
          <a:prstGeom prst="rect">
            <a:avLst/>
          </a:prstGeom>
          <a:gradFill rotWithShape="1">
            <a:gsLst>
              <a:gs pos="0">
                <a:srgbClr val="E6EEF4">
                  <a:alpha val="100000"/>
                </a:srgbClr>
              </a:gs>
              <a:gs pos="34000">
                <a:srgbClr val="9FBCCF">
                  <a:alpha val="100000"/>
                </a:srgbClr>
              </a:gs>
              <a:gs pos="62000">
                <a:srgbClr val="3F6D8B">
                  <a:alpha val="100000"/>
                </a:srgbClr>
              </a:gs>
              <a:gs pos="100000">
                <a:srgbClr val="173A53">
                  <a:alpha val="100000"/>
                </a:srgbClr>
              </a:gs>
            </a:gsLst>
            <a:lin ang="5400000" scaled="0"/>
          </a:gradFill>
          <a:ln/>
        </p:spPr>
      </p:sp>
      <p:sp>
        <p:nvSpPr>
          <p:cNvPr id="5" name="Text 3"/>
          <p:cNvSpPr/>
          <p:nvPr/>
        </p:nvSpPr>
        <p:spPr>
          <a:xfrm>
            <a:off x="1886173" y="6724650"/>
            <a:ext cx="875854"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252" kern="0" dirty="0">
                <a:solidFill>
                  <a:srgbClr val="9FB3C2"/>
                </a:solidFill>
                <a:latin typeface="Arial" pitchFamily="34" charset="0"/>
                <a:ea typeface="Arial" pitchFamily="34" charset="-122"/>
                <a:cs typeface="Arial" pitchFamily="34" charset="-120"/>
              </a:rPr>
              <a:t>DAY 1</a:t>
            </a:r>
            <a:endParaRPr lang="en-US" sz="1800" dirty="0"/>
          </a:p>
        </p:txBody>
      </p:sp>
      <p:sp>
        <p:nvSpPr>
          <p:cNvPr id="6" name="Text 4"/>
          <p:cNvSpPr/>
          <p:nvPr/>
        </p:nvSpPr>
        <p:spPr>
          <a:xfrm>
            <a:off x="6572250" y="3449985"/>
            <a:ext cx="11630025" cy="266700"/>
          </a:xfrm>
          <a:prstGeom prst="rect">
            <a:avLst/>
          </a:prstGeom>
          <a:noFill/>
          <a:ln/>
        </p:spPr>
        <p:txBody>
          <a:bodyPr wrap="square" lIns="25400" tIns="25400" rIns="25400" bIns="25400" rtlCol="0" anchor="t">
            <a:normAutofit/>
          </a:bodyPr>
          <a:lstStyle/>
          <a:p>
            <a:pPr algn="l" indent="0" marL="0">
              <a:lnSpc>
                <a:spcPct val="87273"/>
              </a:lnSpc>
              <a:buNone/>
            </a:pPr>
            <a:r>
              <a:rPr lang="en-US" sz="1800" b="1" spc="504" kern="0" dirty="0">
                <a:solidFill>
                  <a:srgbClr val="D99B34"/>
                </a:solidFill>
                <a:latin typeface="Arial" pitchFamily="34" charset="0"/>
                <a:ea typeface="Arial" pitchFamily="34" charset="-122"/>
                <a:cs typeface="Arial" pitchFamily="34" charset="-120"/>
              </a:rPr>
              <a:t>THE CLOSE</a:t>
            </a:r>
            <a:endParaRPr lang="en-US" sz="1800" dirty="0"/>
          </a:p>
        </p:txBody>
      </p:sp>
      <p:sp>
        <p:nvSpPr>
          <p:cNvPr id="7" name="Text 5"/>
          <p:cNvSpPr/>
          <p:nvPr/>
        </p:nvSpPr>
        <p:spPr>
          <a:xfrm>
            <a:off x="6572250" y="3964335"/>
            <a:ext cx="10889933" cy="1358205"/>
          </a:xfrm>
          <a:prstGeom prst="rect">
            <a:avLst/>
          </a:prstGeom>
          <a:noFill/>
          <a:ln/>
        </p:spPr>
        <p:txBody>
          <a:bodyPr wrap="square" lIns="25400" tIns="25400" rIns="25400" bIns="25400" rtlCol="0" anchor="t">
            <a:normAutofit/>
          </a:bodyPr>
          <a:lstStyle/>
          <a:p>
            <a:pPr algn="l" indent="0" marL="0">
              <a:lnSpc>
                <a:spcPct val="92400"/>
              </a:lnSpc>
              <a:buNone/>
            </a:pPr>
            <a:r>
              <a:rPr lang="en-US" sz="4950" spc="-99" kern="0" dirty="0">
                <a:solidFill>
                  <a:srgbClr val="F5EFE3"/>
                </a:solidFill>
                <a:latin typeface="Georgia" pitchFamily="34" charset="0"/>
                <a:ea typeface="Georgia" pitchFamily="34" charset="-122"/>
                <a:cs typeface="Georgia" pitchFamily="34" charset="-120"/>
              </a:rPr>
              <a:t>We can build almost anything. </a:t>
            </a:r>
            <a:pPr algn="l" indent="0" marL="0">
              <a:lnSpc>
                <a:spcPct val="92400"/>
              </a:lnSpc>
              <a:buNone/>
            </a:pPr>
            <a:r>
              <a:rPr lang="en-US" sz="4950" spc="-99" kern="0" dirty="0">
                <a:solidFill>
                  <a:srgbClr val="D99B34"/>
                </a:solidFill>
                <a:latin typeface="Georgia" pitchFamily="34" charset="0"/>
                <a:ea typeface="Georgia" pitchFamily="34" charset="-122"/>
                <a:cs typeface="Georgia" pitchFamily="34" charset="-120"/>
              </a:rPr>
              <a:t>You're how we know what to build.</a:t>
            </a:r>
            <a:endParaRPr lang="en-US" sz="4950" dirty="0"/>
          </a:p>
        </p:txBody>
      </p:sp>
      <p:sp>
        <p:nvSpPr>
          <p:cNvPr id="8" name="Text 6"/>
          <p:cNvSpPr/>
          <p:nvPr/>
        </p:nvSpPr>
        <p:spPr>
          <a:xfrm>
            <a:off x="6572250" y="5627340"/>
            <a:ext cx="5393843" cy="132397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C8B9A2"/>
                </a:solidFill>
                <a:latin typeface="Arial" pitchFamily="34" charset="0"/>
                <a:ea typeface="Arial" pitchFamily="34" charset="-122"/>
                <a:cs typeface="Arial" pitchFamily="34" charset="-120"/>
              </a:rPr>
              <a:t>Yesterday: the most expensive thing you can build is the wrong thing quickly. Today is the answer to it.</a:t>
            </a:r>
            <a:endParaRPr lang="en-US" sz="2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41D1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41D16">
                  <a:alpha val="55000"/>
                </a:srgbClr>
              </a:gs>
              <a:gs pos="40000">
                <a:srgbClr val="241D16">
                  <a:alpha val="42000"/>
                </a:srgbClr>
              </a:gs>
              <a:gs pos="100000">
                <a:srgbClr val="241D16">
                  <a:alpha val="90000"/>
                </a:srgbClr>
              </a:gs>
            </a:gsLst>
            <a:lin ang="5400000" scaled="0"/>
          </a:gradFill>
          <a:ln/>
        </p:spPr>
      </p:sp>
      <p:sp>
        <p:nvSpPr>
          <p:cNvPr id="3" name="Text 1"/>
          <p:cNvSpPr/>
          <p:nvPr/>
        </p:nvSpPr>
        <p:spPr>
          <a:xfrm>
            <a:off x="1706694" y="3886200"/>
            <a:ext cx="14874612" cy="1181100"/>
          </a:xfrm>
          <a:prstGeom prst="rect">
            <a:avLst/>
          </a:prstGeom>
          <a:noFill/>
          <a:ln/>
        </p:spPr>
        <p:txBody>
          <a:bodyPr wrap="square" lIns="25400" tIns="25400" rIns="25400" bIns="25400" rtlCol="0" anchor="t">
            <a:normAutofit/>
          </a:bodyPr>
          <a:lstStyle/>
          <a:p>
            <a:pPr algn="ctr" indent="0" marL="0">
              <a:lnSpc>
                <a:spcPct val="87912"/>
              </a:lnSpc>
              <a:buNone/>
            </a:pPr>
            <a:r>
              <a:rPr lang="en-US" sz="9000" spc="-180" kern="0" dirty="0">
                <a:solidFill>
                  <a:srgbClr val="F5EFE3"/>
                </a:solidFill>
                <a:latin typeface="Georgia" pitchFamily="34" charset="0"/>
                <a:ea typeface="Georgia" pitchFamily="34" charset="-122"/>
                <a:cs typeface="Georgia" pitchFamily="34" charset="-120"/>
              </a:rPr>
              <a:t>Thank you.</a:t>
            </a:r>
            <a:endParaRPr lang="en-US" sz="9000" dirty="0"/>
          </a:p>
        </p:txBody>
      </p:sp>
      <p:sp>
        <p:nvSpPr>
          <p:cNvPr id="4" name="Text 2"/>
          <p:cNvSpPr/>
          <p:nvPr/>
        </p:nvSpPr>
        <p:spPr>
          <a:xfrm>
            <a:off x="1706694" y="5314950"/>
            <a:ext cx="14874612" cy="471488"/>
          </a:xfrm>
          <a:prstGeom prst="rect">
            <a:avLst/>
          </a:prstGeom>
          <a:noFill/>
          <a:ln/>
        </p:spPr>
        <p:txBody>
          <a:bodyPr wrap="square" lIns="25400" tIns="25400" rIns="25400" bIns="25400" rtlCol="0" anchor="t">
            <a:normAutofit/>
          </a:bodyPr>
          <a:lstStyle/>
          <a:p>
            <a:pPr algn="ctr" indent="0" marL="0">
              <a:buNone/>
            </a:pPr>
            <a:r>
              <a:rPr lang="en-US" sz="3000" i="1" dirty="0">
                <a:solidFill>
                  <a:srgbClr val="D8C9B2"/>
                </a:solidFill>
                <a:latin typeface="Georgia" pitchFamily="34" charset="0"/>
                <a:ea typeface="Georgia" pitchFamily="34" charset="-122"/>
                <a:cs typeface="Georgia" pitchFamily="34" charset="-120"/>
              </a:rPr>
              <a:t>The write-up comes within five working days. The wall stays up — photograph it.</a:t>
            </a:r>
            <a:endParaRPr lang="en-US" sz="3000" dirty="0"/>
          </a:p>
        </p:txBody>
      </p:sp>
      <p:sp>
        <p:nvSpPr>
          <p:cNvPr id="5" name="Text 3"/>
          <p:cNvSpPr/>
          <p:nvPr/>
        </p:nvSpPr>
        <p:spPr>
          <a:xfrm>
            <a:off x="6278381" y="6129338"/>
            <a:ext cx="2722677" cy="309563"/>
          </a:xfrm>
          <a:prstGeom prst="rect">
            <a:avLst/>
          </a:prstGeom>
          <a:noFill/>
          <a:ln/>
        </p:spPr>
        <p:txBody>
          <a:bodyPr wrap="square" lIns="25400" tIns="25400" rIns="25400" bIns="25400" rtlCol="0" anchor="t">
            <a:normAutofit/>
          </a:bodyPr>
          <a:lstStyle/>
          <a:p>
            <a:pPr algn="ctr" indent="0" marL="0">
              <a:buNone/>
            </a:pPr>
            <a:r>
              <a:rPr lang="en-US" sz="1950" dirty="0">
                <a:solidFill>
                  <a:srgbClr val="E6D8C2"/>
                </a:solidFill>
                <a:latin typeface="Arial" pitchFamily="34" charset="0"/>
                <a:ea typeface="Arial" pitchFamily="34" charset="-122"/>
                <a:cs typeface="Arial" pitchFamily="34" charset="-120"/>
              </a:rPr>
              <a:t>[Owner name] · [email]</a:t>
            </a:r>
            <a:endParaRPr lang="en-US" sz="1950" dirty="0"/>
          </a:p>
        </p:txBody>
      </p:sp>
      <p:sp>
        <p:nvSpPr>
          <p:cNvPr id="6" name="Text 4"/>
          <p:cNvSpPr/>
          <p:nvPr/>
        </p:nvSpPr>
        <p:spPr>
          <a:xfrm>
            <a:off x="9286942" y="6129338"/>
            <a:ext cx="2722677" cy="309563"/>
          </a:xfrm>
          <a:prstGeom prst="rect">
            <a:avLst/>
          </a:prstGeom>
          <a:noFill/>
          <a:ln/>
        </p:spPr>
        <p:txBody>
          <a:bodyPr wrap="square" lIns="25400" tIns="25400" rIns="25400" bIns="25400" rtlCol="0" anchor="t">
            <a:normAutofit/>
          </a:bodyPr>
          <a:lstStyle/>
          <a:p>
            <a:pPr algn="ctr" indent="0" marL="0">
              <a:buNone/>
            </a:pPr>
            <a:r>
              <a:rPr lang="en-US" sz="1950" dirty="0">
                <a:solidFill>
                  <a:srgbClr val="E6D8C2"/>
                </a:solidFill>
                <a:latin typeface="Arial" pitchFamily="34" charset="0"/>
                <a:ea typeface="Arial" pitchFamily="34" charset="-122"/>
                <a:cs typeface="Arial" pitchFamily="34" charset="-120"/>
              </a:rPr>
              <a:t>[Owner name] · [email]</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2026-07-23T02:04:37Z</dcterms:created>
  <dcterms:modified xsi:type="dcterms:W3CDTF">2026-07-23T02:04:37Z</dcterms:modified>
</cp:coreProperties>
</file>